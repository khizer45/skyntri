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48640" y="1280160"/>
            <a:ext cx="1097280" cy="1097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097280" cy="1097280"/>
          </a:xfrm>
          <a:prstGeom prst="rect">
            <a:avLst/>
          </a:prstGeom>
          <a:noFill/>
        </p:spPr>
        <p:txBody>
          <a:bodyPr wrap="square">
            <a:spAutoFit/>
          </a:bodyPr>
          <a:lstStyle/>
          <a:p>
            <a:pPr algn="ctr"/>
            <a:r>
              <a:rPr sz="3800" b="1" i="0">
                <a:solidFill>
                  <a:srgbClr val="FFFFFF"/>
                </a:solidFill>
                <a:latin typeface="Calibri"/>
              </a:rPr>
              <a:t>SK</a:t>
            </a:r>
          </a:p>
        </p:txBody>
      </p:sp>
      <p:sp>
        <p:nvSpPr>
          <p:cNvPr id="6" name="TextBox 5"/>
          <p:cNvSpPr txBox="1"/>
          <p:nvPr/>
        </p:nvSpPr>
        <p:spPr>
          <a:xfrm>
            <a:off x="1920240" y="1234440"/>
            <a:ext cx="9144000" cy="1005840"/>
          </a:xfrm>
          <a:prstGeom prst="rect">
            <a:avLst/>
          </a:prstGeom>
          <a:noFill/>
        </p:spPr>
        <p:txBody>
          <a:bodyPr wrap="square">
            <a:spAutoFit/>
          </a:bodyPr>
          <a:lstStyle/>
          <a:p>
            <a:pPr algn="l"/>
            <a:r>
              <a:rPr sz="6400" b="1" i="0">
                <a:solidFill>
                  <a:srgbClr val="FFFFFF"/>
                </a:solidFill>
                <a:latin typeface="Calibri"/>
              </a:rPr>
              <a:t>SKYNTRI</a:t>
            </a:r>
          </a:p>
        </p:txBody>
      </p:sp>
      <p:sp>
        <p:nvSpPr>
          <p:cNvPr id="7" name="TextBox 6"/>
          <p:cNvSpPr txBox="1"/>
          <p:nvPr/>
        </p:nvSpPr>
        <p:spPr>
          <a:xfrm>
            <a:off x="1920240" y="2331720"/>
            <a:ext cx="9144000" cy="594360"/>
          </a:xfrm>
          <a:prstGeom prst="rect">
            <a:avLst/>
          </a:prstGeom>
          <a:noFill/>
        </p:spPr>
        <p:txBody>
          <a:bodyPr wrap="square">
            <a:spAutoFit/>
          </a:bodyPr>
          <a:lstStyle/>
          <a:p>
            <a:pPr algn="l"/>
            <a:r>
              <a:rPr sz="2600" b="0" i="0">
                <a:solidFill>
                  <a:srgbClr val="DBEAFE"/>
                </a:solidFill>
                <a:latin typeface="Calibri"/>
              </a:rPr>
              <a:t>Clinical AI Dermatology Portal</a:t>
            </a:r>
          </a:p>
        </p:txBody>
      </p:sp>
      <p:sp>
        <p:nvSpPr>
          <p:cNvPr id="8" name="Rectangle 7"/>
          <p:cNvSpPr/>
          <p:nvPr/>
        </p:nvSpPr>
        <p:spPr>
          <a:xfrm>
            <a:off x="1920240" y="3063240"/>
            <a:ext cx="457200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920240" y="3200400"/>
            <a:ext cx="7315200" cy="502920"/>
          </a:xfrm>
          <a:prstGeom prst="rect">
            <a:avLst/>
          </a:prstGeom>
          <a:noFill/>
        </p:spPr>
        <p:txBody>
          <a:bodyPr wrap="square">
            <a:spAutoFit/>
          </a:bodyPr>
          <a:lstStyle/>
          <a:p>
            <a:pPr algn="l"/>
            <a:r>
              <a:rPr sz="1800" b="0" i="1">
                <a:solidFill>
                  <a:srgbClr val="059669"/>
                </a:solidFill>
                <a:latin typeface="Calibri"/>
              </a:rPr>
              <a:t>Precision Skin Intelligence</a:t>
            </a:r>
          </a:p>
        </p:txBody>
      </p:sp>
      <p:sp>
        <p:nvSpPr>
          <p:cNvPr id="10" name="TextBox 9"/>
          <p:cNvSpPr txBox="1"/>
          <p:nvPr/>
        </p:nvSpPr>
        <p:spPr>
          <a:xfrm>
            <a:off x="1920240" y="3931920"/>
            <a:ext cx="7315200" cy="411480"/>
          </a:xfrm>
          <a:prstGeom prst="rect">
            <a:avLst/>
          </a:prstGeom>
          <a:noFill/>
        </p:spPr>
        <p:txBody>
          <a:bodyPr wrap="square">
            <a:spAutoFit/>
          </a:bodyPr>
          <a:lstStyle/>
          <a:p>
            <a:pPr algn="l"/>
            <a:r>
              <a:rPr sz="1400" b="0" i="0">
                <a:solidFill>
                  <a:srgbClr val="F1F5F9"/>
                </a:solidFill>
                <a:latin typeface="Calibri"/>
              </a:rPr>
              <a:t>Final Year Project  •  B.Sc. Computer Science</a:t>
            </a:r>
          </a:p>
        </p:txBody>
      </p:sp>
      <p:sp>
        <p:nvSpPr>
          <p:cNvPr id="11" name="TextBox 10"/>
          <p:cNvSpPr txBox="1"/>
          <p:nvPr/>
        </p:nvSpPr>
        <p:spPr>
          <a:xfrm>
            <a:off x="1920240" y="4343400"/>
            <a:ext cx="7315200" cy="365760"/>
          </a:xfrm>
          <a:prstGeom prst="rect">
            <a:avLst/>
          </a:prstGeom>
          <a:noFill/>
        </p:spPr>
        <p:txBody>
          <a:bodyPr wrap="square">
            <a:spAutoFit/>
          </a:bodyPr>
          <a:lstStyle/>
          <a:p>
            <a:pPr algn="l"/>
            <a:r>
              <a:rPr sz="1300" b="0" i="0">
                <a:solidFill>
                  <a:srgbClr val="475569"/>
                </a:solidFill>
                <a:latin typeface="Calibri"/>
              </a:rPr>
              <a:t>Presented by: Skyntri Development Team</a:t>
            </a:r>
          </a:p>
        </p:txBody>
      </p:sp>
      <p:sp>
        <p:nvSpPr>
          <p:cNvPr id="12" name="TextBox 11"/>
          <p:cNvSpPr txBox="1"/>
          <p:nvPr/>
        </p:nvSpPr>
        <p:spPr>
          <a:xfrm>
            <a:off x="1920240" y="4709160"/>
            <a:ext cx="3657600" cy="365760"/>
          </a:xfrm>
          <a:prstGeom prst="rect">
            <a:avLst/>
          </a:prstGeom>
          <a:noFill/>
        </p:spPr>
        <p:txBody>
          <a:bodyPr wrap="square">
            <a:spAutoFit/>
          </a:bodyPr>
          <a:lstStyle/>
          <a:p>
            <a:pPr algn="l"/>
            <a:r>
              <a:rPr sz="1300" b="0" i="0">
                <a:solidFill>
                  <a:srgbClr val="475569"/>
                </a:solidFill>
                <a:latin typeface="Calibri"/>
              </a:rPr>
              <a:t>2025 – 2026</a:t>
            </a:r>
          </a:p>
        </p:txBody>
      </p:sp>
      <p:sp>
        <p:nvSpPr>
          <p:cNvPr id="13" name="Rectangle 12"/>
          <p:cNvSpPr/>
          <p:nvPr/>
        </p:nvSpPr>
        <p:spPr>
          <a:xfrm>
            <a:off x="1920240" y="5577840"/>
            <a:ext cx="1783080"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920240" y="5577840"/>
            <a:ext cx="1783080" cy="384048"/>
          </a:xfrm>
          <a:prstGeom prst="rect">
            <a:avLst/>
          </a:prstGeom>
          <a:noFill/>
        </p:spPr>
        <p:txBody>
          <a:bodyPr wrap="square">
            <a:spAutoFit/>
          </a:bodyPr>
          <a:lstStyle/>
          <a:p>
            <a:pPr algn="ctr"/>
            <a:r>
              <a:rPr sz="1000" b="1" i="0">
                <a:solidFill>
                  <a:srgbClr val="FFFFFF"/>
                </a:solidFill>
                <a:latin typeface="Calibri"/>
              </a:rPr>
              <a:t>React 18</a:t>
            </a:r>
          </a:p>
        </p:txBody>
      </p:sp>
      <p:sp>
        <p:nvSpPr>
          <p:cNvPr id="15" name="Rectangle 14"/>
          <p:cNvSpPr/>
          <p:nvPr/>
        </p:nvSpPr>
        <p:spPr>
          <a:xfrm>
            <a:off x="3886200" y="5577840"/>
            <a:ext cx="1783080"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86200" y="5577840"/>
            <a:ext cx="1783080" cy="384048"/>
          </a:xfrm>
          <a:prstGeom prst="rect">
            <a:avLst/>
          </a:prstGeom>
          <a:noFill/>
        </p:spPr>
        <p:txBody>
          <a:bodyPr wrap="square">
            <a:spAutoFit/>
          </a:bodyPr>
          <a:lstStyle/>
          <a:p>
            <a:pPr algn="ctr"/>
            <a:r>
              <a:rPr sz="1000" b="1" i="0">
                <a:solidFill>
                  <a:srgbClr val="FFFFFF"/>
                </a:solidFill>
                <a:latin typeface="Calibri"/>
              </a:rPr>
              <a:t>CNN / Deep Learning</a:t>
            </a:r>
          </a:p>
        </p:txBody>
      </p:sp>
      <p:sp>
        <p:nvSpPr>
          <p:cNvPr id="17" name="Rectangle 16"/>
          <p:cNvSpPr/>
          <p:nvPr/>
        </p:nvSpPr>
        <p:spPr>
          <a:xfrm>
            <a:off x="5852160" y="5577840"/>
            <a:ext cx="1783080"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852160" y="5577840"/>
            <a:ext cx="1783080" cy="384048"/>
          </a:xfrm>
          <a:prstGeom prst="rect">
            <a:avLst/>
          </a:prstGeom>
          <a:noFill/>
        </p:spPr>
        <p:txBody>
          <a:bodyPr wrap="square">
            <a:spAutoFit/>
          </a:bodyPr>
          <a:lstStyle/>
          <a:p>
            <a:pPr algn="ctr"/>
            <a:r>
              <a:rPr sz="1000" b="1" i="0">
                <a:solidFill>
                  <a:srgbClr val="FFFFFF"/>
                </a:solidFill>
                <a:latin typeface="Calibri"/>
              </a:rPr>
              <a:t>OCR</a:t>
            </a:r>
          </a:p>
        </p:txBody>
      </p:sp>
      <p:sp>
        <p:nvSpPr>
          <p:cNvPr id="19" name="Rectangle 18"/>
          <p:cNvSpPr/>
          <p:nvPr/>
        </p:nvSpPr>
        <p:spPr>
          <a:xfrm>
            <a:off x="7818119" y="5577840"/>
            <a:ext cx="1783080"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18119" y="5577840"/>
            <a:ext cx="1783080" cy="384048"/>
          </a:xfrm>
          <a:prstGeom prst="rect">
            <a:avLst/>
          </a:prstGeom>
          <a:noFill/>
        </p:spPr>
        <p:txBody>
          <a:bodyPr wrap="square">
            <a:spAutoFit/>
          </a:bodyPr>
          <a:lstStyle/>
          <a:p>
            <a:pPr algn="ctr"/>
            <a:r>
              <a:rPr sz="1000" b="1" i="0">
                <a:solidFill>
                  <a:srgbClr val="FFFFFF"/>
                </a:solidFill>
                <a:latin typeface="Calibri"/>
              </a:rPr>
              <a:t>NLP</a:t>
            </a:r>
          </a:p>
        </p:txBody>
      </p:sp>
      <p:sp>
        <p:nvSpPr>
          <p:cNvPr id="21" name="Rectangle 20"/>
          <p:cNvSpPr/>
          <p:nvPr/>
        </p:nvSpPr>
        <p:spPr>
          <a:xfrm>
            <a:off x="9784080" y="5577840"/>
            <a:ext cx="1783080" cy="38404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784080" y="5577840"/>
            <a:ext cx="1783080" cy="384048"/>
          </a:xfrm>
          <a:prstGeom prst="rect">
            <a:avLst/>
          </a:prstGeom>
          <a:noFill/>
        </p:spPr>
        <p:txBody>
          <a:bodyPr wrap="square">
            <a:spAutoFit/>
          </a:bodyPr>
          <a:lstStyle/>
          <a:p>
            <a:pPr algn="ctr"/>
            <a:r>
              <a:rPr sz="1000" b="1" i="0">
                <a:solidFill>
                  <a:srgbClr val="FFFFFF"/>
                </a:solidFill>
                <a:latin typeface="Calibri"/>
              </a:rPr>
              <a:t>Tailwind CSS</a:t>
            </a:r>
          </a:p>
        </p:txBody>
      </p:sp>
      <p:sp>
        <p:nvSpPr>
          <p:cNvPr id="23" name="Rectangle 22"/>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25" name="TextBox 24"/>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Table of Contents</a:t>
            </a:r>
          </a:p>
        </p:txBody>
      </p:sp>
      <p:sp>
        <p:nvSpPr>
          <p:cNvPr id="5" name="Rectangle 4"/>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7" name="TextBox 6"/>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2 / 20</a:t>
            </a:r>
          </a:p>
        </p:txBody>
      </p:sp>
      <p:sp>
        <p:nvSpPr>
          <p:cNvPr id="8" name="TextBox 7"/>
          <p:cNvSpPr txBox="1"/>
          <p:nvPr/>
        </p:nvSpPr>
        <p:spPr>
          <a:xfrm>
            <a:off x="457200" y="1508760"/>
            <a:ext cx="5669280" cy="4572000"/>
          </a:xfrm>
          <a:prstGeom prst="rect">
            <a:avLst/>
          </a:prstGeom>
          <a:noFill/>
        </p:spPr>
        <p:txBody>
          <a:bodyPr wrap="square">
            <a:spAutoFit/>
          </a:bodyPr>
          <a:lstStyle/>
          <a:p>
            <a:pPr algn="l"/>
            <a:r>
              <a:rPr sz="1600">
                <a:solidFill>
                  <a:srgbClr val="0F172A"/>
                </a:solidFill>
                <a:latin typeface="Calibri"/>
              </a:rPr>
              <a:t>01  Introduction</a:t>
            </a:r>
          </a:p>
          <a:p>
            <a:pPr algn="l"/>
            <a:r>
              <a:rPr sz="1600">
                <a:solidFill>
                  <a:srgbClr val="0F172A"/>
                </a:solidFill>
                <a:latin typeface="Calibri"/>
              </a:rPr>
              <a:t>02  Literature Review / Existing Work</a:t>
            </a:r>
          </a:p>
          <a:p>
            <a:pPr algn="l"/>
            <a:r>
              <a:rPr sz="1600">
                <a:solidFill>
                  <a:srgbClr val="0F172A"/>
                </a:solidFill>
                <a:latin typeface="Calibri"/>
              </a:rPr>
              <a:t>03  Problem Statement</a:t>
            </a:r>
          </a:p>
          <a:p>
            <a:pPr algn="l"/>
            <a:r>
              <a:rPr sz="1600">
                <a:solidFill>
                  <a:srgbClr val="0F172A"/>
                </a:solidFill>
                <a:latin typeface="Calibri"/>
              </a:rPr>
              <a:t>04  Objectives</a:t>
            </a:r>
          </a:p>
          <a:p>
            <a:pPr algn="l"/>
            <a:r>
              <a:rPr sz="1600">
                <a:solidFill>
                  <a:srgbClr val="0F172A"/>
                </a:solidFill>
                <a:latin typeface="Calibri"/>
              </a:rPr>
              <a:t>05  Methodology</a:t>
            </a:r>
          </a:p>
          <a:p>
            <a:pPr algn="l"/>
            <a:r>
              <a:rPr sz="1600">
                <a:solidFill>
                  <a:srgbClr val="0F172A"/>
                </a:solidFill>
                <a:latin typeface="Calibri"/>
              </a:rPr>
              <a:t>06  Sustainable Development Goals (SDGs)</a:t>
            </a:r>
          </a:p>
          <a:p>
            <a:pPr algn="l"/>
            <a:r>
              <a:rPr sz="1600">
                <a:solidFill>
                  <a:srgbClr val="0F172A"/>
                </a:solidFill>
                <a:latin typeface="Calibri"/>
              </a:rPr>
              <a:t>07  Functional Requirements</a:t>
            </a:r>
          </a:p>
          <a:p>
            <a:pPr algn="l"/>
            <a:r>
              <a:rPr sz="1600">
                <a:solidFill>
                  <a:srgbClr val="0F172A"/>
                </a:solidFill>
                <a:latin typeface="Calibri"/>
              </a:rPr>
              <a:t>08  Use Case Diagram</a:t>
            </a:r>
          </a:p>
        </p:txBody>
      </p:sp>
      <p:sp>
        <p:nvSpPr>
          <p:cNvPr id="9" name="TextBox 8"/>
          <p:cNvSpPr txBox="1"/>
          <p:nvPr/>
        </p:nvSpPr>
        <p:spPr>
          <a:xfrm>
            <a:off x="6309360" y="1508760"/>
            <a:ext cx="5486400" cy="4572000"/>
          </a:xfrm>
          <a:prstGeom prst="rect">
            <a:avLst/>
          </a:prstGeom>
          <a:noFill/>
        </p:spPr>
        <p:txBody>
          <a:bodyPr wrap="square">
            <a:spAutoFit/>
          </a:bodyPr>
          <a:lstStyle/>
          <a:p>
            <a:pPr algn="l"/>
            <a:r>
              <a:rPr sz="1600">
                <a:solidFill>
                  <a:srgbClr val="0F172A"/>
                </a:solidFill>
                <a:latin typeface="Calibri"/>
              </a:rPr>
              <a:t>09  Non-Functional Requirements</a:t>
            </a:r>
          </a:p>
          <a:p>
            <a:pPr algn="l"/>
            <a:r>
              <a:rPr sz="1600">
                <a:solidFill>
                  <a:srgbClr val="0F172A"/>
                </a:solidFill>
                <a:latin typeface="Calibri"/>
              </a:rPr>
              <a:t>10  ERD Diagram</a:t>
            </a:r>
          </a:p>
          <a:p>
            <a:pPr algn="l"/>
            <a:r>
              <a:rPr sz="1600">
                <a:solidFill>
                  <a:srgbClr val="0F172A"/>
                </a:solidFill>
                <a:latin typeface="Calibri"/>
              </a:rPr>
              <a:t>11  Implementation – Tools &amp; Technologies</a:t>
            </a:r>
          </a:p>
          <a:p>
            <a:pPr algn="l"/>
            <a:r>
              <a:rPr sz="1600">
                <a:solidFill>
                  <a:srgbClr val="0F172A"/>
                </a:solidFill>
                <a:latin typeface="Calibri"/>
              </a:rPr>
              <a:t>12  Testing</a:t>
            </a:r>
          </a:p>
          <a:p>
            <a:pPr algn="l"/>
            <a:r>
              <a:rPr sz="1600">
                <a:solidFill>
                  <a:srgbClr val="0F172A"/>
                </a:solidFill>
                <a:latin typeface="Calibri"/>
              </a:rPr>
              <a:t>13  Application GUI Screenshots</a:t>
            </a:r>
          </a:p>
          <a:p>
            <a:pPr algn="l"/>
            <a:r>
              <a:rPr sz="1600">
                <a:solidFill>
                  <a:srgbClr val="0F172A"/>
                </a:solidFill>
                <a:latin typeface="Calibri"/>
              </a:rPr>
              <a:t>14  Limitations</a:t>
            </a:r>
          </a:p>
          <a:p>
            <a:pPr algn="l"/>
            <a:r>
              <a:rPr sz="1600">
                <a:solidFill>
                  <a:srgbClr val="0F172A"/>
                </a:solidFill>
                <a:latin typeface="Calibri"/>
              </a:rPr>
              <a:t>15  Future Work</a:t>
            </a:r>
          </a:p>
          <a:p>
            <a:pPr algn="l"/>
            <a:r>
              <a:rPr sz="1600">
                <a:solidFill>
                  <a:srgbClr val="0F172A"/>
                </a:solidFill>
                <a:latin typeface="Calibri"/>
              </a:rPr>
              <a:t>16  References</a:t>
            </a:r>
          </a:p>
        </p:txBody>
      </p:sp>
      <p:sp>
        <p:nvSpPr>
          <p:cNvPr id="10" name="Rectangle 9"/>
          <p:cNvSpPr/>
          <p:nvPr/>
        </p:nvSpPr>
        <p:spPr>
          <a:xfrm>
            <a:off x="365760" y="146304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Introduction</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Background &amp; Motivation</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3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508760"/>
            <a:ext cx="11247120" cy="1188720"/>
          </a:xfrm>
          <a:prstGeom prst="rect">
            <a:avLst/>
          </a:prstGeom>
          <a:noFill/>
        </p:spPr>
        <p:txBody>
          <a:bodyPr wrap="square">
            <a:spAutoFit/>
          </a:bodyPr>
          <a:lstStyle/>
          <a:p>
            <a:pPr algn="l"/>
            <a:r>
              <a:rPr sz="1500" b="0" i="0">
                <a:solidFill>
                  <a:srgbClr val="475569"/>
                </a:solidFill>
                <a:latin typeface="Calibri"/>
              </a:rPr>
              <a:t>Skin diseases affect over 1.9 billion people worldwide, yet access to qualified dermatologists remains severely limited, especially in developing nations. Long waiting times, high consultation costs, and a global shortage of specialists create a critical healthcare gap that technology can help bridge.</a:t>
            </a:r>
          </a:p>
        </p:txBody>
      </p:sp>
      <p:sp>
        <p:nvSpPr>
          <p:cNvPr id="11" name="Rectangle 10"/>
          <p:cNvSpPr/>
          <p:nvPr/>
        </p:nvSpPr>
        <p:spPr>
          <a:xfrm>
            <a:off x="457200" y="2788920"/>
            <a:ext cx="5577840" cy="1664208"/>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94360" y="2898648"/>
            <a:ext cx="5303520" cy="384048"/>
          </a:xfrm>
          <a:prstGeom prst="rect">
            <a:avLst/>
          </a:prstGeom>
          <a:noFill/>
        </p:spPr>
        <p:txBody>
          <a:bodyPr wrap="square">
            <a:spAutoFit/>
          </a:bodyPr>
          <a:lstStyle/>
          <a:p>
            <a:pPr algn="l"/>
            <a:r>
              <a:rPr sz="1400" b="1" i="0">
                <a:solidFill>
                  <a:srgbClr val="2563EB"/>
                </a:solidFill>
                <a:latin typeface="Calibri"/>
              </a:rPr>
              <a:t>🌍 Global Impact</a:t>
            </a:r>
          </a:p>
        </p:txBody>
      </p:sp>
      <p:sp>
        <p:nvSpPr>
          <p:cNvPr id="13" name="TextBox 12"/>
          <p:cNvSpPr txBox="1"/>
          <p:nvPr/>
        </p:nvSpPr>
        <p:spPr>
          <a:xfrm>
            <a:off x="594360" y="3291839"/>
            <a:ext cx="5303520" cy="1069848"/>
          </a:xfrm>
          <a:prstGeom prst="rect">
            <a:avLst/>
          </a:prstGeom>
          <a:noFill/>
        </p:spPr>
        <p:txBody>
          <a:bodyPr wrap="square">
            <a:spAutoFit/>
          </a:bodyPr>
          <a:lstStyle/>
          <a:p>
            <a:pPr algn="l"/>
            <a:r>
              <a:rPr sz="1200" b="0" i="0">
                <a:solidFill>
                  <a:srgbClr val="475569"/>
                </a:solidFill>
                <a:latin typeface="Calibri"/>
              </a:rPr>
              <a:t>Skin conditions account for ~1.79% of the global disease burden (GBD). Only 1 dermatologist per 100,000 people in low-income countries.</a:t>
            </a:r>
          </a:p>
        </p:txBody>
      </p:sp>
      <p:sp>
        <p:nvSpPr>
          <p:cNvPr id="14" name="Rectangle 13"/>
          <p:cNvSpPr/>
          <p:nvPr/>
        </p:nvSpPr>
        <p:spPr>
          <a:xfrm>
            <a:off x="6309360" y="2788920"/>
            <a:ext cx="5577840" cy="1664208"/>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898648"/>
            <a:ext cx="5303520" cy="384048"/>
          </a:xfrm>
          <a:prstGeom prst="rect">
            <a:avLst/>
          </a:prstGeom>
          <a:noFill/>
        </p:spPr>
        <p:txBody>
          <a:bodyPr wrap="square">
            <a:spAutoFit/>
          </a:bodyPr>
          <a:lstStyle/>
          <a:p>
            <a:pPr algn="l"/>
            <a:r>
              <a:rPr sz="1400" b="1" i="0">
                <a:solidFill>
                  <a:srgbClr val="2563EB"/>
                </a:solidFill>
                <a:latin typeface="Calibri"/>
              </a:rPr>
              <a:t>🤖 AI Opportunity</a:t>
            </a:r>
          </a:p>
        </p:txBody>
      </p:sp>
      <p:sp>
        <p:nvSpPr>
          <p:cNvPr id="16" name="TextBox 15"/>
          <p:cNvSpPr txBox="1"/>
          <p:nvPr/>
        </p:nvSpPr>
        <p:spPr>
          <a:xfrm>
            <a:off x="6446520" y="3291839"/>
            <a:ext cx="5303520" cy="1069848"/>
          </a:xfrm>
          <a:prstGeom prst="rect">
            <a:avLst/>
          </a:prstGeom>
          <a:noFill/>
        </p:spPr>
        <p:txBody>
          <a:bodyPr wrap="square">
            <a:spAutoFit/>
          </a:bodyPr>
          <a:lstStyle/>
          <a:p>
            <a:pPr algn="l"/>
            <a:r>
              <a:rPr sz="1200" b="0" i="0">
                <a:solidFill>
                  <a:srgbClr val="475569"/>
                </a:solidFill>
                <a:latin typeface="Calibri"/>
              </a:rPr>
              <a:t>Deep learning models (CNNs) have achieved dermatologist-level accuracy in classifying skin lesions from images (ISIC 2018 challenge).</a:t>
            </a:r>
          </a:p>
        </p:txBody>
      </p:sp>
      <p:sp>
        <p:nvSpPr>
          <p:cNvPr id="17" name="Rectangle 16"/>
          <p:cNvSpPr/>
          <p:nvPr/>
        </p:nvSpPr>
        <p:spPr>
          <a:xfrm>
            <a:off x="457200" y="4572000"/>
            <a:ext cx="5577840" cy="1664208"/>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4681728"/>
            <a:ext cx="5303520" cy="384048"/>
          </a:xfrm>
          <a:prstGeom prst="rect">
            <a:avLst/>
          </a:prstGeom>
          <a:noFill/>
        </p:spPr>
        <p:txBody>
          <a:bodyPr wrap="square">
            <a:spAutoFit/>
          </a:bodyPr>
          <a:lstStyle/>
          <a:p>
            <a:pPr algn="l"/>
            <a:r>
              <a:rPr sz="1400" b="1" i="0">
                <a:solidFill>
                  <a:srgbClr val="2563EB"/>
                </a:solidFill>
                <a:latin typeface="Calibri"/>
              </a:rPr>
              <a:t>🧴 Ingredient Safety</a:t>
            </a:r>
          </a:p>
        </p:txBody>
      </p:sp>
      <p:sp>
        <p:nvSpPr>
          <p:cNvPr id="19" name="TextBox 18"/>
          <p:cNvSpPr txBox="1"/>
          <p:nvPr/>
        </p:nvSpPr>
        <p:spPr>
          <a:xfrm>
            <a:off x="594360" y="5074920"/>
            <a:ext cx="5303520" cy="1069848"/>
          </a:xfrm>
          <a:prstGeom prst="rect">
            <a:avLst/>
          </a:prstGeom>
          <a:noFill/>
        </p:spPr>
        <p:txBody>
          <a:bodyPr wrap="square">
            <a:spAutoFit/>
          </a:bodyPr>
          <a:lstStyle/>
          <a:p>
            <a:pPr algn="l"/>
            <a:r>
              <a:rPr sz="1200" b="0" i="0">
                <a:solidFill>
                  <a:srgbClr val="475569"/>
                </a:solidFill>
                <a:latin typeface="Calibri"/>
              </a:rPr>
              <a:t>73% of consumers cannot correctly identify harmful cosmetic ingredients. Allergic reactions and irritant contact dermatitis affect millions annually.</a:t>
            </a:r>
          </a:p>
        </p:txBody>
      </p:sp>
      <p:sp>
        <p:nvSpPr>
          <p:cNvPr id="20" name="Rectangle 19"/>
          <p:cNvSpPr/>
          <p:nvPr/>
        </p:nvSpPr>
        <p:spPr>
          <a:xfrm>
            <a:off x="6309360" y="4572000"/>
            <a:ext cx="5577840" cy="1664208"/>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46520" y="4681728"/>
            <a:ext cx="5303520" cy="384048"/>
          </a:xfrm>
          <a:prstGeom prst="rect">
            <a:avLst/>
          </a:prstGeom>
          <a:noFill/>
        </p:spPr>
        <p:txBody>
          <a:bodyPr wrap="square">
            <a:spAutoFit/>
          </a:bodyPr>
          <a:lstStyle/>
          <a:p>
            <a:pPr algn="l"/>
            <a:r>
              <a:rPr sz="1400" b="1" i="0">
                <a:solidFill>
                  <a:srgbClr val="2563EB"/>
                </a:solidFill>
                <a:latin typeface="Calibri"/>
              </a:rPr>
              <a:t>💡 Our Approach</a:t>
            </a:r>
          </a:p>
        </p:txBody>
      </p:sp>
      <p:sp>
        <p:nvSpPr>
          <p:cNvPr id="22" name="TextBox 21"/>
          <p:cNvSpPr txBox="1"/>
          <p:nvPr/>
        </p:nvSpPr>
        <p:spPr>
          <a:xfrm>
            <a:off x="6446520" y="5074920"/>
            <a:ext cx="5303520" cy="1069848"/>
          </a:xfrm>
          <a:prstGeom prst="rect">
            <a:avLst/>
          </a:prstGeom>
          <a:noFill/>
        </p:spPr>
        <p:txBody>
          <a:bodyPr wrap="square">
            <a:spAutoFit/>
          </a:bodyPr>
          <a:lstStyle/>
          <a:p>
            <a:pPr algn="l"/>
            <a:r>
              <a:rPr sz="1200" b="0" i="0">
                <a:solidFill>
                  <a:srgbClr val="475569"/>
                </a:solidFill>
                <a:latin typeface="Calibri"/>
              </a:rPr>
              <a:t>Skyntri combines CNN-based skin image analysis, OCR-powered ingredient scanning, and NLP-driven chatbot guidance into one accessible web portal.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Literature Review / Existing Work</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A survey of related tools, datasets, and research</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4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08760"/>
            <a:ext cx="2103120" cy="566928"/>
          </a:xfrm>
          <a:prstGeom prst="rect">
            <a:avLst/>
          </a:prstGeom>
          <a:solidFill>
            <a:srgbClr val="0F172A"/>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81912"/>
            <a:ext cx="1965960" cy="457200"/>
          </a:xfrm>
          <a:prstGeom prst="rect">
            <a:avLst/>
          </a:prstGeom>
          <a:noFill/>
        </p:spPr>
        <p:txBody>
          <a:bodyPr wrap="square">
            <a:spAutoFit/>
          </a:bodyPr>
          <a:lstStyle/>
          <a:p>
            <a:pPr algn="l"/>
            <a:r>
              <a:rPr sz="1100" b="1" i="0">
                <a:solidFill>
                  <a:srgbClr val="FFFFFF"/>
                </a:solidFill>
                <a:latin typeface="Calibri"/>
              </a:rPr>
              <a:t>System / Study</a:t>
            </a:r>
          </a:p>
        </p:txBody>
      </p:sp>
      <p:sp>
        <p:nvSpPr>
          <p:cNvPr id="12" name="Rectangle 11"/>
          <p:cNvSpPr/>
          <p:nvPr/>
        </p:nvSpPr>
        <p:spPr>
          <a:xfrm>
            <a:off x="2560320" y="1508760"/>
            <a:ext cx="3108960" cy="566928"/>
          </a:xfrm>
          <a:prstGeom prst="rect">
            <a:avLst/>
          </a:prstGeom>
          <a:solidFill>
            <a:srgbClr val="0F172A"/>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651760" y="1581912"/>
            <a:ext cx="2971800" cy="457200"/>
          </a:xfrm>
          <a:prstGeom prst="rect">
            <a:avLst/>
          </a:prstGeom>
          <a:noFill/>
        </p:spPr>
        <p:txBody>
          <a:bodyPr wrap="square">
            <a:spAutoFit/>
          </a:bodyPr>
          <a:lstStyle/>
          <a:p>
            <a:pPr algn="l"/>
            <a:r>
              <a:rPr sz="1100" b="1" i="0">
                <a:solidFill>
                  <a:srgbClr val="FFFFFF"/>
                </a:solidFill>
                <a:latin typeface="Calibri"/>
              </a:rPr>
              <a:t>Approach</a:t>
            </a:r>
          </a:p>
        </p:txBody>
      </p:sp>
      <p:sp>
        <p:nvSpPr>
          <p:cNvPr id="14" name="Rectangle 13"/>
          <p:cNvSpPr/>
          <p:nvPr/>
        </p:nvSpPr>
        <p:spPr>
          <a:xfrm>
            <a:off x="5715000" y="1508760"/>
            <a:ext cx="2377440" cy="566928"/>
          </a:xfrm>
          <a:prstGeom prst="rect">
            <a:avLst/>
          </a:prstGeom>
          <a:solidFill>
            <a:srgbClr val="0F172A"/>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1581912"/>
            <a:ext cx="2240280" cy="457200"/>
          </a:xfrm>
          <a:prstGeom prst="rect">
            <a:avLst/>
          </a:prstGeom>
          <a:noFill/>
        </p:spPr>
        <p:txBody>
          <a:bodyPr wrap="square">
            <a:spAutoFit/>
          </a:bodyPr>
          <a:lstStyle/>
          <a:p>
            <a:pPr algn="l"/>
            <a:r>
              <a:rPr sz="1100" b="1" i="0">
                <a:solidFill>
                  <a:srgbClr val="FFFFFF"/>
                </a:solidFill>
                <a:latin typeface="Calibri"/>
              </a:rPr>
              <a:t>Strength</a:t>
            </a:r>
          </a:p>
        </p:txBody>
      </p:sp>
      <p:sp>
        <p:nvSpPr>
          <p:cNvPr id="16" name="Rectangle 15"/>
          <p:cNvSpPr/>
          <p:nvPr/>
        </p:nvSpPr>
        <p:spPr>
          <a:xfrm>
            <a:off x="8138160" y="1508760"/>
            <a:ext cx="2468880" cy="566928"/>
          </a:xfrm>
          <a:prstGeom prst="rect">
            <a:avLst/>
          </a:prstGeom>
          <a:solidFill>
            <a:srgbClr val="0F172A"/>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29600" y="1581912"/>
            <a:ext cx="2331720" cy="457200"/>
          </a:xfrm>
          <a:prstGeom prst="rect">
            <a:avLst/>
          </a:prstGeom>
          <a:noFill/>
        </p:spPr>
        <p:txBody>
          <a:bodyPr wrap="square">
            <a:spAutoFit/>
          </a:bodyPr>
          <a:lstStyle/>
          <a:p>
            <a:pPr algn="l"/>
            <a:r>
              <a:rPr sz="1100" b="1" i="0">
                <a:solidFill>
                  <a:srgbClr val="FFFFFF"/>
                </a:solidFill>
                <a:latin typeface="Calibri"/>
              </a:rPr>
              <a:t>Limitation</a:t>
            </a:r>
          </a:p>
        </p:txBody>
      </p:sp>
      <p:sp>
        <p:nvSpPr>
          <p:cNvPr id="18" name="Rectangle 17"/>
          <p:cNvSpPr/>
          <p:nvPr/>
        </p:nvSpPr>
        <p:spPr>
          <a:xfrm>
            <a:off x="411480" y="2075688"/>
            <a:ext cx="210312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148840"/>
            <a:ext cx="1965960" cy="457200"/>
          </a:xfrm>
          <a:prstGeom prst="rect">
            <a:avLst/>
          </a:prstGeom>
          <a:noFill/>
        </p:spPr>
        <p:txBody>
          <a:bodyPr wrap="square">
            <a:spAutoFit/>
          </a:bodyPr>
          <a:lstStyle/>
          <a:p>
            <a:pPr algn="l"/>
            <a:r>
              <a:rPr sz="1000" b="0" i="0">
                <a:solidFill>
                  <a:srgbClr val="0F172A"/>
                </a:solidFill>
                <a:latin typeface="Calibri"/>
              </a:rPr>
              <a:t>DermNet NZ</a:t>
            </a:r>
          </a:p>
        </p:txBody>
      </p:sp>
      <p:sp>
        <p:nvSpPr>
          <p:cNvPr id="20" name="Rectangle 19"/>
          <p:cNvSpPr/>
          <p:nvPr/>
        </p:nvSpPr>
        <p:spPr>
          <a:xfrm>
            <a:off x="2560320" y="2075688"/>
            <a:ext cx="310896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51760" y="2148840"/>
            <a:ext cx="2971800" cy="457200"/>
          </a:xfrm>
          <a:prstGeom prst="rect">
            <a:avLst/>
          </a:prstGeom>
          <a:noFill/>
        </p:spPr>
        <p:txBody>
          <a:bodyPr wrap="square">
            <a:spAutoFit/>
          </a:bodyPr>
          <a:lstStyle/>
          <a:p>
            <a:pPr algn="l"/>
            <a:r>
              <a:rPr sz="1000" b="0" i="0">
                <a:solidFill>
                  <a:srgbClr val="0F172A"/>
                </a:solidFill>
                <a:latin typeface="Calibri"/>
              </a:rPr>
              <a:t>Online atlas of clinical images &amp; descriptions</a:t>
            </a:r>
          </a:p>
        </p:txBody>
      </p:sp>
      <p:sp>
        <p:nvSpPr>
          <p:cNvPr id="22" name="Rectangle 21"/>
          <p:cNvSpPr/>
          <p:nvPr/>
        </p:nvSpPr>
        <p:spPr>
          <a:xfrm>
            <a:off x="5715000" y="2075688"/>
            <a:ext cx="237744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806440" y="2148840"/>
            <a:ext cx="2240280" cy="457200"/>
          </a:xfrm>
          <a:prstGeom prst="rect">
            <a:avLst/>
          </a:prstGeom>
          <a:noFill/>
        </p:spPr>
        <p:txBody>
          <a:bodyPr wrap="square">
            <a:spAutoFit/>
          </a:bodyPr>
          <a:lstStyle/>
          <a:p>
            <a:pPr algn="l"/>
            <a:r>
              <a:rPr sz="1000" b="0" i="0">
                <a:solidFill>
                  <a:srgbClr val="0F172A"/>
                </a:solidFill>
                <a:latin typeface="Calibri"/>
              </a:rPr>
              <a:t>Comprehensive database</a:t>
            </a:r>
          </a:p>
        </p:txBody>
      </p:sp>
      <p:sp>
        <p:nvSpPr>
          <p:cNvPr id="24" name="Rectangle 23"/>
          <p:cNvSpPr/>
          <p:nvPr/>
        </p:nvSpPr>
        <p:spPr>
          <a:xfrm>
            <a:off x="8138160" y="2075688"/>
            <a:ext cx="246888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0" y="2148840"/>
            <a:ext cx="2331720" cy="457200"/>
          </a:xfrm>
          <a:prstGeom prst="rect">
            <a:avLst/>
          </a:prstGeom>
          <a:noFill/>
        </p:spPr>
        <p:txBody>
          <a:bodyPr wrap="square">
            <a:spAutoFit/>
          </a:bodyPr>
          <a:lstStyle/>
          <a:p>
            <a:pPr algn="l"/>
            <a:r>
              <a:rPr sz="1000" b="0" i="0">
                <a:solidFill>
                  <a:srgbClr val="0F172A"/>
                </a:solidFill>
                <a:latin typeface="Calibri"/>
              </a:rPr>
              <a:t>No AI diagnosis</a:t>
            </a:r>
          </a:p>
        </p:txBody>
      </p:sp>
      <p:sp>
        <p:nvSpPr>
          <p:cNvPr id="26" name="Rectangle 25"/>
          <p:cNvSpPr/>
          <p:nvPr/>
        </p:nvSpPr>
        <p:spPr>
          <a:xfrm>
            <a:off x="411480" y="2642615"/>
            <a:ext cx="210312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2920" y="2715768"/>
            <a:ext cx="1965960" cy="457200"/>
          </a:xfrm>
          <a:prstGeom prst="rect">
            <a:avLst/>
          </a:prstGeom>
          <a:noFill/>
        </p:spPr>
        <p:txBody>
          <a:bodyPr wrap="square">
            <a:spAutoFit/>
          </a:bodyPr>
          <a:lstStyle/>
          <a:p>
            <a:pPr algn="l"/>
            <a:r>
              <a:rPr sz="1000" b="0" i="0">
                <a:solidFill>
                  <a:srgbClr val="0F172A"/>
                </a:solidFill>
                <a:latin typeface="Calibri"/>
              </a:rPr>
              <a:t>SkinVision (2020)</a:t>
            </a:r>
          </a:p>
        </p:txBody>
      </p:sp>
      <p:sp>
        <p:nvSpPr>
          <p:cNvPr id="28" name="Rectangle 27"/>
          <p:cNvSpPr/>
          <p:nvPr/>
        </p:nvSpPr>
        <p:spPr>
          <a:xfrm>
            <a:off x="2560320" y="2642615"/>
            <a:ext cx="310896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2651760" y="2715768"/>
            <a:ext cx="2971800" cy="457200"/>
          </a:xfrm>
          <a:prstGeom prst="rect">
            <a:avLst/>
          </a:prstGeom>
          <a:noFill/>
        </p:spPr>
        <p:txBody>
          <a:bodyPr wrap="square">
            <a:spAutoFit/>
          </a:bodyPr>
          <a:lstStyle/>
          <a:p>
            <a:pPr algn="l"/>
            <a:r>
              <a:rPr sz="1000" b="0" i="0">
                <a:solidFill>
                  <a:srgbClr val="0F172A"/>
                </a:solidFill>
                <a:latin typeface="Calibri"/>
              </a:rPr>
              <a:t>CNN for melanoma risk scoring via smartphone</a:t>
            </a:r>
          </a:p>
        </p:txBody>
      </p:sp>
      <p:sp>
        <p:nvSpPr>
          <p:cNvPr id="30" name="Rectangle 29"/>
          <p:cNvSpPr/>
          <p:nvPr/>
        </p:nvSpPr>
        <p:spPr>
          <a:xfrm>
            <a:off x="5715000" y="2642615"/>
            <a:ext cx="237744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806440" y="2715768"/>
            <a:ext cx="2240280" cy="457200"/>
          </a:xfrm>
          <a:prstGeom prst="rect">
            <a:avLst/>
          </a:prstGeom>
          <a:noFill/>
        </p:spPr>
        <p:txBody>
          <a:bodyPr wrap="square">
            <a:spAutoFit/>
          </a:bodyPr>
          <a:lstStyle/>
          <a:p>
            <a:pPr algn="l"/>
            <a:r>
              <a:rPr sz="1000" b="0" i="0">
                <a:solidFill>
                  <a:srgbClr val="0F172A"/>
                </a:solidFill>
                <a:latin typeface="Calibri"/>
              </a:rPr>
              <a:t>High sensitivity (95%)</a:t>
            </a:r>
          </a:p>
        </p:txBody>
      </p:sp>
      <p:sp>
        <p:nvSpPr>
          <p:cNvPr id="32" name="Rectangle 31"/>
          <p:cNvSpPr/>
          <p:nvPr/>
        </p:nvSpPr>
        <p:spPr>
          <a:xfrm>
            <a:off x="8138160" y="2642615"/>
            <a:ext cx="246888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29600" y="2715768"/>
            <a:ext cx="2331720" cy="457200"/>
          </a:xfrm>
          <a:prstGeom prst="rect">
            <a:avLst/>
          </a:prstGeom>
          <a:noFill/>
        </p:spPr>
        <p:txBody>
          <a:bodyPr wrap="square">
            <a:spAutoFit/>
          </a:bodyPr>
          <a:lstStyle/>
          <a:p>
            <a:pPr algn="l"/>
            <a:r>
              <a:rPr sz="1000" b="0" i="0">
                <a:solidFill>
                  <a:srgbClr val="0F172A"/>
                </a:solidFill>
                <a:latin typeface="Calibri"/>
              </a:rPr>
              <a:t>Subscription-based; limited conditions</a:t>
            </a:r>
          </a:p>
        </p:txBody>
      </p:sp>
      <p:sp>
        <p:nvSpPr>
          <p:cNvPr id="34" name="Rectangle 33"/>
          <p:cNvSpPr/>
          <p:nvPr/>
        </p:nvSpPr>
        <p:spPr>
          <a:xfrm>
            <a:off x="411480" y="3209544"/>
            <a:ext cx="210312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02920" y="3282696"/>
            <a:ext cx="1965960" cy="457200"/>
          </a:xfrm>
          <a:prstGeom prst="rect">
            <a:avLst/>
          </a:prstGeom>
          <a:noFill/>
        </p:spPr>
        <p:txBody>
          <a:bodyPr wrap="square">
            <a:spAutoFit/>
          </a:bodyPr>
          <a:lstStyle/>
          <a:p>
            <a:pPr algn="l"/>
            <a:r>
              <a:rPr sz="1000" b="0" i="0">
                <a:solidFill>
                  <a:srgbClr val="0F172A"/>
                </a:solidFill>
                <a:latin typeface="Calibri"/>
              </a:rPr>
              <a:t>Google DermAssist (2021)</a:t>
            </a:r>
          </a:p>
        </p:txBody>
      </p:sp>
      <p:sp>
        <p:nvSpPr>
          <p:cNvPr id="36" name="Rectangle 35"/>
          <p:cNvSpPr/>
          <p:nvPr/>
        </p:nvSpPr>
        <p:spPr>
          <a:xfrm>
            <a:off x="2560320" y="3209544"/>
            <a:ext cx="310896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651760" y="3282696"/>
            <a:ext cx="2971800" cy="457200"/>
          </a:xfrm>
          <a:prstGeom prst="rect">
            <a:avLst/>
          </a:prstGeom>
          <a:noFill/>
        </p:spPr>
        <p:txBody>
          <a:bodyPr wrap="square">
            <a:spAutoFit/>
          </a:bodyPr>
          <a:lstStyle/>
          <a:p>
            <a:pPr algn="l"/>
            <a:r>
              <a:rPr sz="1000" b="0" i="0">
                <a:solidFill>
                  <a:srgbClr val="0F172A"/>
                </a:solidFill>
                <a:latin typeface="Calibri"/>
              </a:rPr>
              <a:t>Deep learning on 288 skin conditions</a:t>
            </a:r>
          </a:p>
        </p:txBody>
      </p:sp>
      <p:sp>
        <p:nvSpPr>
          <p:cNvPr id="38" name="Rectangle 37"/>
          <p:cNvSpPr/>
          <p:nvPr/>
        </p:nvSpPr>
        <p:spPr>
          <a:xfrm>
            <a:off x="5715000" y="3209544"/>
            <a:ext cx="237744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806440" y="3282696"/>
            <a:ext cx="2240280" cy="457200"/>
          </a:xfrm>
          <a:prstGeom prst="rect">
            <a:avLst/>
          </a:prstGeom>
          <a:noFill/>
        </p:spPr>
        <p:txBody>
          <a:bodyPr wrap="square">
            <a:spAutoFit/>
          </a:bodyPr>
          <a:lstStyle/>
          <a:p>
            <a:pPr algn="l"/>
            <a:r>
              <a:rPr sz="1000" b="0" i="0">
                <a:solidFill>
                  <a:srgbClr val="0F172A"/>
                </a:solidFill>
                <a:latin typeface="Calibri"/>
              </a:rPr>
              <a:t>Covers 288 conditions</a:t>
            </a:r>
          </a:p>
        </p:txBody>
      </p:sp>
      <p:sp>
        <p:nvSpPr>
          <p:cNvPr id="40" name="Rectangle 39"/>
          <p:cNvSpPr/>
          <p:nvPr/>
        </p:nvSpPr>
        <p:spPr>
          <a:xfrm>
            <a:off x="8138160" y="3209544"/>
            <a:ext cx="246888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229600" y="3282696"/>
            <a:ext cx="2331720" cy="457200"/>
          </a:xfrm>
          <a:prstGeom prst="rect">
            <a:avLst/>
          </a:prstGeom>
          <a:noFill/>
        </p:spPr>
        <p:txBody>
          <a:bodyPr wrap="square">
            <a:spAutoFit/>
          </a:bodyPr>
          <a:lstStyle/>
          <a:p>
            <a:pPr algn="l"/>
            <a:r>
              <a:rPr sz="1000" b="0" i="0">
                <a:solidFill>
                  <a:srgbClr val="0F172A"/>
                </a:solidFill>
                <a:latin typeface="Calibri"/>
              </a:rPr>
              <a:t>Not publicly available globally</a:t>
            </a:r>
          </a:p>
        </p:txBody>
      </p:sp>
      <p:sp>
        <p:nvSpPr>
          <p:cNvPr id="42" name="Rectangle 41"/>
          <p:cNvSpPr/>
          <p:nvPr/>
        </p:nvSpPr>
        <p:spPr>
          <a:xfrm>
            <a:off x="411480" y="3776472"/>
            <a:ext cx="210312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502920" y="3849624"/>
            <a:ext cx="1965960" cy="457200"/>
          </a:xfrm>
          <a:prstGeom prst="rect">
            <a:avLst/>
          </a:prstGeom>
          <a:noFill/>
        </p:spPr>
        <p:txBody>
          <a:bodyPr wrap="square">
            <a:spAutoFit/>
          </a:bodyPr>
          <a:lstStyle/>
          <a:p>
            <a:pPr algn="l"/>
            <a:r>
              <a:rPr sz="1000" b="0" i="0">
                <a:solidFill>
                  <a:srgbClr val="0F172A"/>
                </a:solidFill>
                <a:latin typeface="Calibri"/>
              </a:rPr>
              <a:t>ISIC Archive</a:t>
            </a:r>
          </a:p>
        </p:txBody>
      </p:sp>
      <p:sp>
        <p:nvSpPr>
          <p:cNvPr id="44" name="Rectangle 43"/>
          <p:cNvSpPr/>
          <p:nvPr/>
        </p:nvSpPr>
        <p:spPr>
          <a:xfrm>
            <a:off x="2560320" y="3776472"/>
            <a:ext cx="310896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651760" y="3849624"/>
            <a:ext cx="2971800" cy="457200"/>
          </a:xfrm>
          <a:prstGeom prst="rect">
            <a:avLst/>
          </a:prstGeom>
          <a:noFill/>
        </p:spPr>
        <p:txBody>
          <a:bodyPr wrap="square">
            <a:spAutoFit/>
          </a:bodyPr>
          <a:lstStyle/>
          <a:p>
            <a:pPr algn="l"/>
            <a:r>
              <a:rPr sz="1000" b="0" i="0">
                <a:solidFill>
                  <a:srgbClr val="0F172A"/>
                </a:solidFill>
                <a:latin typeface="Calibri"/>
              </a:rPr>
              <a:t>Benchmark dataset + challenge leaderboards</a:t>
            </a:r>
          </a:p>
        </p:txBody>
      </p:sp>
      <p:sp>
        <p:nvSpPr>
          <p:cNvPr id="46" name="Rectangle 45"/>
          <p:cNvSpPr/>
          <p:nvPr/>
        </p:nvSpPr>
        <p:spPr>
          <a:xfrm>
            <a:off x="5715000" y="3776472"/>
            <a:ext cx="237744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806440" y="3849624"/>
            <a:ext cx="2240280" cy="457200"/>
          </a:xfrm>
          <a:prstGeom prst="rect">
            <a:avLst/>
          </a:prstGeom>
          <a:noFill/>
        </p:spPr>
        <p:txBody>
          <a:bodyPr wrap="square">
            <a:spAutoFit/>
          </a:bodyPr>
          <a:lstStyle/>
          <a:p>
            <a:pPr algn="l"/>
            <a:r>
              <a:rPr sz="1000" b="0" i="0">
                <a:solidFill>
                  <a:srgbClr val="0F172A"/>
                </a:solidFill>
                <a:latin typeface="Calibri"/>
              </a:rPr>
              <a:t>Gold-standard dataset</a:t>
            </a:r>
          </a:p>
        </p:txBody>
      </p:sp>
      <p:sp>
        <p:nvSpPr>
          <p:cNvPr id="48" name="Rectangle 47"/>
          <p:cNvSpPr/>
          <p:nvPr/>
        </p:nvSpPr>
        <p:spPr>
          <a:xfrm>
            <a:off x="8138160" y="3776472"/>
            <a:ext cx="246888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229600" y="3849624"/>
            <a:ext cx="2331720" cy="457200"/>
          </a:xfrm>
          <a:prstGeom prst="rect">
            <a:avLst/>
          </a:prstGeom>
          <a:noFill/>
        </p:spPr>
        <p:txBody>
          <a:bodyPr wrap="square">
            <a:spAutoFit/>
          </a:bodyPr>
          <a:lstStyle/>
          <a:p>
            <a:pPr algn="l"/>
            <a:r>
              <a:rPr sz="1000" b="0" i="0">
                <a:solidFill>
                  <a:srgbClr val="0F172A"/>
                </a:solidFill>
                <a:latin typeface="Calibri"/>
              </a:rPr>
              <a:t>Research only; no consumer product</a:t>
            </a:r>
          </a:p>
        </p:txBody>
      </p:sp>
      <p:sp>
        <p:nvSpPr>
          <p:cNvPr id="50" name="Rectangle 49"/>
          <p:cNvSpPr/>
          <p:nvPr/>
        </p:nvSpPr>
        <p:spPr>
          <a:xfrm>
            <a:off x="411480" y="4343400"/>
            <a:ext cx="210312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502920" y="4416552"/>
            <a:ext cx="1965960" cy="457200"/>
          </a:xfrm>
          <a:prstGeom prst="rect">
            <a:avLst/>
          </a:prstGeom>
          <a:noFill/>
        </p:spPr>
        <p:txBody>
          <a:bodyPr wrap="square">
            <a:spAutoFit/>
          </a:bodyPr>
          <a:lstStyle/>
          <a:p>
            <a:pPr algn="l"/>
            <a:r>
              <a:rPr sz="1000" b="0" i="0">
                <a:solidFill>
                  <a:srgbClr val="0F172A"/>
                </a:solidFill>
                <a:latin typeface="Calibri"/>
              </a:rPr>
              <a:t>IBM Watson Health</a:t>
            </a:r>
          </a:p>
        </p:txBody>
      </p:sp>
      <p:sp>
        <p:nvSpPr>
          <p:cNvPr id="52" name="Rectangle 51"/>
          <p:cNvSpPr/>
          <p:nvPr/>
        </p:nvSpPr>
        <p:spPr>
          <a:xfrm>
            <a:off x="2560320" y="4343400"/>
            <a:ext cx="310896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651760" y="4416552"/>
            <a:ext cx="2971800" cy="457200"/>
          </a:xfrm>
          <a:prstGeom prst="rect">
            <a:avLst/>
          </a:prstGeom>
          <a:noFill/>
        </p:spPr>
        <p:txBody>
          <a:bodyPr wrap="square">
            <a:spAutoFit/>
          </a:bodyPr>
          <a:lstStyle/>
          <a:p>
            <a:pPr algn="l"/>
            <a:r>
              <a:rPr sz="1000" b="0" i="0">
                <a:solidFill>
                  <a:srgbClr val="0F172A"/>
                </a:solidFill>
                <a:latin typeface="Calibri"/>
              </a:rPr>
              <a:t>Dermatology + EHR integration</a:t>
            </a:r>
          </a:p>
        </p:txBody>
      </p:sp>
      <p:sp>
        <p:nvSpPr>
          <p:cNvPr id="54" name="Rectangle 53"/>
          <p:cNvSpPr/>
          <p:nvPr/>
        </p:nvSpPr>
        <p:spPr>
          <a:xfrm>
            <a:off x="5715000" y="4343400"/>
            <a:ext cx="237744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5806440" y="4416552"/>
            <a:ext cx="2240280" cy="457200"/>
          </a:xfrm>
          <a:prstGeom prst="rect">
            <a:avLst/>
          </a:prstGeom>
          <a:noFill/>
        </p:spPr>
        <p:txBody>
          <a:bodyPr wrap="square">
            <a:spAutoFit/>
          </a:bodyPr>
          <a:lstStyle/>
          <a:p>
            <a:pPr algn="l"/>
            <a:r>
              <a:rPr sz="1000" b="0" i="0">
                <a:solidFill>
                  <a:srgbClr val="0F172A"/>
                </a:solidFill>
                <a:latin typeface="Calibri"/>
              </a:rPr>
              <a:t>Clinical integration</a:t>
            </a:r>
          </a:p>
        </p:txBody>
      </p:sp>
      <p:sp>
        <p:nvSpPr>
          <p:cNvPr id="56" name="Rectangle 55"/>
          <p:cNvSpPr/>
          <p:nvPr/>
        </p:nvSpPr>
        <p:spPr>
          <a:xfrm>
            <a:off x="8138160" y="4343400"/>
            <a:ext cx="2468880" cy="566928"/>
          </a:xfrm>
          <a:prstGeom prst="rect">
            <a:avLst/>
          </a:prstGeom>
          <a:solidFill>
            <a:srgbClr val="F1F5F9"/>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8229600" y="4416552"/>
            <a:ext cx="2331720" cy="457200"/>
          </a:xfrm>
          <a:prstGeom prst="rect">
            <a:avLst/>
          </a:prstGeom>
          <a:noFill/>
        </p:spPr>
        <p:txBody>
          <a:bodyPr wrap="square">
            <a:spAutoFit/>
          </a:bodyPr>
          <a:lstStyle/>
          <a:p>
            <a:pPr algn="l"/>
            <a:r>
              <a:rPr sz="1000" b="0" i="0">
                <a:solidFill>
                  <a:srgbClr val="0F172A"/>
                </a:solidFill>
                <a:latin typeface="Calibri"/>
              </a:rPr>
              <a:t>Enterprise cost; complex deployment</a:t>
            </a:r>
          </a:p>
        </p:txBody>
      </p:sp>
      <p:sp>
        <p:nvSpPr>
          <p:cNvPr id="58" name="Rectangle 57"/>
          <p:cNvSpPr/>
          <p:nvPr/>
        </p:nvSpPr>
        <p:spPr>
          <a:xfrm>
            <a:off x="411480" y="4910327"/>
            <a:ext cx="210312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502920" y="4983479"/>
            <a:ext cx="1965960" cy="457200"/>
          </a:xfrm>
          <a:prstGeom prst="rect">
            <a:avLst/>
          </a:prstGeom>
          <a:noFill/>
        </p:spPr>
        <p:txBody>
          <a:bodyPr wrap="square">
            <a:spAutoFit/>
          </a:bodyPr>
          <a:lstStyle/>
          <a:p>
            <a:pPr algn="l"/>
            <a:r>
              <a:rPr sz="1000" b="0" i="0">
                <a:solidFill>
                  <a:srgbClr val="0F172A"/>
                </a:solidFill>
                <a:latin typeface="Calibri"/>
              </a:rPr>
              <a:t>Skyntri (Proposed)</a:t>
            </a:r>
          </a:p>
        </p:txBody>
      </p:sp>
      <p:sp>
        <p:nvSpPr>
          <p:cNvPr id="60" name="Rectangle 59"/>
          <p:cNvSpPr/>
          <p:nvPr/>
        </p:nvSpPr>
        <p:spPr>
          <a:xfrm>
            <a:off x="2560320" y="4910327"/>
            <a:ext cx="310896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651760" y="4983479"/>
            <a:ext cx="2971800" cy="457200"/>
          </a:xfrm>
          <a:prstGeom prst="rect">
            <a:avLst/>
          </a:prstGeom>
          <a:noFill/>
        </p:spPr>
        <p:txBody>
          <a:bodyPr wrap="square">
            <a:spAutoFit/>
          </a:bodyPr>
          <a:lstStyle/>
          <a:p>
            <a:pPr algn="l"/>
            <a:r>
              <a:rPr sz="1000" b="0" i="0">
                <a:solidFill>
                  <a:srgbClr val="0F172A"/>
                </a:solidFill>
                <a:latin typeface="Calibri"/>
              </a:rPr>
              <a:t>CNN + OCR + NLP; React web portal</a:t>
            </a:r>
          </a:p>
        </p:txBody>
      </p:sp>
      <p:sp>
        <p:nvSpPr>
          <p:cNvPr id="62" name="Rectangle 61"/>
          <p:cNvSpPr/>
          <p:nvPr/>
        </p:nvSpPr>
        <p:spPr>
          <a:xfrm>
            <a:off x="5715000" y="4910327"/>
            <a:ext cx="237744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806440" y="4983479"/>
            <a:ext cx="2240280" cy="457200"/>
          </a:xfrm>
          <a:prstGeom prst="rect">
            <a:avLst/>
          </a:prstGeom>
          <a:noFill/>
        </p:spPr>
        <p:txBody>
          <a:bodyPr wrap="square">
            <a:spAutoFit/>
          </a:bodyPr>
          <a:lstStyle/>
          <a:p>
            <a:pPr algn="l"/>
            <a:r>
              <a:rPr sz="1000" b="0" i="0">
                <a:solidFill>
                  <a:srgbClr val="0F172A"/>
                </a:solidFill>
                <a:latin typeface="Calibri"/>
              </a:rPr>
              <a:t>End-to-end; ingredient safety + chat</a:t>
            </a:r>
          </a:p>
        </p:txBody>
      </p:sp>
      <p:sp>
        <p:nvSpPr>
          <p:cNvPr id="64" name="Rectangle 63"/>
          <p:cNvSpPr/>
          <p:nvPr/>
        </p:nvSpPr>
        <p:spPr>
          <a:xfrm>
            <a:off x="8138160" y="4910327"/>
            <a:ext cx="2468880" cy="566928"/>
          </a:xfrm>
          <a:prstGeom prst="rect">
            <a:avLst/>
          </a:prstGeom>
          <a:solidFill>
            <a:srgbClr val="FFFFFF"/>
          </a:solidFill>
          <a:ln w="63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8229600" y="4983479"/>
            <a:ext cx="2331720" cy="457200"/>
          </a:xfrm>
          <a:prstGeom prst="rect">
            <a:avLst/>
          </a:prstGeom>
          <a:noFill/>
        </p:spPr>
        <p:txBody>
          <a:bodyPr wrap="square">
            <a:spAutoFit/>
          </a:bodyPr>
          <a:lstStyle/>
          <a:p>
            <a:pPr algn="l"/>
            <a:r>
              <a:rPr sz="1000" b="0" i="0">
                <a:solidFill>
                  <a:srgbClr val="0F172A"/>
                </a:solidFill>
                <a:latin typeface="Calibri"/>
              </a:rPr>
              <a:t>Currently prototype; no live ML backend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Problem Statement</a:t>
            </a:r>
          </a:p>
        </p:txBody>
      </p:sp>
      <p:sp>
        <p:nvSpPr>
          <p:cNvPr id="5" name="Rectangle 4"/>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7" name="TextBox 6"/>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5 / 20</a:t>
            </a:r>
          </a:p>
        </p:txBody>
      </p:sp>
      <p:sp>
        <p:nvSpPr>
          <p:cNvPr id="8" name="Rectangle 7"/>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11247120" cy="1417320"/>
          </a:xfrm>
          <a:prstGeom prst="rect">
            <a:avLst/>
          </a:prstGeom>
          <a:solidFill>
            <a:srgbClr val="DBEAFE"/>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508760"/>
            <a:ext cx="731520" cy="914400"/>
          </a:xfrm>
          <a:prstGeom prst="rect">
            <a:avLst/>
          </a:prstGeom>
          <a:noFill/>
        </p:spPr>
        <p:txBody>
          <a:bodyPr wrap="square">
            <a:spAutoFit/>
          </a:bodyPr>
          <a:lstStyle/>
          <a:p>
            <a:pPr algn="l"/>
            <a:r>
              <a:rPr sz="4000" b="0" i="0">
                <a:solidFill>
                  <a:srgbClr val="2563EB"/>
                </a:solidFill>
                <a:latin typeface="Calibri"/>
              </a:rPr>
              <a:t>❝</a:t>
            </a:r>
          </a:p>
        </p:txBody>
      </p:sp>
      <p:sp>
        <p:nvSpPr>
          <p:cNvPr id="11" name="TextBox 10"/>
          <p:cNvSpPr txBox="1"/>
          <p:nvPr/>
        </p:nvSpPr>
        <p:spPr>
          <a:xfrm>
            <a:off x="1188720" y="1627632"/>
            <a:ext cx="10241280" cy="1234440"/>
          </a:xfrm>
          <a:prstGeom prst="rect">
            <a:avLst/>
          </a:prstGeom>
          <a:noFill/>
        </p:spPr>
        <p:txBody>
          <a:bodyPr wrap="square">
            <a:spAutoFit/>
          </a:bodyPr>
          <a:lstStyle/>
          <a:p>
            <a:pPr algn="l"/>
            <a:r>
              <a:rPr sz="1600" b="0" i="1">
                <a:solidFill>
                  <a:srgbClr val="0F172A"/>
                </a:solidFill>
                <a:latin typeface="Calibri"/>
              </a:rPr>
              <a:t>Millions of people suffer from preventable or mismanaged skin conditions due to a lack of accessible, affordable, and accurate diagnostic tools. Simultaneously, consumers are routinely exposed to harmful cosmetic ingredients without their knowledge or consent.</a:t>
            </a:r>
          </a:p>
        </p:txBody>
      </p:sp>
      <p:sp>
        <p:nvSpPr>
          <p:cNvPr id="12" name="Rectangle 11"/>
          <p:cNvSpPr/>
          <p:nvPr/>
        </p:nvSpPr>
        <p:spPr>
          <a:xfrm>
            <a:off x="457200" y="3154680"/>
            <a:ext cx="5577840" cy="1600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264408"/>
            <a:ext cx="5303520" cy="384048"/>
          </a:xfrm>
          <a:prstGeom prst="rect">
            <a:avLst/>
          </a:prstGeom>
          <a:noFill/>
        </p:spPr>
        <p:txBody>
          <a:bodyPr wrap="square">
            <a:spAutoFit/>
          </a:bodyPr>
          <a:lstStyle/>
          <a:p>
            <a:pPr algn="l"/>
            <a:r>
              <a:rPr sz="1400" b="1" i="0">
                <a:solidFill>
                  <a:srgbClr val="2563EB"/>
                </a:solidFill>
                <a:latin typeface="Calibri"/>
              </a:rPr>
              <a:t>🏥 Healthcare Gap</a:t>
            </a:r>
          </a:p>
        </p:txBody>
      </p:sp>
      <p:sp>
        <p:nvSpPr>
          <p:cNvPr id="14" name="TextBox 13"/>
          <p:cNvSpPr txBox="1"/>
          <p:nvPr/>
        </p:nvSpPr>
        <p:spPr>
          <a:xfrm>
            <a:off x="594360" y="3657600"/>
            <a:ext cx="5303520" cy="1005840"/>
          </a:xfrm>
          <a:prstGeom prst="rect">
            <a:avLst/>
          </a:prstGeom>
          <a:noFill/>
        </p:spPr>
        <p:txBody>
          <a:bodyPr wrap="square">
            <a:spAutoFit/>
          </a:bodyPr>
          <a:lstStyle/>
          <a:p>
            <a:pPr algn="l"/>
            <a:r>
              <a:rPr sz="1200" b="0" i="0">
                <a:solidFill>
                  <a:srgbClr val="475569"/>
                </a:solidFill>
                <a:latin typeface="Calibri"/>
              </a:rPr>
              <a:t>A severe global shortage of dermatologists means that most patients rely on general practitioners who misdiagnose skin conditions in up to 40% of cases.</a:t>
            </a:r>
          </a:p>
        </p:txBody>
      </p:sp>
      <p:sp>
        <p:nvSpPr>
          <p:cNvPr id="15" name="Rectangle 14"/>
          <p:cNvSpPr/>
          <p:nvPr/>
        </p:nvSpPr>
        <p:spPr>
          <a:xfrm>
            <a:off x="6309360" y="3154680"/>
            <a:ext cx="5577840" cy="1600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46520" y="3264408"/>
            <a:ext cx="5303520" cy="384048"/>
          </a:xfrm>
          <a:prstGeom prst="rect">
            <a:avLst/>
          </a:prstGeom>
          <a:noFill/>
        </p:spPr>
        <p:txBody>
          <a:bodyPr wrap="square">
            <a:spAutoFit/>
          </a:bodyPr>
          <a:lstStyle/>
          <a:p>
            <a:pPr algn="l"/>
            <a:r>
              <a:rPr sz="1400" b="1" i="0">
                <a:solidFill>
                  <a:srgbClr val="2563EB"/>
                </a:solidFill>
                <a:latin typeface="Calibri"/>
              </a:rPr>
              <a:t>🔍 Ingredient Opacity</a:t>
            </a:r>
          </a:p>
        </p:txBody>
      </p:sp>
      <p:sp>
        <p:nvSpPr>
          <p:cNvPr id="17" name="TextBox 16"/>
          <p:cNvSpPr txBox="1"/>
          <p:nvPr/>
        </p:nvSpPr>
        <p:spPr>
          <a:xfrm>
            <a:off x="6446520" y="3657600"/>
            <a:ext cx="5303520" cy="1005840"/>
          </a:xfrm>
          <a:prstGeom prst="rect">
            <a:avLst/>
          </a:prstGeom>
          <a:noFill/>
        </p:spPr>
        <p:txBody>
          <a:bodyPr wrap="square">
            <a:spAutoFit/>
          </a:bodyPr>
          <a:lstStyle/>
          <a:p>
            <a:pPr algn="l"/>
            <a:r>
              <a:rPr sz="1200" b="0" i="0">
                <a:solidFill>
                  <a:srgbClr val="475569"/>
                </a:solidFill>
                <a:latin typeface="Calibri"/>
              </a:rPr>
              <a:t>Skincare product labels are complex and misleading. Harmful chemicals such as parabens, sulphates, and synthetic fragrances are not clearly flagged for consumers.</a:t>
            </a:r>
          </a:p>
        </p:txBody>
      </p:sp>
      <p:sp>
        <p:nvSpPr>
          <p:cNvPr id="18" name="Rectangle 17"/>
          <p:cNvSpPr/>
          <p:nvPr/>
        </p:nvSpPr>
        <p:spPr>
          <a:xfrm>
            <a:off x="457200" y="4846320"/>
            <a:ext cx="5577840" cy="1600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956048"/>
            <a:ext cx="5303520" cy="384048"/>
          </a:xfrm>
          <a:prstGeom prst="rect">
            <a:avLst/>
          </a:prstGeom>
          <a:noFill/>
        </p:spPr>
        <p:txBody>
          <a:bodyPr wrap="square">
            <a:spAutoFit/>
          </a:bodyPr>
          <a:lstStyle/>
          <a:p>
            <a:pPr algn="l"/>
            <a:r>
              <a:rPr sz="1400" b="1" i="0">
                <a:solidFill>
                  <a:srgbClr val="2563EB"/>
                </a:solidFill>
                <a:latin typeface="Calibri"/>
              </a:rPr>
              <a:t>📱 Fragmented Solutions</a:t>
            </a:r>
          </a:p>
        </p:txBody>
      </p:sp>
      <p:sp>
        <p:nvSpPr>
          <p:cNvPr id="20" name="TextBox 19"/>
          <p:cNvSpPr txBox="1"/>
          <p:nvPr/>
        </p:nvSpPr>
        <p:spPr>
          <a:xfrm>
            <a:off x="594360" y="5349240"/>
            <a:ext cx="5303520" cy="1005840"/>
          </a:xfrm>
          <a:prstGeom prst="rect">
            <a:avLst/>
          </a:prstGeom>
          <a:noFill/>
        </p:spPr>
        <p:txBody>
          <a:bodyPr wrap="square">
            <a:spAutoFit/>
          </a:bodyPr>
          <a:lstStyle/>
          <a:p>
            <a:pPr algn="l"/>
            <a:r>
              <a:rPr sz="1200" b="0" i="0">
                <a:solidFill>
                  <a:srgbClr val="475569"/>
                </a:solidFill>
                <a:latin typeface="Calibri"/>
              </a:rPr>
              <a:t>Existing tools address either image diagnosis OR ingredient safety – never both in a unified, user-friendly, and clinically-informed platform.</a:t>
            </a:r>
          </a:p>
        </p:txBody>
      </p:sp>
      <p:sp>
        <p:nvSpPr>
          <p:cNvPr id="21" name="Rectangle 20"/>
          <p:cNvSpPr/>
          <p:nvPr/>
        </p:nvSpPr>
        <p:spPr>
          <a:xfrm>
            <a:off x="6309360" y="4846320"/>
            <a:ext cx="5577840" cy="16002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46520" y="4956048"/>
            <a:ext cx="5303520" cy="384048"/>
          </a:xfrm>
          <a:prstGeom prst="rect">
            <a:avLst/>
          </a:prstGeom>
          <a:noFill/>
        </p:spPr>
        <p:txBody>
          <a:bodyPr wrap="square">
            <a:spAutoFit/>
          </a:bodyPr>
          <a:lstStyle/>
          <a:p>
            <a:pPr algn="l"/>
            <a:r>
              <a:rPr sz="1400" b="1" i="0">
                <a:solidFill>
                  <a:srgbClr val="2563EB"/>
                </a:solidFill>
                <a:latin typeface="Calibri"/>
              </a:rPr>
              <a:t>💰 Accessibility &amp; Cost</a:t>
            </a:r>
          </a:p>
        </p:txBody>
      </p:sp>
      <p:sp>
        <p:nvSpPr>
          <p:cNvPr id="23" name="TextBox 22"/>
          <p:cNvSpPr txBox="1"/>
          <p:nvPr/>
        </p:nvSpPr>
        <p:spPr>
          <a:xfrm>
            <a:off x="6446520" y="5349240"/>
            <a:ext cx="5303520" cy="1005840"/>
          </a:xfrm>
          <a:prstGeom prst="rect">
            <a:avLst/>
          </a:prstGeom>
          <a:noFill/>
        </p:spPr>
        <p:txBody>
          <a:bodyPr wrap="square">
            <a:spAutoFit/>
          </a:bodyPr>
          <a:lstStyle/>
          <a:p>
            <a:pPr algn="l"/>
            <a:r>
              <a:rPr sz="1200" b="0" i="0">
                <a:solidFill>
                  <a:srgbClr val="475569"/>
                </a:solidFill>
                <a:latin typeface="Calibri"/>
              </a:rPr>
              <a:t>Premium dermatology AI tools are enterprise-focused, expensive, and unavailable to general public users in emerging markets like Pakistan.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Objectives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What Skyntri aims to achieve</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6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54480"/>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 y="1554480"/>
            <a:ext cx="914400" cy="658368"/>
          </a:xfrm>
          <a:prstGeom prst="rect">
            <a:avLst/>
          </a:prstGeom>
          <a:noFill/>
        </p:spPr>
        <p:txBody>
          <a:bodyPr wrap="square">
            <a:spAutoFit/>
          </a:bodyPr>
          <a:lstStyle/>
          <a:p>
            <a:pPr algn="ctr"/>
            <a:r>
              <a:rPr sz="1400" b="1" i="0">
                <a:solidFill>
                  <a:srgbClr val="FFFFFF"/>
                </a:solidFill>
                <a:latin typeface="Calibri"/>
              </a:rPr>
              <a:t>O1</a:t>
            </a:r>
          </a:p>
        </p:txBody>
      </p:sp>
      <p:sp>
        <p:nvSpPr>
          <p:cNvPr id="12" name="Rectangle 11"/>
          <p:cNvSpPr/>
          <p:nvPr/>
        </p:nvSpPr>
        <p:spPr>
          <a:xfrm>
            <a:off x="1417320" y="1554480"/>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554480" y="1627632"/>
            <a:ext cx="10058400" cy="548640"/>
          </a:xfrm>
          <a:prstGeom prst="rect">
            <a:avLst/>
          </a:prstGeom>
          <a:noFill/>
        </p:spPr>
        <p:txBody>
          <a:bodyPr wrap="square">
            <a:spAutoFit/>
          </a:bodyPr>
          <a:lstStyle/>
          <a:p>
            <a:pPr algn="l"/>
            <a:r>
              <a:rPr sz="1300" b="0" i="0">
                <a:solidFill>
                  <a:srgbClr val="0F172A"/>
                </a:solidFill>
                <a:latin typeface="Calibri"/>
              </a:rPr>
              <a:t>Develop an AI-powered skin image analysis module using Convolutional Neural Networks (CNNs) to classify common dermatological conditions with clinically acceptable accuracy (≥ 85%).</a:t>
            </a:r>
          </a:p>
        </p:txBody>
      </p:sp>
      <p:sp>
        <p:nvSpPr>
          <p:cNvPr id="14" name="Rectangle 13"/>
          <p:cNvSpPr/>
          <p:nvPr/>
        </p:nvSpPr>
        <p:spPr>
          <a:xfrm>
            <a:off x="411480" y="2359152"/>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11480" y="2359152"/>
            <a:ext cx="914400" cy="658368"/>
          </a:xfrm>
          <a:prstGeom prst="rect">
            <a:avLst/>
          </a:prstGeom>
          <a:noFill/>
        </p:spPr>
        <p:txBody>
          <a:bodyPr wrap="square">
            <a:spAutoFit/>
          </a:bodyPr>
          <a:lstStyle/>
          <a:p>
            <a:pPr algn="ctr"/>
            <a:r>
              <a:rPr sz="1400" b="1" i="0">
                <a:solidFill>
                  <a:srgbClr val="FFFFFF"/>
                </a:solidFill>
                <a:latin typeface="Calibri"/>
              </a:rPr>
              <a:t>O2</a:t>
            </a:r>
          </a:p>
        </p:txBody>
      </p:sp>
      <p:sp>
        <p:nvSpPr>
          <p:cNvPr id="16" name="Rectangle 15"/>
          <p:cNvSpPr/>
          <p:nvPr/>
        </p:nvSpPr>
        <p:spPr>
          <a:xfrm>
            <a:off x="1417320" y="2359152"/>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554480" y="2432304"/>
            <a:ext cx="10058400" cy="548640"/>
          </a:xfrm>
          <a:prstGeom prst="rect">
            <a:avLst/>
          </a:prstGeom>
          <a:noFill/>
        </p:spPr>
        <p:txBody>
          <a:bodyPr wrap="square">
            <a:spAutoFit/>
          </a:bodyPr>
          <a:lstStyle/>
          <a:p>
            <a:pPr algn="l"/>
            <a:r>
              <a:rPr sz="1300" b="0" i="0">
                <a:solidFill>
                  <a:srgbClr val="0F172A"/>
                </a:solidFill>
                <a:latin typeface="Calibri"/>
              </a:rPr>
              <a:t>Build an OCR-driven ingredient safety scanner that identifies and flags harmful cosmetic chemicals, cross-referencing a curated clinical safety database.</a:t>
            </a:r>
          </a:p>
        </p:txBody>
      </p:sp>
      <p:sp>
        <p:nvSpPr>
          <p:cNvPr id="18" name="Rectangle 17"/>
          <p:cNvSpPr/>
          <p:nvPr/>
        </p:nvSpPr>
        <p:spPr>
          <a:xfrm>
            <a:off x="411480" y="3163824"/>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3163824"/>
            <a:ext cx="914400" cy="658368"/>
          </a:xfrm>
          <a:prstGeom prst="rect">
            <a:avLst/>
          </a:prstGeom>
          <a:noFill/>
        </p:spPr>
        <p:txBody>
          <a:bodyPr wrap="square">
            <a:spAutoFit/>
          </a:bodyPr>
          <a:lstStyle/>
          <a:p>
            <a:pPr algn="ctr"/>
            <a:r>
              <a:rPr sz="1400" b="1" i="0">
                <a:solidFill>
                  <a:srgbClr val="FFFFFF"/>
                </a:solidFill>
                <a:latin typeface="Calibri"/>
              </a:rPr>
              <a:t>O3</a:t>
            </a:r>
          </a:p>
        </p:txBody>
      </p:sp>
      <p:sp>
        <p:nvSpPr>
          <p:cNvPr id="20" name="Rectangle 19"/>
          <p:cNvSpPr/>
          <p:nvPr/>
        </p:nvSpPr>
        <p:spPr>
          <a:xfrm>
            <a:off x="1417320" y="3163824"/>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54480" y="3236976"/>
            <a:ext cx="10058400" cy="548640"/>
          </a:xfrm>
          <a:prstGeom prst="rect">
            <a:avLst/>
          </a:prstGeom>
          <a:noFill/>
        </p:spPr>
        <p:txBody>
          <a:bodyPr wrap="square">
            <a:spAutoFit/>
          </a:bodyPr>
          <a:lstStyle/>
          <a:p>
            <a:pPr algn="l"/>
            <a:r>
              <a:rPr sz="1300" b="0" i="0">
                <a:solidFill>
                  <a:srgbClr val="0F172A"/>
                </a:solidFill>
                <a:latin typeface="Calibri"/>
              </a:rPr>
              <a:t>Implement an NLP-powered conversational AI assistant to provide personalised skincare routine guidance and evidence-based next steps.</a:t>
            </a:r>
          </a:p>
        </p:txBody>
      </p:sp>
      <p:sp>
        <p:nvSpPr>
          <p:cNvPr id="22" name="Rectangle 21"/>
          <p:cNvSpPr/>
          <p:nvPr/>
        </p:nvSpPr>
        <p:spPr>
          <a:xfrm>
            <a:off x="411480" y="3968496"/>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11480" y="3968496"/>
            <a:ext cx="914400" cy="658368"/>
          </a:xfrm>
          <a:prstGeom prst="rect">
            <a:avLst/>
          </a:prstGeom>
          <a:noFill/>
        </p:spPr>
        <p:txBody>
          <a:bodyPr wrap="square">
            <a:spAutoFit/>
          </a:bodyPr>
          <a:lstStyle/>
          <a:p>
            <a:pPr algn="ctr"/>
            <a:r>
              <a:rPr sz="1400" b="1" i="0">
                <a:solidFill>
                  <a:srgbClr val="FFFFFF"/>
                </a:solidFill>
                <a:latin typeface="Calibri"/>
              </a:rPr>
              <a:t>O4</a:t>
            </a:r>
          </a:p>
        </p:txBody>
      </p:sp>
      <p:sp>
        <p:nvSpPr>
          <p:cNvPr id="24" name="Rectangle 23"/>
          <p:cNvSpPr/>
          <p:nvPr/>
        </p:nvSpPr>
        <p:spPr>
          <a:xfrm>
            <a:off x="1417320" y="3968496"/>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554480" y="4041648"/>
            <a:ext cx="10058400" cy="548640"/>
          </a:xfrm>
          <a:prstGeom prst="rect">
            <a:avLst/>
          </a:prstGeom>
          <a:noFill/>
        </p:spPr>
        <p:txBody>
          <a:bodyPr wrap="square">
            <a:spAutoFit/>
          </a:bodyPr>
          <a:lstStyle/>
          <a:p>
            <a:pPr algn="l"/>
            <a:r>
              <a:rPr sz="1300" b="0" i="0">
                <a:solidFill>
                  <a:srgbClr val="0F172A"/>
                </a:solidFill>
                <a:latin typeface="Calibri"/>
              </a:rPr>
              <a:t>Design and deliver a responsive, WCAG-compliant web portal (React 18 / Vite) that provides a seamless user experience across desktop and mobile devices.</a:t>
            </a:r>
          </a:p>
        </p:txBody>
      </p:sp>
      <p:sp>
        <p:nvSpPr>
          <p:cNvPr id="26" name="Rectangle 25"/>
          <p:cNvSpPr/>
          <p:nvPr/>
        </p:nvSpPr>
        <p:spPr>
          <a:xfrm>
            <a:off x="411480" y="4773168"/>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1480" y="4773168"/>
            <a:ext cx="914400" cy="658368"/>
          </a:xfrm>
          <a:prstGeom prst="rect">
            <a:avLst/>
          </a:prstGeom>
          <a:noFill/>
        </p:spPr>
        <p:txBody>
          <a:bodyPr wrap="square">
            <a:spAutoFit/>
          </a:bodyPr>
          <a:lstStyle/>
          <a:p>
            <a:pPr algn="ctr"/>
            <a:r>
              <a:rPr sz="1400" b="1" i="0">
                <a:solidFill>
                  <a:srgbClr val="FFFFFF"/>
                </a:solidFill>
                <a:latin typeface="Calibri"/>
              </a:rPr>
              <a:t>O5</a:t>
            </a:r>
          </a:p>
        </p:txBody>
      </p:sp>
      <p:sp>
        <p:nvSpPr>
          <p:cNvPr id="28" name="Rectangle 27"/>
          <p:cNvSpPr/>
          <p:nvPr/>
        </p:nvSpPr>
        <p:spPr>
          <a:xfrm>
            <a:off x="1417320" y="4773168"/>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554480" y="4846320"/>
            <a:ext cx="10058400" cy="548640"/>
          </a:xfrm>
          <a:prstGeom prst="rect">
            <a:avLst/>
          </a:prstGeom>
          <a:noFill/>
        </p:spPr>
        <p:txBody>
          <a:bodyPr wrap="square">
            <a:spAutoFit/>
          </a:bodyPr>
          <a:lstStyle/>
          <a:p>
            <a:pPr algn="l"/>
            <a:r>
              <a:rPr sz="1300" b="0" i="0">
                <a:solidFill>
                  <a:srgbClr val="0F172A"/>
                </a:solidFill>
                <a:latin typeface="Calibri"/>
              </a:rPr>
              <a:t>Integrate a smart skincare marketplace with skin-type-specific product filtering and a frictionless Easypaisa mobile payment flow.</a:t>
            </a:r>
          </a:p>
        </p:txBody>
      </p:sp>
      <p:sp>
        <p:nvSpPr>
          <p:cNvPr id="30" name="Rectangle 29"/>
          <p:cNvSpPr/>
          <p:nvPr/>
        </p:nvSpPr>
        <p:spPr>
          <a:xfrm>
            <a:off x="411480" y="5577840"/>
            <a:ext cx="9144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5577840"/>
            <a:ext cx="914400" cy="658368"/>
          </a:xfrm>
          <a:prstGeom prst="rect">
            <a:avLst/>
          </a:prstGeom>
          <a:noFill/>
        </p:spPr>
        <p:txBody>
          <a:bodyPr wrap="square">
            <a:spAutoFit/>
          </a:bodyPr>
          <a:lstStyle/>
          <a:p>
            <a:pPr algn="ctr"/>
            <a:r>
              <a:rPr sz="1400" b="1" i="0">
                <a:solidFill>
                  <a:srgbClr val="FFFFFF"/>
                </a:solidFill>
                <a:latin typeface="Calibri"/>
              </a:rPr>
              <a:t>O6</a:t>
            </a:r>
          </a:p>
        </p:txBody>
      </p:sp>
      <p:sp>
        <p:nvSpPr>
          <p:cNvPr id="32" name="Rectangle 31"/>
          <p:cNvSpPr/>
          <p:nvPr/>
        </p:nvSpPr>
        <p:spPr>
          <a:xfrm>
            <a:off x="1417320" y="5577840"/>
            <a:ext cx="10241280" cy="658368"/>
          </a:xfrm>
          <a:prstGeom prst="rect">
            <a:avLst/>
          </a:prstGeom>
          <a:solidFill>
            <a:srgbClr val="FFFFFF"/>
          </a:solidFill>
          <a:ln w="1270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554480" y="5650992"/>
            <a:ext cx="10058400" cy="548640"/>
          </a:xfrm>
          <a:prstGeom prst="rect">
            <a:avLst/>
          </a:prstGeom>
          <a:noFill/>
        </p:spPr>
        <p:txBody>
          <a:bodyPr wrap="square">
            <a:spAutoFit/>
          </a:bodyPr>
          <a:lstStyle/>
          <a:p>
            <a:pPr algn="l"/>
            <a:r>
              <a:rPr sz="1300" b="0" i="0">
                <a:solidFill>
                  <a:srgbClr val="0F172A"/>
                </a:solidFill>
                <a:latin typeface="Calibri"/>
              </a:rPr>
              <a:t>Ensure data privacy and security compliance by implementing JWT authentication, encrypted storage, and OWASP-aligned secure coding practices.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Methodology</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System Design &amp; Development Approach</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7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08760"/>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508760"/>
            <a:ext cx="1234440" cy="621792"/>
          </a:xfrm>
          <a:prstGeom prst="rect">
            <a:avLst/>
          </a:prstGeom>
          <a:noFill/>
        </p:spPr>
        <p:txBody>
          <a:bodyPr wrap="square">
            <a:spAutoFit/>
          </a:bodyPr>
          <a:lstStyle/>
          <a:p>
            <a:pPr algn="ctr"/>
            <a:r>
              <a:rPr sz="1000" b="1" i="0">
                <a:solidFill>
                  <a:srgbClr val="FFFFFF"/>
                </a:solidFill>
                <a:latin typeface="Calibri"/>
              </a:rPr>
              <a:t>Phase 1</a:t>
            </a:r>
          </a:p>
        </p:txBody>
      </p:sp>
      <p:sp>
        <p:nvSpPr>
          <p:cNvPr id="12" name="Rectangle 11"/>
          <p:cNvSpPr/>
          <p:nvPr/>
        </p:nvSpPr>
        <p:spPr>
          <a:xfrm>
            <a:off x="1691640" y="1508760"/>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719072" y="1581912"/>
            <a:ext cx="2194560" cy="502920"/>
          </a:xfrm>
          <a:prstGeom prst="rect">
            <a:avLst/>
          </a:prstGeom>
          <a:noFill/>
        </p:spPr>
        <p:txBody>
          <a:bodyPr wrap="square">
            <a:spAutoFit/>
          </a:bodyPr>
          <a:lstStyle/>
          <a:p>
            <a:pPr algn="l"/>
            <a:r>
              <a:rPr sz="1200" b="1" i="0">
                <a:solidFill>
                  <a:srgbClr val="FFFFFF"/>
                </a:solidFill>
                <a:latin typeface="Calibri"/>
              </a:rPr>
              <a:t>Requirements
Engineering</a:t>
            </a:r>
          </a:p>
        </p:txBody>
      </p:sp>
      <p:sp>
        <p:nvSpPr>
          <p:cNvPr id="14" name="Rectangle 13"/>
          <p:cNvSpPr/>
          <p:nvPr/>
        </p:nvSpPr>
        <p:spPr>
          <a:xfrm>
            <a:off x="4069080" y="1508760"/>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206240" y="1600200"/>
            <a:ext cx="7498079" cy="502920"/>
          </a:xfrm>
          <a:prstGeom prst="rect">
            <a:avLst/>
          </a:prstGeom>
          <a:noFill/>
        </p:spPr>
        <p:txBody>
          <a:bodyPr wrap="square">
            <a:spAutoFit/>
          </a:bodyPr>
          <a:lstStyle/>
          <a:p>
            <a:pPr algn="l"/>
            <a:r>
              <a:rPr sz="1200" b="0" i="0">
                <a:solidFill>
                  <a:srgbClr val="475569"/>
                </a:solidFill>
                <a:latin typeface="Calibri"/>
              </a:rPr>
              <a:t>Stakeholder interviews, user stories, SRS documentation</a:t>
            </a:r>
          </a:p>
        </p:txBody>
      </p:sp>
      <p:sp>
        <p:nvSpPr>
          <p:cNvPr id="16" name="Rectangle 15"/>
          <p:cNvSpPr/>
          <p:nvPr/>
        </p:nvSpPr>
        <p:spPr>
          <a:xfrm>
            <a:off x="365760" y="2231136"/>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2231136"/>
            <a:ext cx="1234440" cy="621792"/>
          </a:xfrm>
          <a:prstGeom prst="rect">
            <a:avLst/>
          </a:prstGeom>
          <a:noFill/>
        </p:spPr>
        <p:txBody>
          <a:bodyPr wrap="square">
            <a:spAutoFit/>
          </a:bodyPr>
          <a:lstStyle/>
          <a:p>
            <a:pPr algn="ctr"/>
            <a:r>
              <a:rPr sz="1000" b="1" i="0">
                <a:solidFill>
                  <a:srgbClr val="FFFFFF"/>
                </a:solidFill>
                <a:latin typeface="Calibri"/>
              </a:rPr>
              <a:t>Phase 2</a:t>
            </a:r>
          </a:p>
        </p:txBody>
      </p:sp>
      <p:sp>
        <p:nvSpPr>
          <p:cNvPr id="18" name="Rectangle 17"/>
          <p:cNvSpPr/>
          <p:nvPr/>
        </p:nvSpPr>
        <p:spPr>
          <a:xfrm>
            <a:off x="1691640" y="2231136"/>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719072" y="2304288"/>
            <a:ext cx="2194560" cy="502920"/>
          </a:xfrm>
          <a:prstGeom prst="rect">
            <a:avLst/>
          </a:prstGeom>
          <a:noFill/>
        </p:spPr>
        <p:txBody>
          <a:bodyPr wrap="square">
            <a:spAutoFit/>
          </a:bodyPr>
          <a:lstStyle/>
          <a:p>
            <a:pPr algn="l"/>
            <a:r>
              <a:rPr sz="1200" b="1" i="0">
                <a:solidFill>
                  <a:srgbClr val="FFFFFF"/>
                </a:solidFill>
                <a:latin typeface="Calibri"/>
              </a:rPr>
              <a:t>UI/UX Design</a:t>
            </a:r>
          </a:p>
        </p:txBody>
      </p:sp>
      <p:sp>
        <p:nvSpPr>
          <p:cNvPr id="20" name="Rectangle 19"/>
          <p:cNvSpPr/>
          <p:nvPr/>
        </p:nvSpPr>
        <p:spPr>
          <a:xfrm>
            <a:off x="4069080" y="2231136"/>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06240" y="2322576"/>
            <a:ext cx="7498079" cy="502920"/>
          </a:xfrm>
          <a:prstGeom prst="rect">
            <a:avLst/>
          </a:prstGeom>
          <a:noFill/>
        </p:spPr>
        <p:txBody>
          <a:bodyPr wrap="square">
            <a:spAutoFit/>
          </a:bodyPr>
          <a:lstStyle/>
          <a:p>
            <a:pPr algn="l"/>
            <a:r>
              <a:rPr sz="1200" b="0" i="0">
                <a:solidFill>
                  <a:srgbClr val="475569"/>
                </a:solidFill>
                <a:latin typeface="Calibri"/>
              </a:rPr>
              <a:t>Figma wireframes, clinical-tech design system, component library</a:t>
            </a:r>
          </a:p>
        </p:txBody>
      </p:sp>
      <p:sp>
        <p:nvSpPr>
          <p:cNvPr id="22" name="Rectangle 21"/>
          <p:cNvSpPr/>
          <p:nvPr/>
        </p:nvSpPr>
        <p:spPr>
          <a:xfrm>
            <a:off x="365760" y="2953512"/>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65760" y="2953512"/>
            <a:ext cx="1234440" cy="621792"/>
          </a:xfrm>
          <a:prstGeom prst="rect">
            <a:avLst/>
          </a:prstGeom>
          <a:noFill/>
        </p:spPr>
        <p:txBody>
          <a:bodyPr wrap="square">
            <a:spAutoFit/>
          </a:bodyPr>
          <a:lstStyle/>
          <a:p>
            <a:pPr algn="ctr"/>
            <a:r>
              <a:rPr sz="1000" b="1" i="0">
                <a:solidFill>
                  <a:srgbClr val="FFFFFF"/>
                </a:solidFill>
                <a:latin typeface="Calibri"/>
              </a:rPr>
              <a:t>Phase 3</a:t>
            </a:r>
          </a:p>
        </p:txBody>
      </p:sp>
      <p:sp>
        <p:nvSpPr>
          <p:cNvPr id="24" name="Rectangle 23"/>
          <p:cNvSpPr/>
          <p:nvPr/>
        </p:nvSpPr>
        <p:spPr>
          <a:xfrm>
            <a:off x="1691640" y="2953512"/>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719072" y="3026664"/>
            <a:ext cx="2194560" cy="502920"/>
          </a:xfrm>
          <a:prstGeom prst="rect">
            <a:avLst/>
          </a:prstGeom>
          <a:noFill/>
        </p:spPr>
        <p:txBody>
          <a:bodyPr wrap="square">
            <a:spAutoFit/>
          </a:bodyPr>
          <a:lstStyle/>
          <a:p>
            <a:pPr algn="l"/>
            <a:r>
              <a:rPr sz="1200" b="1" i="0">
                <a:solidFill>
                  <a:srgbClr val="FFFFFF"/>
                </a:solidFill>
                <a:latin typeface="Calibri"/>
              </a:rPr>
              <a:t>Frontend Dev</a:t>
            </a:r>
          </a:p>
        </p:txBody>
      </p:sp>
      <p:sp>
        <p:nvSpPr>
          <p:cNvPr id="26" name="Rectangle 25"/>
          <p:cNvSpPr/>
          <p:nvPr/>
        </p:nvSpPr>
        <p:spPr>
          <a:xfrm>
            <a:off x="4069080" y="2953512"/>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06240" y="3044952"/>
            <a:ext cx="7498079" cy="502920"/>
          </a:xfrm>
          <a:prstGeom prst="rect">
            <a:avLst/>
          </a:prstGeom>
          <a:noFill/>
        </p:spPr>
        <p:txBody>
          <a:bodyPr wrap="square">
            <a:spAutoFit/>
          </a:bodyPr>
          <a:lstStyle/>
          <a:p>
            <a:pPr algn="l"/>
            <a:r>
              <a:rPr sz="1200" b="0" i="0">
                <a:solidFill>
                  <a:srgbClr val="475569"/>
                </a:solidFill>
                <a:latin typeface="Calibri"/>
              </a:rPr>
              <a:t>React 18 + Vite, Tailwind CSS, React Router, Recharts, jsPDF</a:t>
            </a:r>
          </a:p>
        </p:txBody>
      </p:sp>
      <p:sp>
        <p:nvSpPr>
          <p:cNvPr id="28" name="Rectangle 27"/>
          <p:cNvSpPr/>
          <p:nvPr/>
        </p:nvSpPr>
        <p:spPr>
          <a:xfrm>
            <a:off x="365760" y="3675887"/>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65760" y="3675887"/>
            <a:ext cx="1234440" cy="621792"/>
          </a:xfrm>
          <a:prstGeom prst="rect">
            <a:avLst/>
          </a:prstGeom>
          <a:noFill/>
        </p:spPr>
        <p:txBody>
          <a:bodyPr wrap="square">
            <a:spAutoFit/>
          </a:bodyPr>
          <a:lstStyle/>
          <a:p>
            <a:pPr algn="ctr"/>
            <a:r>
              <a:rPr sz="1000" b="1" i="0">
                <a:solidFill>
                  <a:srgbClr val="FFFFFF"/>
                </a:solidFill>
                <a:latin typeface="Calibri"/>
              </a:rPr>
              <a:t>Phase 4</a:t>
            </a:r>
          </a:p>
        </p:txBody>
      </p:sp>
      <p:sp>
        <p:nvSpPr>
          <p:cNvPr id="30" name="Rectangle 29"/>
          <p:cNvSpPr/>
          <p:nvPr/>
        </p:nvSpPr>
        <p:spPr>
          <a:xfrm>
            <a:off x="1691640" y="3675887"/>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719072" y="3749039"/>
            <a:ext cx="2194560" cy="502920"/>
          </a:xfrm>
          <a:prstGeom prst="rect">
            <a:avLst/>
          </a:prstGeom>
          <a:noFill/>
        </p:spPr>
        <p:txBody>
          <a:bodyPr wrap="square">
            <a:spAutoFit/>
          </a:bodyPr>
          <a:lstStyle/>
          <a:p>
            <a:pPr algn="l"/>
            <a:r>
              <a:rPr sz="1200" b="1" i="0">
                <a:solidFill>
                  <a:srgbClr val="FFFFFF"/>
                </a:solidFill>
                <a:latin typeface="Calibri"/>
              </a:rPr>
              <a:t>AI / ML Integration</a:t>
            </a:r>
          </a:p>
        </p:txBody>
      </p:sp>
      <p:sp>
        <p:nvSpPr>
          <p:cNvPr id="32" name="Rectangle 31"/>
          <p:cNvSpPr/>
          <p:nvPr/>
        </p:nvSpPr>
        <p:spPr>
          <a:xfrm>
            <a:off x="4069080" y="3675887"/>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06240" y="3767327"/>
            <a:ext cx="7498079" cy="502920"/>
          </a:xfrm>
          <a:prstGeom prst="rect">
            <a:avLst/>
          </a:prstGeom>
          <a:noFill/>
        </p:spPr>
        <p:txBody>
          <a:bodyPr wrap="square">
            <a:spAutoFit/>
          </a:bodyPr>
          <a:lstStyle/>
          <a:p>
            <a:pPr algn="l"/>
            <a:r>
              <a:rPr sz="1200" b="0" i="0">
                <a:solidFill>
                  <a:srgbClr val="475569"/>
                </a:solidFill>
                <a:latin typeface="Calibri"/>
              </a:rPr>
              <a:t>CNN model training (EfficientNet-B3), OCR (Tesseract), NLP (BERT)</a:t>
            </a:r>
          </a:p>
        </p:txBody>
      </p:sp>
      <p:sp>
        <p:nvSpPr>
          <p:cNvPr id="34" name="Rectangle 33"/>
          <p:cNvSpPr/>
          <p:nvPr/>
        </p:nvSpPr>
        <p:spPr>
          <a:xfrm>
            <a:off x="365760" y="4398264"/>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4398264"/>
            <a:ext cx="1234440" cy="621792"/>
          </a:xfrm>
          <a:prstGeom prst="rect">
            <a:avLst/>
          </a:prstGeom>
          <a:noFill/>
        </p:spPr>
        <p:txBody>
          <a:bodyPr wrap="square">
            <a:spAutoFit/>
          </a:bodyPr>
          <a:lstStyle/>
          <a:p>
            <a:pPr algn="ctr"/>
            <a:r>
              <a:rPr sz="1000" b="1" i="0">
                <a:solidFill>
                  <a:srgbClr val="FFFFFF"/>
                </a:solidFill>
                <a:latin typeface="Calibri"/>
              </a:rPr>
              <a:t>Phase 5</a:t>
            </a:r>
          </a:p>
        </p:txBody>
      </p:sp>
      <p:sp>
        <p:nvSpPr>
          <p:cNvPr id="36" name="Rectangle 35"/>
          <p:cNvSpPr/>
          <p:nvPr/>
        </p:nvSpPr>
        <p:spPr>
          <a:xfrm>
            <a:off x="1691640" y="4398264"/>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719072" y="4471416"/>
            <a:ext cx="2194560" cy="502920"/>
          </a:xfrm>
          <a:prstGeom prst="rect">
            <a:avLst/>
          </a:prstGeom>
          <a:noFill/>
        </p:spPr>
        <p:txBody>
          <a:bodyPr wrap="square">
            <a:spAutoFit/>
          </a:bodyPr>
          <a:lstStyle/>
          <a:p>
            <a:pPr algn="l"/>
            <a:r>
              <a:rPr sz="1200" b="1" i="0">
                <a:solidFill>
                  <a:srgbClr val="FFFFFF"/>
                </a:solidFill>
                <a:latin typeface="Calibri"/>
              </a:rPr>
              <a:t>Backend &amp; API</a:t>
            </a:r>
          </a:p>
        </p:txBody>
      </p:sp>
      <p:sp>
        <p:nvSpPr>
          <p:cNvPr id="38" name="Rectangle 37"/>
          <p:cNvSpPr/>
          <p:nvPr/>
        </p:nvSpPr>
        <p:spPr>
          <a:xfrm>
            <a:off x="4069080" y="4398264"/>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06240" y="4489704"/>
            <a:ext cx="7498079" cy="502920"/>
          </a:xfrm>
          <a:prstGeom prst="rect">
            <a:avLst/>
          </a:prstGeom>
          <a:noFill/>
        </p:spPr>
        <p:txBody>
          <a:bodyPr wrap="square">
            <a:spAutoFit/>
          </a:bodyPr>
          <a:lstStyle/>
          <a:p>
            <a:pPr algn="l"/>
            <a:r>
              <a:rPr sz="1200" b="0" i="0">
                <a:solidFill>
                  <a:srgbClr val="475569"/>
                </a:solidFill>
                <a:latin typeface="Calibri"/>
              </a:rPr>
              <a:t>REST API design (planned: FastAPI/Node), JWT auth, PostgreSQL</a:t>
            </a:r>
          </a:p>
        </p:txBody>
      </p:sp>
      <p:sp>
        <p:nvSpPr>
          <p:cNvPr id="40" name="Rectangle 39"/>
          <p:cNvSpPr/>
          <p:nvPr/>
        </p:nvSpPr>
        <p:spPr>
          <a:xfrm>
            <a:off x="365760" y="5120640"/>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5120640"/>
            <a:ext cx="1234440" cy="621792"/>
          </a:xfrm>
          <a:prstGeom prst="rect">
            <a:avLst/>
          </a:prstGeom>
          <a:noFill/>
        </p:spPr>
        <p:txBody>
          <a:bodyPr wrap="square">
            <a:spAutoFit/>
          </a:bodyPr>
          <a:lstStyle/>
          <a:p>
            <a:pPr algn="ctr"/>
            <a:r>
              <a:rPr sz="1000" b="1" i="0">
                <a:solidFill>
                  <a:srgbClr val="FFFFFF"/>
                </a:solidFill>
                <a:latin typeface="Calibri"/>
              </a:rPr>
              <a:t>Phase 6</a:t>
            </a:r>
          </a:p>
        </p:txBody>
      </p:sp>
      <p:sp>
        <p:nvSpPr>
          <p:cNvPr id="42" name="Rectangle 41"/>
          <p:cNvSpPr/>
          <p:nvPr/>
        </p:nvSpPr>
        <p:spPr>
          <a:xfrm>
            <a:off x="1691640" y="5120640"/>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719072" y="5193792"/>
            <a:ext cx="2194560" cy="502920"/>
          </a:xfrm>
          <a:prstGeom prst="rect">
            <a:avLst/>
          </a:prstGeom>
          <a:noFill/>
        </p:spPr>
        <p:txBody>
          <a:bodyPr wrap="square">
            <a:spAutoFit/>
          </a:bodyPr>
          <a:lstStyle/>
          <a:p>
            <a:pPr algn="l"/>
            <a:r>
              <a:rPr sz="1200" b="1" i="0">
                <a:solidFill>
                  <a:srgbClr val="FFFFFF"/>
                </a:solidFill>
                <a:latin typeface="Calibri"/>
              </a:rPr>
              <a:t>Testing &amp; QA</a:t>
            </a:r>
          </a:p>
        </p:txBody>
      </p:sp>
      <p:sp>
        <p:nvSpPr>
          <p:cNvPr id="44" name="Rectangle 43"/>
          <p:cNvSpPr/>
          <p:nvPr/>
        </p:nvSpPr>
        <p:spPr>
          <a:xfrm>
            <a:off x="4069080" y="5120640"/>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06240" y="5212079"/>
            <a:ext cx="7498079" cy="502920"/>
          </a:xfrm>
          <a:prstGeom prst="rect">
            <a:avLst/>
          </a:prstGeom>
          <a:noFill/>
        </p:spPr>
        <p:txBody>
          <a:bodyPr wrap="square">
            <a:spAutoFit/>
          </a:bodyPr>
          <a:lstStyle/>
          <a:p>
            <a:pPr algn="l"/>
            <a:r>
              <a:rPr sz="1200" b="0" i="0">
                <a:solidFill>
                  <a:srgbClr val="475569"/>
                </a:solidFill>
                <a:latin typeface="Calibri"/>
              </a:rPr>
              <a:t>Unit, integration, UAT; Lighthouse performance audit; OWASP scan</a:t>
            </a:r>
          </a:p>
        </p:txBody>
      </p:sp>
      <p:sp>
        <p:nvSpPr>
          <p:cNvPr id="46" name="Rectangle 45"/>
          <p:cNvSpPr/>
          <p:nvPr/>
        </p:nvSpPr>
        <p:spPr>
          <a:xfrm>
            <a:off x="365760" y="5843016"/>
            <a:ext cx="1234440" cy="62179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5843016"/>
            <a:ext cx="1234440" cy="621792"/>
          </a:xfrm>
          <a:prstGeom prst="rect">
            <a:avLst/>
          </a:prstGeom>
          <a:noFill/>
        </p:spPr>
        <p:txBody>
          <a:bodyPr wrap="square">
            <a:spAutoFit/>
          </a:bodyPr>
          <a:lstStyle/>
          <a:p>
            <a:pPr algn="ctr"/>
            <a:r>
              <a:rPr sz="1000" b="1" i="0">
                <a:solidFill>
                  <a:srgbClr val="FFFFFF"/>
                </a:solidFill>
                <a:latin typeface="Calibri"/>
              </a:rPr>
              <a:t>Phase 7</a:t>
            </a:r>
          </a:p>
        </p:txBody>
      </p:sp>
      <p:sp>
        <p:nvSpPr>
          <p:cNvPr id="48" name="Rectangle 47"/>
          <p:cNvSpPr/>
          <p:nvPr/>
        </p:nvSpPr>
        <p:spPr>
          <a:xfrm>
            <a:off x="1691640" y="5843016"/>
            <a:ext cx="2286000" cy="62179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719072" y="5916168"/>
            <a:ext cx="2194560" cy="502920"/>
          </a:xfrm>
          <a:prstGeom prst="rect">
            <a:avLst/>
          </a:prstGeom>
          <a:noFill/>
        </p:spPr>
        <p:txBody>
          <a:bodyPr wrap="square">
            <a:spAutoFit/>
          </a:bodyPr>
          <a:lstStyle/>
          <a:p>
            <a:pPr algn="l"/>
            <a:r>
              <a:rPr sz="1200" b="1" i="0">
                <a:solidFill>
                  <a:srgbClr val="FFFFFF"/>
                </a:solidFill>
                <a:latin typeface="Calibri"/>
              </a:rPr>
              <a:t>Deployment</a:t>
            </a:r>
          </a:p>
        </p:txBody>
      </p:sp>
      <p:sp>
        <p:nvSpPr>
          <p:cNvPr id="50" name="Rectangle 49"/>
          <p:cNvSpPr/>
          <p:nvPr/>
        </p:nvSpPr>
        <p:spPr>
          <a:xfrm>
            <a:off x="4069080" y="5843016"/>
            <a:ext cx="7726679" cy="621792"/>
          </a:xfrm>
          <a:prstGeom prst="rect">
            <a:avLst/>
          </a:prstGeom>
          <a:solidFill>
            <a:srgbClr val="FFFFFF"/>
          </a:solidFill>
          <a:ln w="1016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06240" y="5934456"/>
            <a:ext cx="7498079" cy="502920"/>
          </a:xfrm>
          <a:prstGeom prst="rect">
            <a:avLst/>
          </a:prstGeom>
          <a:noFill/>
        </p:spPr>
        <p:txBody>
          <a:bodyPr wrap="square">
            <a:spAutoFit/>
          </a:bodyPr>
          <a:lstStyle/>
          <a:p>
            <a:pPr algn="l"/>
            <a:r>
              <a:rPr sz="1200" b="0" i="0">
                <a:solidFill>
                  <a:srgbClr val="475569"/>
                </a:solidFill>
                <a:latin typeface="Calibri"/>
              </a:rPr>
              <a:t>Vercel (frontend), AWS EC2 + RDS (backend), CI/CD via GitHub Actions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Sustainable Development Goals (SDGs)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Skyntri's contribution to the United Nations 2030 Agenda</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8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554480"/>
            <a:ext cx="5577840" cy="2240280"/>
          </a:xfrm>
          <a:prstGeom prst="rect">
            <a:avLst/>
          </a:prstGeom>
          <a:solidFill>
            <a:srgbClr val="FFFFFF"/>
          </a:solidFill>
          <a:ln w="25400">
            <a:solidFill>
              <a:srgbClr val="4CAF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11480" y="1554480"/>
            <a:ext cx="5577840" cy="71323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1600200"/>
            <a:ext cx="1371600" cy="621792"/>
          </a:xfrm>
          <a:prstGeom prst="rect">
            <a:avLst/>
          </a:prstGeom>
          <a:noFill/>
        </p:spPr>
        <p:txBody>
          <a:bodyPr wrap="square">
            <a:spAutoFit/>
          </a:bodyPr>
          <a:lstStyle/>
          <a:p>
            <a:pPr algn="l"/>
            <a:r>
              <a:rPr sz="2200" b="1" i="0">
                <a:solidFill>
                  <a:srgbClr val="FFFFFF"/>
                </a:solidFill>
                <a:latin typeface="Calibri"/>
              </a:rPr>
              <a:t>SDG 3</a:t>
            </a:r>
          </a:p>
        </p:txBody>
      </p:sp>
      <p:sp>
        <p:nvSpPr>
          <p:cNvPr id="13" name="TextBox 12"/>
          <p:cNvSpPr txBox="1"/>
          <p:nvPr/>
        </p:nvSpPr>
        <p:spPr>
          <a:xfrm>
            <a:off x="1874520" y="1627632"/>
            <a:ext cx="3977639" cy="594360"/>
          </a:xfrm>
          <a:prstGeom prst="rect">
            <a:avLst/>
          </a:prstGeom>
          <a:noFill/>
        </p:spPr>
        <p:txBody>
          <a:bodyPr wrap="square">
            <a:spAutoFit/>
          </a:bodyPr>
          <a:lstStyle/>
          <a:p>
            <a:pPr algn="l"/>
            <a:r>
              <a:rPr sz="1300" b="1" i="0">
                <a:solidFill>
                  <a:srgbClr val="FFFFFF"/>
                </a:solidFill>
                <a:latin typeface="Calibri"/>
              </a:rPr>
              <a:t>Good Health
&amp; Well-being</a:t>
            </a:r>
          </a:p>
        </p:txBody>
      </p:sp>
      <p:sp>
        <p:nvSpPr>
          <p:cNvPr id="14" name="TextBox 13"/>
          <p:cNvSpPr txBox="1"/>
          <p:nvPr/>
        </p:nvSpPr>
        <p:spPr>
          <a:xfrm>
            <a:off x="594360" y="2359152"/>
            <a:ext cx="5212080" cy="1371600"/>
          </a:xfrm>
          <a:prstGeom prst="rect">
            <a:avLst/>
          </a:prstGeom>
          <a:noFill/>
        </p:spPr>
        <p:txBody>
          <a:bodyPr wrap="square">
            <a:spAutoFit/>
          </a:bodyPr>
          <a:lstStyle/>
          <a:p>
            <a:pPr algn="l"/>
            <a:r>
              <a:rPr sz="1100" b="0" i="0">
                <a:solidFill>
                  <a:srgbClr val="475569"/>
                </a:solidFill>
                <a:latin typeface="Calibri"/>
              </a:rPr>
              <a:t>• AI-powered early detection reduces misdiagnosis
• Improves access to dermatological guidance for underserved populations
• Empowers users to proactively monitor skin health</a:t>
            </a:r>
          </a:p>
        </p:txBody>
      </p:sp>
      <p:sp>
        <p:nvSpPr>
          <p:cNvPr id="15" name="Rectangle 14"/>
          <p:cNvSpPr/>
          <p:nvPr/>
        </p:nvSpPr>
        <p:spPr>
          <a:xfrm>
            <a:off x="6263640" y="1554480"/>
            <a:ext cx="5577840" cy="2240280"/>
          </a:xfrm>
          <a:prstGeom prst="rect">
            <a:avLst/>
          </a:prstGeom>
          <a:solidFill>
            <a:srgbClr val="FFFFFF"/>
          </a:solidFill>
          <a:ln w="25400">
            <a:solidFill>
              <a:srgbClr val="FF98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554480"/>
            <a:ext cx="5577840" cy="71323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0" y="1600200"/>
            <a:ext cx="1371600" cy="621792"/>
          </a:xfrm>
          <a:prstGeom prst="rect">
            <a:avLst/>
          </a:prstGeom>
          <a:noFill/>
        </p:spPr>
        <p:txBody>
          <a:bodyPr wrap="square">
            <a:spAutoFit/>
          </a:bodyPr>
          <a:lstStyle/>
          <a:p>
            <a:pPr algn="l"/>
            <a:r>
              <a:rPr sz="2200" b="1" i="0">
                <a:solidFill>
                  <a:srgbClr val="FFFFFF"/>
                </a:solidFill>
                <a:latin typeface="Calibri"/>
              </a:rPr>
              <a:t>SDG 9</a:t>
            </a:r>
          </a:p>
        </p:txBody>
      </p:sp>
      <p:sp>
        <p:nvSpPr>
          <p:cNvPr id="18" name="TextBox 17"/>
          <p:cNvSpPr txBox="1"/>
          <p:nvPr/>
        </p:nvSpPr>
        <p:spPr>
          <a:xfrm>
            <a:off x="7726680" y="1627632"/>
            <a:ext cx="3977639" cy="594360"/>
          </a:xfrm>
          <a:prstGeom prst="rect">
            <a:avLst/>
          </a:prstGeom>
          <a:noFill/>
        </p:spPr>
        <p:txBody>
          <a:bodyPr wrap="square">
            <a:spAutoFit/>
          </a:bodyPr>
          <a:lstStyle/>
          <a:p>
            <a:pPr algn="l"/>
            <a:r>
              <a:rPr sz="1300" b="1" i="0">
                <a:solidFill>
                  <a:srgbClr val="FFFFFF"/>
                </a:solidFill>
                <a:latin typeface="Calibri"/>
              </a:rPr>
              <a:t>Industry, Innovation
&amp; Infrastructure</a:t>
            </a:r>
          </a:p>
        </p:txBody>
      </p:sp>
      <p:sp>
        <p:nvSpPr>
          <p:cNvPr id="19" name="TextBox 18"/>
          <p:cNvSpPr txBox="1"/>
          <p:nvPr/>
        </p:nvSpPr>
        <p:spPr>
          <a:xfrm>
            <a:off x="6446520" y="2359152"/>
            <a:ext cx="5212080" cy="1371600"/>
          </a:xfrm>
          <a:prstGeom prst="rect">
            <a:avLst/>
          </a:prstGeom>
          <a:noFill/>
        </p:spPr>
        <p:txBody>
          <a:bodyPr wrap="square">
            <a:spAutoFit/>
          </a:bodyPr>
          <a:lstStyle/>
          <a:p>
            <a:pPr algn="l"/>
            <a:r>
              <a:rPr sz="1100" b="0" i="0">
                <a:solidFill>
                  <a:srgbClr val="475569"/>
                </a:solidFill>
                <a:latin typeface="Calibri"/>
              </a:rPr>
              <a:t>• Applies state-of-the-art deep learning in a real-world healthcare context
• Promotes technology-driven innovation in Pakistan's health-tech sector
• Open architecture supports future research integration</a:t>
            </a:r>
          </a:p>
        </p:txBody>
      </p:sp>
      <p:sp>
        <p:nvSpPr>
          <p:cNvPr id="20" name="Rectangle 19"/>
          <p:cNvSpPr/>
          <p:nvPr/>
        </p:nvSpPr>
        <p:spPr>
          <a:xfrm>
            <a:off x="411480" y="3931920"/>
            <a:ext cx="5577840" cy="2240280"/>
          </a:xfrm>
          <a:prstGeom prst="rect">
            <a:avLst/>
          </a:prstGeom>
          <a:solidFill>
            <a:srgbClr val="FFFFFF"/>
          </a:solidFill>
          <a:ln w="25400">
            <a:solidFill>
              <a:srgbClr val="E91E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11480" y="3931920"/>
            <a:ext cx="5577840" cy="713232"/>
          </a:xfrm>
          <a:prstGeom prst="rect">
            <a:avLst/>
          </a:prstGeom>
          <a:solidFill>
            <a:srgbClr val="E91E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48640" y="3977639"/>
            <a:ext cx="1371600" cy="621792"/>
          </a:xfrm>
          <a:prstGeom prst="rect">
            <a:avLst/>
          </a:prstGeom>
          <a:noFill/>
        </p:spPr>
        <p:txBody>
          <a:bodyPr wrap="square">
            <a:spAutoFit/>
          </a:bodyPr>
          <a:lstStyle/>
          <a:p>
            <a:pPr algn="l"/>
            <a:r>
              <a:rPr sz="2200" b="1" i="0">
                <a:solidFill>
                  <a:srgbClr val="FFFFFF"/>
                </a:solidFill>
                <a:latin typeface="Calibri"/>
              </a:rPr>
              <a:t>SDG 10</a:t>
            </a:r>
          </a:p>
        </p:txBody>
      </p:sp>
      <p:sp>
        <p:nvSpPr>
          <p:cNvPr id="23" name="TextBox 22"/>
          <p:cNvSpPr txBox="1"/>
          <p:nvPr/>
        </p:nvSpPr>
        <p:spPr>
          <a:xfrm>
            <a:off x="1874520" y="4005072"/>
            <a:ext cx="3977639" cy="594360"/>
          </a:xfrm>
          <a:prstGeom prst="rect">
            <a:avLst/>
          </a:prstGeom>
          <a:noFill/>
        </p:spPr>
        <p:txBody>
          <a:bodyPr wrap="square">
            <a:spAutoFit/>
          </a:bodyPr>
          <a:lstStyle/>
          <a:p>
            <a:pPr algn="l"/>
            <a:r>
              <a:rPr sz="1300" b="1" i="0">
                <a:solidFill>
                  <a:srgbClr val="FFFFFF"/>
                </a:solidFill>
                <a:latin typeface="Calibri"/>
              </a:rPr>
              <a:t>Reduced
Inequalities</a:t>
            </a:r>
          </a:p>
        </p:txBody>
      </p:sp>
      <p:sp>
        <p:nvSpPr>
          <p:cNvPr id="24" name="TextBox 23"/>
          <p:cNvSpPr txBox="1"/>
          <p:nvPr/>
        </p:nvSpPr>
        <p:spPr>
          <a:xfrm>
            <a:off x="594360" y="4736592"/>
            <a:ext cx="5212080" cy="1371600"/>
          </a:xfrm>
          <a:prstGeom prst="rect">
            <a:avLst/>
          </a:prstGeom>
          <a:noFill/>
        </p:spPr>
        <p:txBody>
          <a:bodyPr wrap="square">
            <a:spAutoFit/>
          </a:bodyPr>
          <a:lstStyle/>
          <a:p>
            <a:pPr algn="l"/>
            <a:r>
              <a:rPr sz="1100" b="0" i="0">
                <a:solidFill>
                  <a:srgbClr val="475569"/>
                </a:solidFill>
                <a:latin typeface="Calibri"/>
              </a:rPr>
              <a:t>• Provides free, accessible dermatology guidance regardless of income
• Supports low-resource regions with limited specialist access
• Easypaisa integration lowers payment barriers in emerging markets</a:t>
            </a:r>
          </a:p>
        </p:txBody>
      </p:sp>
      <p:sp>
        <p:nvSpPr>
          <p:cNvPr id="25" name="Rectangle 24"/>
          <p:cNvSpPr/>
          <p:nvPr/>
        </p:nvSpPr>
        <p:spPr>
          <a:xfrm>
            <a:off x="6263640" y="3931920"/>
            <a:ext cx="5577840" cy="2240280"/>
          </a:xfrm>
          <a:prstGeom prst="rect">
            <a:avLst/>
          </a:prstGeom>
          <a:solidFill>
            <a:srgbClr val="FFFFFF"/>
          </a:solidFill>
          <a:ln w="25400">
            <a:solidFill>
              <a:srgbClr val="1A237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263640" y="3931920"/>
            <a:ext cx="5577840" cy="713232"/>
          </a:xfrm>
          <a:prstGeom prst="rect">
            <a:avLst/>
          </a:prstGeom>
          <a:solidFill>
            <a:srgbClr val="1A23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0" y="3977639"/>
            <a:ext cx="1371600" cy="621792"/>
          </a:xfrm>
          <a:prstGeom prst="rect">
            <a:avLst/>
          </a:prstGeom>
          <a:noFill/>
        </p:spPr>
        <p:txBody>
          <a:bodyPr wrap="square">
            <a:spAutoFit/>
          </a:bodyPr>
          <a:lstStyle/>
          <a:p>
            <a:pPr algn="l"/>
            <a:r>
              <a:rPr sz="2200" b="1" i="0">
                <a:solidFill>
                  <a:srgbClr val="FFFFFF"/>
                </a:solidFill>
                <a:latin typeface="Calibri"/>
              </a:rPr>
              <a:t>SDG 17</a:t>
            </a:r>
          </a:p>
        </p:txBody>
      </p:sp>
      <p:sp>
        <p:nvSpPr>
          <p:cNvPr id="28" name="TextBox 27"/>
          <p:cNvSpPr txBox="1"/>
          <p:nvPr/>
        </p:nvSpPr>
        <p:spPr>
          <a:xfrm>
            <a:off x="7726680" y="4005072"/>
            <a:ext cx="3977639" cy="594360"/>
          </a:xfrm>
          <a:prstGeom prst="rect">
            <a:avLst/>
          </a:prstGeom>
          <a:noFill/>
        </p:spPr>
        <p:txBody>
          <a:bodyPr wrap="square">
            <a:spAutoFit/>
          </a:bodyPr>
          <a:lstStyle/>
          <a:p>
            <a:pPr algn="l"/>
            <a:r>
              <a:rPr sz="1300" b="1" i="0">
                <a:solidFill>
                  <a:srgbClr val="FFFFFF"/>
                </a:solidFill>
                <a:latin typeface="Calibri"/>
              </a:rPr>
              <a:t>Partnerships
for the Goals</a:t>
            </a:r>
          </a:p>
        </p:txBody>
      </p:sp>
      <p:sp>
        <p:nvSpPr>
          <p:cNvPr id="29" name="TextBox 28"/>
          <p:cNvSpPr txBox="1"/>
          <p:nvPr/>
        </p:nvSpPr>
        <p:spPr>
          <a:xfrm>
            <a:off x="6446520" y="4736592"/>
            <a:ext cx="5212080" cy="1371600"/>
          </a:xfrm>
          <a:prstGeom prst="rect">
            <a:avLst/>
          </a:prstGeom>
          <a:noFill/>
        </p:spPr>
        <p:txBody>
          <a:bodyPr wrap="square">
            <a:spAutoFit/>
          </a:bodyPr>
          <a:lstStyle/>
          <a:p>
            <a:pPr algn="l"/>
            <a:r>
              <a:rPr sz="1100" b="0" i="0">
                <a:solidFill>
                  <a:srgbClr val="475569"/>
                </a:solidFill>
                <a:latin typeface="Calibri"/>
              </a:rPr>
              <a:t>• Bridges academia, healthcare, and technology sectors
• Dataset collaboration with clinical partners supports research
• Open-source potential promotes knowledge sharing globally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Functional Requirements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FR – What the system must DO</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9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5623560" cy="841248"/>
          </a:xfrm>
          <a:prstGeom prst="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00200"/>
            <a:ext cx="5349240" cy="347472"/>
          </a:xfrm>
          <a:prstGeom prst="rect">
            <a:avLst/>
          </a:prstGeom>
          <a:noFill/>
        </p:spPr>
        <p:txBody>
          <a:bodyPr wrap="square">
            <a:spAutoFit/>
          </a:bodyPr>
          <a:lstStyle/>
          <a:p>
            <a:pPr algn="l"/>
            <a:r>
              <a:rPr sz="1200" b="1" i="0">
                <a:solidFill>
                  <a:srgbClr val="2563EB"/>
                </a:solidFill>
                <a:latin typeface="Calibri"/>
              </a:rPr>
              <a:t>FR-01  User Registration &amp; Authentication</a:t>
            </a:r>
          </a:p>
        </p:txBody>
      </p:sp>
      <p:sp>
        <p:nvSpPr>
          <p:cNvPr id="12" name="TextBox 11"/>
          <p:cNvSpPr txBox="1"/>
          <p:nvPr/>
        </p:nvSpPr>
        <p:spPr>
          <a:xfrm>
            <a:off x="502920" y="1947672"/>
            <a:ext cx="5349240" cy="420624"/>
          </a:xfrm>
          <a:prstGeom prst="rect">
            <a:avLst/>
          </a:prstGeom>
          <a:noFill/>
        </p:spPr>
        <p:txBody>
          <a:bodyPr wrap="square">
            <a:spAutoFit/>
          </a:bodyPr>
          <a:lstStyle/>
          <a:p>
            <a:pPr algn="l"/>
            <a:r>
              <a:rPr sz="1100" b="0" i="0">
                <a:solidFill>
                  <a:srgbClr val="475569"/>
                </a:solidFill>
                <a:latin typeface="Calibri"/>
              </a:rPr>
              <a:t>Users can register, log in, reset password via secure JWT-based auth.</a:t>
            </a:r>
          </a:p>
        </p:txBody>
      </p:sp>
      <p:sp>
        <p:nvSpPr>
          <p:cNvPr id="13" name="Rectangle 12"/>
          <p:cNvSpPr/>
          <p:nvPr/>
        </p:nvSpPr>
        <p:spPr>
          <a:xfrm>
            <a:off x="365760" y="2487168"/>
            <a:ext cx="5623560" cy="841248"/>
          </a:xfrm>
          <a:prstGeom prst="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2532887"/>
            <a:ext cx="5349240" cy="347472"/>
          </a:xfrm>
          <a:prstGeom prst="rect">
            <a:avLst/>
          </a:prstGeom>
          <a:noFill/>
        </p:spPr>
        <p:txBody>
          <a:bodyPr wrap="square">
            <a:spAutoFit/>
          </a:bodyPr>
          <a:lstStyle/>
          <a:p>
            <a:pPr algn="l"/>
            <a:r>
              <a:rPr sz="1200" b="1" i="0">
                <a:solidFill>
                  <a:srgbClr val="2563EB"/>
                </a:solidFill>
                <a:latin typeface="Calibri"/>
              </a:rPr>
              <a:t>FR-02  Skin Image Upload &amp; Analysis</a:t>
            </a:r>
          </a:p>
        </p:txBody>
      </p:sp>
      <p:sp>
        <p:nvSpPr>
          <p:cNvPr id="15" name="TextBox 14"/>
          <p:cNvSpPr txBox="1"/>
          <p:nvPr/>
        </p:nvSpPr>
        <p:spPr>
          <a:xfrm>
            <a:off x="502920" y="2880360"/>
            <a:ext cx="5349240" cy="420624"/>
          </a:xfrm>
          <a:prstGeom prst="rect">
            <a:avLst/>
          </a:prstGeom>
          <a:noFill/>
        </p:spPr>
        <p:txBody>
          <a:bodyPr wrap="square">
            <a:spAutoFit/>
          </a:bodyPr>
          <a:lstStyle/>
          <a:p>
            <a:pPr algn="l"/>
            <a:r>
              <a:rPr sz="1100" b="0" i="0">
                <a:solidFill>
                  <a:srgbClr val="475569"/>
                </a:solidFill>
                <a:latin typeface="Calibri"/>
              </a:rPr>
              <a:t>Upload JPG/PNG images; CNN model returns condition label + confidence score.</a:t>
            </a:r>
          </a:p>
        </p:txBody>
      </p:sp>
      <p:sp>
        <p:nvSpPr>
          <p:cNvPr id="16" name="Rectangle 15"/>
          <p:cNvSpPr/>
          <p:nvPr/>
        </p:nvSpPr>
        <p:spPr>
          <a:xfrm>
            <a:off x="365760" y="3419856"/>
            <a:ext cx="5623560" cy="841248"/>
          </a:xfrm>
          <a:prstGeom prst="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3465576"/>
            <a:ext cx="5349240" cy="347472"/>
          </a:xfrm>
          <a:prstGeom prst="rect">
            <a:avLst/>
          </a:prstGeom>
          <a:noFill/>
        </p:spPr>
        <p:txBody>
          <a:bodyPr wrap="square">
            <a:spAutoFit/>
          </a:bodyPr>
          <a:lstStyle/>
          <a:p>
            <a:pPr algn="l"/>
            <a:r>
              <a:rPr sz="1200" b="1" i="0">
                <a:solidFill>
                  <a:srgbClr val="2563EB"/>
                </a:solidFill>
                <a:latin typeface="Calibri"/>
              </a:rPr>
              <a:t>FR-03  Analysis Progress Visualisation</a:t>
            </a:r>
          </a:p>
        </p:txBody>
      </p:sp>
      <p:sp>
        <p:nvSpPr>
          <p:cNvPr id="18" name="TextBox 17"/>
          <p:cNvSpPr txBox="1"/>
          <p:nvPr/>
        </p:nvSpPr>
        <p:spPr>
          <a:xfrm>
            <a:off x="502920" y="3813048"/>
            <a:ext cx="5349240" cy="420624"/>
          </a:xfrm>
          <a:prstGeom prst="rect">
            <a:avLst/>
          </a:prstGeom>
          <a:noFill/>
        </p:spPr>
        <p:txBody>
          <a:bodyPr wrap="square">
            <a:spAutoFit/>
          </a:bodyPr>
          <a:lstStyle/>
          <a:p>
            <a:pPr algn="l"/>
            <a:r>
              <a:rPr sz="1100" b="0" i="0">
                <a:solidFill>
                  <a:srgbClr val="475569"/>
                </a:solidFill>
                <a:latin typeface="Calibri"/>
              </a:rPr>
              <a:t>Multi-step progress bar shows: preprocessing → feature extraction → classification.</a:t>
            </a:r>
          </a:p>
        </p:txBody>
      </p:sp>
      <p:sp>
        <p:nvSpPr>
          <p:cNvPr id="19" name="Rectangle 18"/>
          <p:cNvSpPr/>
          <p:nvPr/>
        </p:nvSpPr>
        <p:spPr>
          <a:xfrm>
            <a:off x="365760" y="4352544"/>
            <a:ext cx="5623560" cy="841248"/>
          </a:xfrm>
          <a:prstGeom prst="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4398264"/>
            <a:ext cx="5349240" cy="347472"/>
          </a:xfrm>
          <a:prstGeom prst="rect">
            <a:avLst/>
          </a:prstGeom>
          <a:noFill/>
        </p:spPr>
        <p:txBody>
          <a:bodyPr wrap="square">
            <a:spAutoFit/>
          </a:bodyPr>
          <a:lstStyle/>
          <a:p>
            <a:pPr algn="l"/>
            <a:r>
              <a:rPr sz="1200" b="1" i="0">
                <a:solidFill>
                  <a:srgbClr val="2563EB"/>
                </a:solidFill>
                <a:latin typeface="Calibri"/>
              </a:rPr>
              <a:t>FR-04  Analysis History</a:t>
            </a:r>
          </a:p>
        </p:txBody>
      </p:sp>
      <p:sp>
        <p:nvSpPr>
          <p:cNvPr id="21" name="TextBox 20"/>
          <p:cNvSpPr txBox="1"/>
          <p:nvPr/>
        </p:nvSpPr>
        <p:spPr>
          <a:xfrm>
            <a:off x="502920" y="4745736"/>
            <a:ext cx="5349240" cy="420624"/>
          </a:xfrm>
          <a:prstGeom prst="rect">
            <a:avLst/>
          </a:prstGeom>
          <a:noFill/>
        </p:spPr>
        <p:txBody>
          <a:bodyPr wrap="square">
            <a:spAutoFit/>
          </a:bodyPr>
          <a:lstStyle/>
          <a:p>
            <a:pPr algn="l"/>
            <a:r>
              <a:rPr sz="1100" b="0" i="0">
                <a:solidFill>
                  <a:srgbClr val="475569"/>
                </a:solidFill>
                <a:latin typeface="Calibri"/>
              </a:rPr>
              <a:t>Logged-in users can view and download (PDF) all past skin analyses.</a:t>
            </a:r>
          </a:p>
        </p:txBody>
      </p:sp>
      <p:sp>
        <p:nvSpPr>
          <p:cNvPr id="22" name="Rectangle 21"/>
          <p:cNvSpPr/>
          <p:nvPr/>
        </p:nvSpPr>
        <p:spPr>
          <a:xfrm>
            <a:off x="365760" y="5285232"/>
            <a:ext cx="5623560" cy="841248"/>
          </a:xfrm>
          <a:prstGeom prst="rect">
            <a:avLst/>
          </a:prstGeom>
          <a:solidFill>
            <a:srgbClr val="FFFFFF"/>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02920" y="5330952"/>
            <a:ext cx="5349240" cy="347472"/>
          </a:xfrm>
          <a:prstGeom prst="rect">
            <a:avLst/>
          </a:prstGeom>
          <a:noFill/>
        </p:spPr>
        <p:txBody>
          <a:bodyPr wrap="square">
            <a:spAutoFit/>
          </a:bodyPr>
          <a:lstStyle/>
          <a:p>
            <a:pPr algn="l"/>
            <a:r>
              <a:rPr sz="1200" b="1" i="0">
                <a:solidFill>
                  <a:srgbClr val="2563EB"/>
                </a:solidFill>
                <a:latin typeface="Calibri"/>
              </a:rPr>
              <a:t>FR-05  Ingredient Safety Scanner</a:t>
            </a:r>
          </a:p>
        </p:txBody>
      </p:sp>
      <p:sp>
        <p:nvSpPr>
          <p:cNvPr id="24" name="TextBox 23"/>
          <p:cNvSpPr txBox="1"/>
          <p:nvPr/>
        </p:nvSpPr>
        <p:spPr>
          <a:xfrm>
            <a:off x="502920" y="5678424"/>
            <a:ext cx="5349240" cy="420624"/>
          </a:xfrm>
          <a:prstGeom prst="rect">
            <a:avLst/>
          </a:prstGeom>
          <a:noFill/>
        </p:spPr>
        <p:txBody>
          <a:bodyPr wrap="square">
            <a:spAutoFit/>
          </a:bodyPr>
          <a:lstStyle/>
          <a:p>
            <a:pPr algn="l"/>
            <a:r>
              <a:rPr sz="1100" b="0" i="0">
                <a:solidFill>
                  <a:srgbClr val="475569"/>
                </a:solidFill>
                <a:latin typeface="Calibri"/>
              </a:rPr>
              <a:t>User inputs product ingredient list; system flags unsafe/allergen ingredients.</a:t>
            </a:r>
          </a:p>
        </p:txBody>
      </p:sp>
      <p:sp>
        <p:nvSpPr>
          <p:cNvPr id="25" name="Rectangle 24"/>
          <p:cNvSpPr/>
          <p:nvPr/>
        </p:nvSpPr>
        <p:spPr>
          <a:xfrm>
            <a:off x="6172200" y="1554480"/>
            <a:ext cx="5623560" cy="841248"/>
          </a:xfrm>
          <a:prstGeom prst="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309360" y="1600200"/>
            <a:ext cx="5349240" cy="347472"/>
          </a:xfrm>
          <a:prstGeom prst="rect">
            <a:avLst/>
          </a:prstGeom>
          <a:noFill/>
        </p:spPr>
        <p:txBody>
          <a:bodyPr wrap="square">
            <a:spAutoFit/>
          </a:bodyPr>
          <a:lstStyle/>
          <a:p>
            <a:pPr algn="l"/>
            <a:r>
              <a:rPr sz="1200" b="1" i="0">
                <a:solidFill>
                  <a:srgbClr val="059669"/>
                </a:solidFill>
                <a:latin typeface="Calibri"/>
              </a:rPr>
              <a:t>FR-06  Smart Skincare Marketplace</a:t>
            </a:r>
          </a:p>
        </p:txBody>
      </p:sp>
      <p:sp>
        <p:nvSpPr>
          <p:cNvPr id="27" name="TextBox 26"/>
          <p:cNvSpPr txBox="1"/>
          <p:nvPr/>
        </p:nvSpPr>
        <p:spPr>
          <a:xfrm>
            <a:off x="6309360" y="1947672"/>
            <a:ext cx="5349240" cy="420624"/>
          </a:xfrm>
          <a:prstGeom prst="rect">
            <a:avLst/>
          </a:prstGeom>
          <a:noFill/>
        </p:spPr>
        <p:txBody>
          <a:bodyPr wrap="square">
            <a:spAutoFit/>
          </a:bodyPr>
          <a:lstStyle/>
          <a:p>
            <a:pPr algn="l"/>
            <a:r>
              <a:rPr sz="1100" b="0" i="0">
                <a:solidFill>
                  <a:srgbClr val="475569"/>
                </a:solidFill>
                <a:latin typeface="Calibri"/>
              </a:rPr>
              <a:t>Browse, filter by skin type, view clinical specs, and add products to cart.</a:t>
            </a:r>
          </a:p>
        </p:txBody>
      </p:sp>
      <p:sp>
        <p:nvSpPr>
          <p:cNvPr id="28" name="Rectangle 27"/>
          <p:cNvSpPr/>
          <p:nvPr/>
        </p:nvSpPr>
        <p:spPr>
          <a:xfrm>
            <a:off x="6172200" y="2487168"/>
            <a:ext cx="5623560" cy="841248"/>
          </a:xfrm>
          <a:prstGeom prst="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09360" y="2532887"/>
            <a:ext cx="5349240" cy="347472"/>
          </a:xfrm>
          <a:prstGeom prst="rect">
            <a:avLst/>
          </a:prstGeom>
          <a:noFill/>
        </p:spPr>
        <p:txBody>
          <a:bodyPr wrap="square">
            <a:spAutoFit/>
          </a:bodyPr>
          <a:lstStyle/>
          <a:p>
            <a:pPr algn="l"/>
            <a:r>
              <a:rPr sz="1200" b="1" i="0">
                <a:solidFill>
                  <a:srgbClr val="059669"/>
                </a:solidFill>
                <a:latin typeface="Calibri"/>
              </a:rPr>
              <a:t>FR-07  Checkout &amp; Easypaisa Payment</a:t>
            </a:r>
          </a:p>
        </p:txBody>
      </p:sp>
      <p:sp>
        <p:nvSpPr>
          <p:cNvPr id="30" name="TextBox 29"/>
          <p:cNvSpPr txBox="1"/>
          <p:nvPr/>
        </p:nvSpPr>
        <p:spPr>
          <a:xfrm>
            <a:off x="6309360" y="2880360"/>
            <a:ext cx="5349240" cy="420624"/>
          </a:xfrm>
          <a:prstGeom prst="rect">
            <a:avLst/>
          </a:prstGeom>
          <a:noFill/>
        </p:spPr>
        <p:txBody>
          <a:bodyPr wrap="square">
            <a:spAutoFit/>
          </a:bodyPr>
          <a:lstStyle/>
          <a:p>
            <a:pPr algn="l"/>
            <a:r>
              <a:rPr sz="1100" b="0" i="0">
                <a:solidFill>
                  <a:srgbClr val="475569"/>
                </a:solidFill>
                <a:latin typeface="Calibri"/>
              </a:rPr>
              <a:t>Secure mobile wallet payment flow with order confirmation.</a:t>
            </a:r>
          </a:p>
        </p:txBody>
      </p:sp>
      <p:sp>
        <p:nvSpPr>
          <p:cNvPr id="31" name="Rectangle 30"/>
          <p:cNvSpPr/>
          <p:nvPr/>
        </p:nvSpPr>
        <p:spPr>
          <a:xfrm>
            <a:off x="6172200" y="3419856"/>
            <a:ext cx="5623560" cy="841248"/>
          </a:xfrm>
          <a:prstGeom prst="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09360" y="3465576"/>
            <a:ext cx="5349240" cy="347472"/>
          </a:xfrm>
          <a:prstGeom prst="rect">
            <a:avLst/>
          </a:prstGeom>
          <a:noFill/>
        </p:spPr>
        <p:txBody>
          <a:bodyPr wrap="square">
            <a:spAutoFit/>
          </a:bodyPr>
          <a:lstStyle/>
          <a:p>
            <a:pPr algn="l"/>
            <a:r>
              <a:rPr sz="1200" b="1" i="0">
                <a:solidFill>
                  <a:srgbClr val="059669"/>
                </a:solidFill>
                <a:latin typeface="Calibri"/>
              </a:rPr>
              <a:t>FR-08  Real-time Notifications</a:t>
            </a:r>
          </a:p>
        </p:txBody>
      </p:sp>
      <p:sp>
        <p:nvSpPr>
          <p:cNvPr id="33" name="TextBox 32"/>
          <p:cNvSpPr txBox="1"/>
          <p:nvPr/>
        </p:nvSpPr>
        <p:spPr>
          <a:xfrm>
            <a:off x="6309360" y="3813048"/>
            <a:ext cx="5349240" cy="420624"/>
          </a:xfrm>
          <a:prstGeom prst="rect">
            <a:avLst/>
          </a:prstGeom>
          <a:noFill/>
        </p:spPr>
        <p:txBody>
          <a:bodyPr wrap="square">
            <a:spAutoFit/>
          </a:bodyPr>
          <a:lstStyle/>
          <a:p>
            <a:pPr algn="l"/>
            <a:r>
              <a:rPr sz="1100" b="0" i="0">
                <a:solidFill>
                  <a:srgbClr val="475569"/>
                </a:solidFill>
                <a:latin typeface="Calibri"/>
              </a:rPr>
              <a:t>Event-driven alerts for purchases, analysis completion, and system updates.</a:t>
            </a:r>
          </a:p>
        </p:txBody>
      </p:sp>
      <p:sp>
        <p:nvSpPr>
          <p:cNvPr id="34" name="Rectangle 33"/>
          <p:cNvSpPr/>
          <p:nvPr/>
        </p:nvSpPr>
        <p:spPr>
          <a:xfrm>
            <a:off x="6172200" y="4352544"/>
            <a:ext cx="5623560" cy="841248"/>
          </a:xfrm>
          <a:prstGeom prst="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398264"/>
            <a:ext cx="5349240" cy="347472"/>
          </a:xfrm>
          <a:prstGeom prst="rect">
            <a:avLst/>
          </a:prstGeom>
          <a:noFill/>
        </p:spPr>
        <p:txBody>
          <a:bodyPr wrap="square">
            <a:spAutoFit/>
          </a:bodyPr>
          <a:lstStyle/>
          <a:p>
            <a:pPr algn="l"/>
            <a:r>
              <a:rPr sz="1200" b="1" i="0">
                <a:solidFill>
                  <a:srgbClr val="059669"/>
                </a:solidFill>
                <a:latin typeface="Calibri"/>
              </a:rPr>
              <a:t>FR-09  AI Conversational Assistant</a:t>
            </a:r>
          </a:p>
        </p:txBody>
      </p:sp>
      <p:sp>
        <p:nvSpPr>
          <p:cNvPr id="36" name="TextBox 35"/>
          <p:cNvSpPr txBox="1"/>
          <p:nvPr/>
        </p:nvSpPr>
        <p:spPr>
          <a:xfrm>
            <a:off x="6309360" y="4745736"/>
            <a:ext cx="5349240" cy="420624"/>
          </a:xfrm>
          <a:prstGeom prst="rect">
            <a:avLst/>
          </a:prstGeom>
          <a:noFill/>
        </p:spPr>
        <p:txBody>
          <a:bodyPr wrap="square">
            <a:spAutoFit/>
          </a:bodyPr>
          <a:lstStyle/>
          <a:p>
            <a:pPr algn="l"/>
            <a:r>
              <a:rPr sz="1100" b="0" i="0">
                <a:solidFill>
                  <a:srgbClr val="475569"/>
                </a:solidFill>
                <a:latin typeface="Calibri"/>
              </a:rPr>
              <a:t>NLP chatbot answers skincare questions and recommends routines.</a:t>
            </a:r>
          </a:p>
        </p:txBody>
      </p:sp>
      <p:sp>
        <p:nvSpPr>
          <p:cNvPr id="37" name="Rectangle 36"/>
          <p:cNvSpPr/>
          <p:nvPr/>
        </p:nvSpPr>
        <p:spPr>
          <a:xfrm>
            <a:off x="6172200" y="5285232"/>
            <a:ext cx="5623560" cy="841248"/>
          </a:xfrm>
          <a:prstGeom prst="rect">
            <a:avLst/>
          </a:prstGeom>
          <a:solidFill>
            <a:srgbClr val="FFFFFF"/>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09360" y="5330952"/>
            <a:ext cx="5349240" cy="347472"/>
          </a:xfrm>
          <a:prstGeom prst="rect">
            <a:avLst/>
          </a:prstGeom>
          <a:noFill/>
        </p:spPr>
        <p:txBody>
          <a:bodyPr wrap="square">
            <a:spAutoFit/>
          </a:bodyPr>
          <a:lstStyle/>
          <a:p>
            <a:pPr algn="l"/>
            <a:r>
              <a:rPr sz="1200" b="1" i="0">
                <a:solidFill>
                  <a:srgbClr val="059669"/>
                </a:solidFill>
                <a:latin typeface="Calibri"/>
              </a:rPr>
              <a:t>FR-10  User Settings &amp; Profile</a:t>
            </a:r>
          </a:p>
        </p:txBody>
      </p:sp>
      <p:sp>
        <p:nvSpPr>
          <p:cNvPr id="39" name="TextBox 38"/>
          <p:cNvSpPr txBox="1"/>
          <p:nvPr/>
        </p:nvSpPr>
        <p:spPr>
          <a:xfrm>
            <a:off x="6309360" y="5678424"/>
            <a:ext cx="5349240" cy="420624"/>
          </a:xfrm>
          <a:prstGeom prst="rect">
            <a:avLst/>
          </a:prstGeom>
          <a:noFill/>
        </p:spPr>
        <p:txBody>
          <a:bodyPr wrap="square">
            <a:spAutoFit/>
          </a:bodyPr>
          <a:lstStyle/>
          <a:p>
            <a:pPr algn="l"/>
            <a:r>
              <a:rPr sz="1100" b="0" i="0">
                <a:solidFill>
                  <a:srgbClr val="475569"/>
                </a:solidFill>
                <a:latin typeface="Calibri"/>
              </a:rPr>
              <a:t>Edit profile details, manage notification preferences, account deletion.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Use Case Diagram</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Actor–System interaction overview</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10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03120" y="1554480"/>
            <a:ext cx="7498079" cy="466344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1554480"/>
            <a:ext cx="7498079" cy="411480"/>
          </a:xfrm>
          <a:prstGeom prst="rect">
            <a:avLst/>
          </a:prstGeom>
          <a:noFill/>
        </p:spPr>
        <p:txBody>
          <a:bodyPr wrap="square">
            <a:spAutoFit/>
          </a:bodyPr>
          <a:lstStyle/>
          <a:p>
            <a:pPr algn="ctr"/>
            <a:r>
              <a:rPr sz="1300" b="1" i="0">
                <a:solidFill>
                  <a:srgbClr val="2563EB"/>
                </a:solidFill>
                <a:latin typeface="Calibri"/>
              </a:rPr>
              <a:t>«System» Skyntri Portal</a:t>
            </a:r>
          </a:p>
        </p:txBody>
      </p:sp>
      <p:sp>
        <p:nvSpPr>
          <p:cNvPr id="12" name="Rectangle 11"/>
          <p:cNvSpPr/>
          <p:nvPr/>
        </p:nvSpPr>
        <p:spPr>
          <a:xfrm>
            <a:off x="2834640" y="205740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2148840"/>
            <a:ext cx="2148840" cy="411480"/>
          </a:xfrm>
          <a:prstGeom prst="rect">
            <a:avLst/>
          </a:prstGeom>
          <a:noFill/>
        </p:spPr>
        <p:txBody>
          <a:bodyPr wrap="square">
            <a:spAutoFit/>
          </a:bodyPr>
          <a:lstStyle/>
          <a:p>
            <a:pPr algn="ctr"/>
            <a:r>
              <a:rPr sz="1100" b="0" i="0">
                <a:solidFill>
                  <a:srgbClr val="0F172A"/>
                </a:solidFill>
                <a:latin typeface="Calibri"/>
              </a:rPr>
              <a:t>Register / Login</a:t>
            </a:r>
          </a:p>
        </p:txBody>
      </p:sp>
      <p:sp>
        <p:nvSpPr>
          <p:cNvPr id="14" name="Rectangle 13"/>
          <p:cNvSpPr/>
          <p:nvPr/>
        </p:nvSpPr>
        <p:spPr>
          <a:xfrm>
            <a:off x="2834640" y="278892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926080" y="2880360"/>
            <a:ext cx="2148840" cy="411480"/>
          </a:xfrm>
          <a:prstGeom prst="rect">
            <a:avLst/>
          </a:prstGeom>
          <a:noFill/>
        </p:spPr>
        <p:txBody>
          <a:bodyPr wrap="square">
            <a:spAutoFit/>
          </a:bodyPr>
          <a:lstStyle/>
          <a:p>
            <a:pPr algn="ctr"/>
            <a:r>
              <a:rPr sz="1100" b="0" i="0">
                <a:solidFill>
                  <a:srgbClr val="0F172A"/>
                </a:solidFill>
                <a:latin typeface="Calibri"/>
              </a:rPr>
              <a:t>Upload Skin Image</a:t>
            </a:r>
          </a:p>
        </p:txBody>
      </p:sp>
      <p:sp>
        <p:nvSpPr>
          <p:cNvPr id="16" name="Rectangle 15"/>
          <p:cNvSpPr/>
          <p:nvPr/>
        </p:nvSpPr>
        <p:spPr>
          <a:xfrm>
            <a:off x="2834640" y="352044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926080" y="3611880"/>
            <a:ext cx="2148840" cy="411480"/>
          </a:xfrm>
          <a:prstGeom prst="rect">
            <a:avLst/>
          </a:prstGeom>
          <a:noFill/>
        </p:spPr>
        <p:txBody>
          <a:bodyPr wrap="square">
            <a:spAutoFit/>
          </a:bodyPr>
          <a:lstStyle/>
          <a:p>
            <a:pPr algn="ctr"/>
            <a:r>
              <a:rPr sz="1100" b="0" i="0">
                <a:solidFill>
                  <a:srgbClr val="0F172A"/>
                </a:solidFill>
                <a:latin typeface="Calibri"/>
              </a:rPr>
              <a:t>View Analysis Results</a:t>
            </a:r>
          </a:p>
        </p:txBody>
      </p:sp>
      <p:sp>
        <p:nvSpPr>
          <p:cNvPr id="18" name="Rectangle 17"/>
          <p:cNvSpPr/>
          <p:nvPr/>
        </p:nvSpPr>
        <p:spPr>
          <a:xfrm>
            <a:off x="2834640" y="425196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2926080" y="4343400"/>
            <a:ext cx="2148840" cy="411480"/>
          </a:xfrm>
          <a:prstGeom prst="rect">
            <a:avLst/>
          </a:prstGeom>
          <a:noFill/>
        </p:spPr>
        <p:txBody>
          <a:bodyPr wrap="square">
            <a:spAutoFit/>
          </a:bodyPr>
          <a:lstStyle/>
          <a:p>
            <a:pPr algn="ctr"/>
            <a:r>
              <a:rPr sz="1100" b="0" i="0">
                <a:solidFill>
                  <a:srgbClr val="0F172A"/>
                </a:solidFill>
                <a:latin typeface="Calibri"/>
              </a:rPr>
              <a:t>View Analysis History</a:t>
            </a:r>
          </a:p>
        </p:txBody>
      </p:sp>
      <p:sp>
        <p:nvSpPr>
          <p:cNvPr id="20" name="Rectangle 19"/>
          <p:cNvSpPr/>
          <p:nvPr/>
        </p:nvSpPr>
        <p:spPr>
          <a:xfrm>
            <a:off x="5486400" y="205740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577840" y="2148840"/>
            <a:ext cx="2148840" cy="411480"/>
          </a:xfrm>
          <a:prstGeom prst="rect">
            <a:avLst/>
          </a:prstGeom>
          <a:noFill/>
        </p:spPr>
        <p:txBody>
          <a:bodyPr wrap="square">
            <a:spAutoFit/>
          </a:bodyPr>
          <a:lstStyle/>
          <a:p>
            <a:pPr algn="ctr"/>
            <a:r>
              <a:rPr sz="1100" b="0" i="0">
                <a:solidFill>
                  <a:srgbClr val="0F172A"/>
                </a:solidFill>
                <a:latin typeface="Calibri"/>
              </a:rPr>
              <a:t>Scan Ingredients</a:t>
            </a:r>
          </a:p>
        </p:txBody>
      </p:sp>
      <p:sp>
        <p:nvSpPr>
          <p:cNvPr id="22" name="Rectangle 21"/>
          <p:cNvSpPr/>
          <p:nvPr/>
        </p:nvSpPr>
        <p:spPr>
          <a:xfrm>
            <a:off x="5486400" y="278892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577840" y="2880360"/>
            <a:ext cx="2148840" cy="411480"/>
          </a:xfrm>
          <a:prstGeom prst="rect">
            <a:avLst/>
          </a:prstGeom>
          <a:noFill/>
        </p:spPr>
        <p:txBody>
          <a:bodyPr wrap="square">
            <a:spAutoFit/>
          </a:bodyPr>
          <a:lstStyle/>
          <a:p>
            <a:pPr algn="ctr"/>
            <a:r>
              <a:rPr sz="1100" b="0" i="0">
                <a:solidFill>
                  <a:srgbClr val="0F172A"/>
                </a:solidFill>
                <a:latin typeface="Calibri"/>
              </a:rPr>
              <a:t>Browse Marketplace</a:t>
            </a:r>
          </a:p>
        </p:txBody>
      </p:sp>
      <p:sp>
        <p:nvSpPr>
          <p:cNvPr id="24" name="Rectangle 23"/>
          <p:cNvSpPr/>
          <p:nvPr/>
        </p:nvSpPr>
        <p:spPr>
          <a:xfrm>
            <a:off x="5486400" y="352044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577840" y="3611880"/>
            <a:ext cx="2148840" cy="411480"/>
          </a:xfrm>
          <a:prstGeom prst="rect">
            <a:avLst/>
          </a:prstGeom>
          <a:noFill/>
        </p:spPr>
        <p:txBody>
          <a:bodyPr wrap="square">
            <a:spAutoFit/>
          </a:bodyPr>
          <a:lstStyle/>
          <a:p>
            <a:pPr algn="ctr"/>
            <a:r>
              <a:rPr sz="1100" b="0" i="0">
                <a:solidFill>
                  <a:srgbClr val="0F172A"/>
                </a:solidFill>
                <a:latin typeface="Calibri"/>
              </a:rPr>
              <a:t>Checkout &amp; Pay</a:t>
            </a:r>
          </a:p>
        </p:txBody>
      </p:sp>
      <p:sp>
        <p:nvSpPr>
          <p:cNvPr id="26" name="Rectangle 25"/>
          <p:cNvSpPr/>
          <p:nvPr/>
        </p:nvSpPr>
        <p:spPr>
          <a:xfrm>
            <a:off x="5486400" y="425196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577840" y="4343400"/>
            <a:ext cx="2148840" cy="411480"/>
          </a:xfrm>
          <a:prstGeom prst="rect">
            <a:avLst/>
          </a:prstGeom>
          <a:noFill/>
        </p:spPr>
        <p:txBody>
          <a:bodyPr wrap="square">
            <a:spAutoFit/>
          </a:bodyPr>
          <a:lstStyle/>
          <a:p>
            <a:pPr algn="ctr"/>
            <a:r>
              <a:rPr sz="1100" b="0" i="0">
                <a:solidFill>
                  <a:srgbClr val="0F172A"/>
                </a:solidFill>
                <a:latin typeface="Calibri"/>
              </a:rPr>
              <a:t>Chat with AI Assistant</a:t>
            </a:r>
          </a:p>
        </p:txBody>
      </p:sp>
      <p:sp>
        <p:nvSpPr>
          <p:cNvPr id="28" name="Rectangle 27"/>
          <p:cNvSpPr/>
          <p:nvPr/>
        </p:nvSpPr>
        <p:spPr>
          <a:xfrm>
            <a:off x="4160520" y="4983480"/>
            <a:ext cx="2331720" cy="566928"/>
          </a:xfrm>
          <a:prstGeom prst="rect">
            <a:avLst/>
          </a:prstGeom>
          <a:solidFill>
            <a:srgbClr val="DBEAF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51959" y="5074920"/>
            <a:ext cx="2148840" cy="411480"/>
          </a:xfrm>
          <a:prstGeom prst="rect">
            <a:avLst/>
          </a:prstGeom>
          <a:noFill/>
        </p:spPr>
        <p:txBody>
          <a:bodyPr wrap="square">
            <a:spAutoFit/>
          </a:bodyPr>
          <a:lstStyle/>
          <a:p>
            <a:pPr algn="ctr"/>
            <a:r>
              <a:rPr sz="1100" b="0" i="0">
                <a:solidFill>
                  <a:srgbClr val="0F172A"/>
                </a:solidFill>
                <a:latin typeface="Calibri"/>
              </a:rPr>
              <a:t>Manage Profile &amp; Settings</a:t>
            </a:r>
          </a:p>
        </p:txBody>
      </p:sp>
      <p:sp>
        <p:nvSpPr>
          <p:cNvPr id="30" name="TextBox 29"/>
          <p:cNvSpPr txBox="1"/>
          <p:nvPr/>
        </p:nvSpPr>
        <p:spPr>
          <a:xfrm>
            <a:off x="365760" y="2560320"/>
            <a:ext cx="1508760" cy="1280160"/>
          </a:xfrm>
          <a:prstGeom prst="rect">
            <a:avLst/>
          </a:prstGeom>
          <a:noFill/>
        </p:spPr>
        <p:txBody>
          <a:bodyPr wrap="square">
            <a:spAutoFit/>
          </a:bodyPr>
          <a:lstStyle/>
          <a:p>
            <a:pPr algn="ctr"/>
            <a:r>
              <a:rPr sz="1300" b="1" i="0">
                <a:solidFill>
                  <a:srgbClr val="0F172A"/>
                </a:solidFill>
                <a:latin typeface="Calibri"/>
              </a:rPr>
              <a:t>👤
Registered
User</a:t>
            </a:r>
          </a:p>
        </p:txBody>
      </p:sp>
      <p:sp>
        <p:nvSpPr>
          <p:cNvPr id="31" name="TextBox 30"/>
          <p:cNvSpPr txBox="1"/>
          <p:nvPr/>
        </p:nvSpPr>
        <p:spPr>
          <a:xfrm>
            <a:off x="10058400" y="2560320"/>
            <a:ext cx="1783080" cy="1280160"/>
          </a:xfrm>
          <a:prstGeom prst="rect">
            <a:avLst/>
          </a:prstGeom>
          <a:noFill/>
        </p:spPr>
        <p:txBody>
          <a:bodyPr wrap="square">
            <a:spAutoFit/>
          </a:bodyPr>
          <a:lstStyle/>
          <a:p>
            <a:pPr algn="ctr"/>
            <a:r>
              <a:rPr sz="1300" b="1" i="0">
                <a:solidFill>
                  <a:srgbClr val="0F172A"/>
                </a:solidFill>
                <a:latin typeface="Calibri"/>
              </a:rPr>
              <a:t>🔧
Admin /
System</a:t>
            </a:r>
          </a:p>
        </p:txBody>
      </p:sp>
      <p:sp>
        <p:nvSpPr>
          <p:cNvPr id="32" name="TextBox 31"/>
          <p:cNvSpPr txBox="1"/>
          <p:nvPr/>
        </p:nvSpPr>
        <p:spPr>
          <a:xfrm>
            <a:off x="365760" y="3931920"/>
            <a:ext cx="1508760" cy="457200"/>
          </a:xfrm>
          <a:prstGeom prst="rect">
            <a:avLst/>
          </a:prstGeom>
          <a:noFill/>
        </p:spPr>
        <p:txBody>
          <a:bodyPr wrap="square">
            <a:spAutoFit/>
          </a:bodyPr>
          <a:lstStyle/>
          <a:p>
            <a:pPr algn="ctr"/>
            <a:r>
              <a:rPr sz="900" b="0" i="0">
                <a:solidFill>
                  <a:srgbClr val="475569"/>
                </a:solidFill>
                <a:latin typeface="Calibri"/>
              </a:rPr>
              <a:t>Actor: End User</a:t>
            </a:r>
          </a:p>
        </p:txBody>
      </p:sp>
      <p:sp>
        <p:nvSpPr>
          <p:cNvPr id="33" name="TextBox 32"/>
          <p:cNvSpPr txBox="1"/>
          <p:nvPr/>
        </p:nvSpPr>
        <p:spPr>
          <a:xfrm>
            <a:off x="10058400" y="3931920"/>
            <a:ext cx="1783080" cy="457200"/>
          </a:xfrm>
          <a:prstGeom prst="rect">
            <a:avLst/>
          </a:prstGeom>
          <a:noFill/>
        </p:spPr>
        <p:txBody>
          <a:bodyPr wrap="square">
            <a:spAutoFit/>
          </a:bodyPr>
          <a:lstStyle/>
          <a:p>
            <a:pPr algn="ctr"/>
            <a:r>
              <a:rPr sz="900" b="0" i="0">
                <a:solidFill>
                  <a:srgbClr val="475569"/>
                </a:solidFill>
                <a:latin typeface="Calibri"/>
              </a:rPr>
              <a:t>Actor: Admin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Non-Functional Requirements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NFR – Quality attributes and system constraints</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11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3749039" cy="2148840"/>
          </a:xfrm>
          <a:prstGeom prst="rect">
            <a:avLst/>
          </a:prstGeom>
          <a:solidFill>
            <a:srgbClr val="FFFFFF"/>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554480"/>
            <a:ext cx="3749039" cy="56692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645920"/>
            <a:ext cx="3474720" cy="420624"/>
          </a:xfrm>
          <a:prstGeom prst="rect">
            <a:avLst/>
          </a:prstGeom>
          <a:noFill/>
        </p:spPr>
        <p:txBody>
          <a:bodyPr wrap="square">
            <a:spAutoFit/>
          </a:bodyPr>
          <a:lstStyle/>
          <a:p>
            <a:pPr algn="l"/>
            <a:r>
              <a:rPr sz="1400" b="1" i="0">
                <a:solidFill>
                  <a:srgbClr val="FFFFFF"/>
                </a:solidFill>
                <a:latin typeface="Calibri"/>
              </a:rPr>
              <a:t>⚡ Performance</a:t>
            </a:r>
          </a:p>
        </p:txBody>
      </p:sp>
      <p:sp>
        <p:nvSpPr>
          <p:cNvPr id="13" name="TextBox 12"/>
          <p:cNvSpPr txBox="1"/>
          <p:nvPr/>
        </p:nvSpPr>
        <p:spPr>
          <a:xfrm>
            <a:off x="502920" y="2212848"/>
            <a:ext cx="3474720" cy="1371600"/>
          </a:xfrm>
          <a:prstGeom prst="rect">
            <a:avLst/>
          </a:prstGeom>
          <a:noFill/>
        </p:spPr>
        <p:txBody>
          <a:bodyPr wrap="square">
            <a:spAutoFit/>
          </a:bodyPr>
          <a:lstStyle/>
          <a:p>
            <a:pPr algn="l"/>
            <a:r>
              <a:rPr sz="1100" b="0" i="0">
                <a:solidFill>
                  <a:srgbClr val="475569"/>
                </a:solidFill>
                <a:latin typeface="Calibri"/>
              </a:rPr>
              <a:t>• Page load &lt; 2 s on 4G (Lighthouse score ≥ 90)
• AI inference result returned ≤ 5 s per image
• Support 500 concurrent users without degradation</a:t>
            </a:r>
          </a:p>
        </p:txBody>
      </p:sp>
      <p:sp>
        <p:nvSpPr>
          <p:cNvPr id="14" name="Rectangle 13"/>
          <p:cNvSpPr/>
          <p:nvPr/>
        </p:nvSpPr>
        <p:spPr>
          <a:xfrm>
            <a:off x="4297680" y="1554480"/>
            <a:ext cx="3749039" cy="2148840"/>
          </a:xfrm>
          <a:prstGeom prst="rect">
            <a:avLst/>
          </a:prstGeom>
          <a:solidFill>
            <a:srgbClr val="FFFFFF"/>
          </a:solidFill>
          <a:ln w="25400">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97680" y="1554480"/>
            <a:ext cx="3749039" cy="566928"/>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645920"/>
            <a:ext cx="3474720" cy="420624"/>
          </a:xfrm>
          <a:prstGeom prst="rect">
            <a:avLst/>
          </a:prstGeom>
          <a:noFill/>
        </p:spPr>
        <p:txBody>
          <a:bodyPr wrap="square">
            <a:spAutoFit/>
          </a:bodyPr>
          <a:lstStyle/>
          <a:p>
            <a:pPr algn="l"/>
            <a:r>
              <a:rPr sz="1400" b="1" i="0">
                <a:solidFill>
                  <a:srgbClr val="FFFFFF"/>
                </a:solidFill>
                <a:latin typeface="Calibri"/>
              </a:rPr>
              <a:t>🔒 Security</a:t>
            </a:r>
          </a:p>
        </p:txBody>
      </p:sp>
      <p:sp>
        <p:nvSpPr>
          <p:cNvPr id="17" name="TextBox 16"/>
          <p:cNvSpPr txBox="1"/>
          <p:nvPr/>
        </p:nvSpPr>
        <p:spPr>
          <a:xfrm>
            <a:off x="4434840" y="2212848"/>
            <a:ext cx="3474720" cy="1371600"/>
          </a:xfrm>
          <a:prstGeom prst="rect">
            <a:avLst/>
          </a:prstGeom>
          <a:noFill/>
        </p:spPr>
        <p:txBody>
          <a:bodyPr wrap="square">
            <a:spAutoFit/>
          </a:bodyPr>
          <a:lstStyle/>
          <a:p>
            <a:pPr algn="l"/>
            <a:r>
              <a:rPr sz="1100" b="0" i="0">
                <a:solidFill>
                  <a:srgbClr val="475569"/>
                </a:solidFill>
                <a:latin typeface="Calibri"/>
              </a:rPr>
              <a:t>• HTTPS enforced (TLS 1.3); OWASP Top-10 mitigated
• JWT tokens with 15-min expiry + refresh rotation
• Passwords bcrypt-hashed (cost factor ≥ 12)</a:t>
            </a:r>
          </a:p>
        </p:txBody>
      </p:sp>
      <p:sp>
        <p:nvSpPr>
          <p:cNvPr id="18" name="Rectangle 17"/>
          <p:cNvSpPr/>
          <p:nvPr/>
        </p:nvSpPr>
        <p:spPr>
          <a:xfrm>
            <a:off x="8229600" y="3886200"/>
            <a:ext cx="3749039" cy="2148840"/>
          </a:xfrm>
          <a:prstGeom prst="rect">
            <a:avLst/>
          </a:prstGeom>
          <a:solidFill>
            <a:srgbClr val="FFFFFF"/>
          </a:solidFill>
          <a:ln w="2540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229600" y="3886200"/>
            <a:ext cx="3749039" cy="56692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66760" y="3977639"/>
            <a:ext cx="3474720" cy="420624"/>
          </a:xfrm>
          <a:prstGeom prst="rect">
            <a:avLst/>
          </a:prstGeom>
          <a:noFill/>
        </p:spPr>
        <p:txBody>
          <a:bodyPr wrap="square">
            <a:spAutoFit/>
          </a:bodyPr>
          <a:lstStyle/>
          <a:p>
            <a:pPr algn="l"/>
            <a:r>
              <a:rPr sz="1400" b="1" i="0">
                <a:solidFill>
                  <a:srgbClr val="FFFFFF"/>
                </a:solidFill>
                <a:latin typeface="Calibri"/>
              </a:rPr>
              <a:t>📱 Usability</a:t>
            </a:r>
          </a:p>
        </p:txBody>
      </p:sp>
      <p:sp>
        <p:nvSpPr>
          <p:cNvPr id="21" name="TextBox 20"/>
          <p:cNvSpPr txBox="1"/>
          <p:nvPr/>
        </p:nvSpPr>
        <p:spPr>
          <a:xfrm>
            <a:off x="8366760" y="4544568"/>
            <a:ext cx="3474720" cy="1371600"/>
          </a:xfrm>
          <a:prstGeom prst="rect">
            <a:avLst/>
          </a:prstGeom>
          <a:noFill/>
        </p:spPr>
        <p:txBody>
          <a:bodyPr wrap="square">
            <a:spAutoFit/>
          </a:bodyPr>
          <a:lstStyle/>
          <a:p>
            <a:pPr algn="l"/>
            <a:r>
              <a:rPr sz="1100" b="0" i="0">
                <a:solidFill>
                  <a:srgbClr val="475569"/>
                </a:solidFill>
                <a:latin typeface="Calibri"/>
              </a:rPr>
              <a:t>• WCAG 2.1 AA accessibility compliance
• Responsive across 360 px–2560 px viewports
• SUS (System Usability Scale) target score ≥ 80</a:t>
            </a:r>
          </a:p>
        </p:txBody>
      </p:sp>
      <p:sp>
        <p:nvSpPr>
          <p:cNvPr id="22" name="Rectangle 21"/>
          <p:cNvSpPr/>
          <p:nvPr/>
        </p:nvSpPr>
        <p:spPr>
          <a:xfrm>
            <a:off x="365760" y="3886200"/>
            <a:ext cx="3749039" cy="2148840"/>
          </a:xfrm>
          <a:prstGeom prst="rect">
            <a:avLst/>
          </a:prstGeom>
          <a:solidFill>
            <a:srgbClr val="FFFFFF"/>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886200"/>
            <a:ext cx="3749039" cy="56692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2920" y="3977639"/>
            <a:ext cx="3474720" cy="420624"/>
          </a:xfrm>
          <a:prstGeom prst="rect">
            <a:avLst/>
          </a:prstGeom>
          <a:noFill/>
        </p:spPr>
        <p:txBody>
          <a:bodyPr wrap="square">
            <a:spAutoFit/>
          </a:bodyPr>
          <a:lstStyle/>
          <a:p>
            <a:pPr algn="l"/>
            <a:r>
              <a:rPr sz="1400" b="1" i="0">
                <a:solidFill>
                  <a:srgbClr val="FFFFFF"/>
                </a:solidFill>
                <a:latin typeface="Calibri"/>
              </a:rPr>
              <a:t>🔧 Maintainability</a:t>
            </a:r>
          </a:p>
        </p:txBody>
      </p:sp>
      <p:sp>
        <p:nvSpPr>
          <p:cNvPr id="25" name="TextBox 24"/>
          <p:cNvSpPr txBox="1"/>
          <p:nvPr/>
        </p:nvSpPr>
        <p:spPr>
          <a:xfrm>
            <a:off x="502920" y="4544568"/>
            <a:ext cx="3474720" cy="1371600"/>
          </a:xfrm>
          <a:prstGeom prst="rect">
            <a:avLst/>
          </a:prstGeom>
          <a:noFill/>
        </p:spPr>
        <p:txBody>
          <a:bodyPr wrap="square">
            <a:spAutoFit/>
          </a:bodyPr>
          <a:lstStyle/>
          <a:p>
            <a:pPr algn="l"/>
            <a:r>
              <a:rPr sz="1100" b="0" i="0">
                <a:solidFill>
                  <a:srgbClr val="475569"/>
                </a:solidFill>
                <a:latin typeface="Calibri"/>
              </a:rPr>
              <a:t>• Component-driven architecture; ≥ 80% unit-test coverage
• ESLint + Prettier enforced in CI pipeline
• Modular API layer; swap ML backend without UI changes</a:t>
            </a:r>
          </a:p>
        </p:txBody>
      </p:sp>
      <p:sp>
        <p:nvSpPr>
          <p:cNvPr id="26" name="Rectangle 25"/>
          <p:cNvSpPr/>
          <p:nvPr/>
        </p:nvSpPr>
        <p:spPr>
          <a:xfrm>
            <a:off x="4297680" y="6217920"/>
            <a:ext cx="3749039" cy="2148840"/>
          </a:xfrm>
          <a:prstGeom prst="rect">
            <a:avLst/>
          </a:prstGeom>
          <a:solidFill>
            <a:srgbClr val="FFFFFF"/>
          </a:solidFill>
          <a:ln w="25400">
            <a:solidFill>
              <a:srgbClr val="7C3A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297680" y="6217920"/>
            <a:ext cx="3749039" cy="5669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434840" y="6309359"/>
            <a:ext cx="3474720" cy="420624"/>
          </a:xfrm>
          <a:prstGeom prst="rect">
            <a:avLst/>
          </a:prstGeom>
          <a:noFill/>
        </p:spPr>
        <p:txBody>
          <a:bodyPr wrap="square">
            <a:spAutoFit/>
          </a:bodyPr>
          <a:lstStyle/>
          <a:p>
            <a:pPr algn="l"/>
            <a:r>
              <a:rPr sz="1400" b="1" i="0">
                <a:solidFill>
                  <a:srgbClr val="FFFFFF"/>
                </a:solidFill>
                <a:latin typeface="Calibri"/>
              </a:rPr>
              <a:t>📈 Scalability</a:t>
            </a:r>
          </a:p>
        </p:txBody>
      </p:sp>
      <p:sp>
        <p:nvSpPr>
          <p:cNvPr id="29" name="TextBox 28"/>
          <p:cNvSpPr txBox="1"/>
          <p:nvPr/>
        </p:nvSpPr>
        <p:spPr>
          <a:xfrm>
            <a:off x="4434840" y="6876288"/>
            <a:ext cx="3474720" cy="1371600"/>
          </a:xfrm>
          <a:prstGeom prst="rect">
            <a:avLst/>
          </a:prstGeom>
          <a:noFill/>
        </p:spPr>
        <p:txBody>
          <a:bodyPr wrap="square">
            <a:spAutoFit/>
          </a:bodyPr>
          <a:lstStyle/>
          <a:p>
            <a:pPr algn="l"/>
            <a:r>
              <a:rPr sz="1100" b="0" i="0">
                <a:solidFill>
                  <a:srgbClr val="475569"/>
                </a:solidFill>
                <a:latin typeface="Calibri"/>
              </a:rPr>
              <a:t>• Stateless frontend deployable on Vercel edge network
• Backend containerised (Docker) for horizontal scaling
• PostgreSQL with read-replica for high-load analytics</a:t>
            </a:r>
          </a:p>
        </p:txBody>
      </p:sp>
      <p:sp>
        <p:nvSpPr>
          <p:cNvPr id="30" name="Rectangle 29"/>
          <p:cNvSpPr/>
          <p:nvPr/>
        </p:nvSpPr>
        <p:spPr>
          <a:xfrm>
            <a:off x="8229600" y="6217920"/>
            <a:ext cx="3749039" cy="2148840"/>
          </a:xfrm>
          <a:prstGeom prst="rect">
            <a:avLst/>
          </a:prstGeom>
          <a:solidFill>
            <a:srgbClr val="FFFFFF"/>
          </a:solidFill>
          <a:ln w="25400">
            <a:solidFill>
              <a:srgbClr val="06956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229600" y="6217920"/>
            <a:ext cx="3749039" cy="566928"/>
          </a:xfrm>
          <a:prstGeom prst="rect">
            <a:avLst/>
          </a:prstGeom>
          <a:solidFill>
            <a:srgbClr val="0695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66760" y="6309359"/>
            <a:ext cx="3474720" cy="420624"/>
          </a:xfrm>
          <a:prstGeom prst="rect">
            <a:avLst/>
          </a:prstGeom>
          <a:noFill/>
        </p:spPr>
        <p:txBody>
          <a:bodyPr wrap="square">
            <a:spAutoFit/>
          </a:bodyPr>
          <a:lstStyle/>
          <a:p>
            <a:pPr algn="l"/>
            <a:r>
              <a:rPr sz="1400" b="1" i="0">
                <a:solidFill>
                  <a:srgbClr val="FFFFFF"/>
                </a:solidFill>
                <a:latin typeface="Calibri"/>
              </a:rPr>
              <a:t>✅ Reliability</a:t>
            </a:r>
          </a:p>
        </p:txBody>
      </p:sp>
      <p:sp>
        <p:nvSpPr>
          <p:cNvPr id="33" name="TextBox 32"/>
          <p:cNvSpPr txBox="1"/>
          <p:nvPr/>
        </p:nvSpPr>
        <p:spPr>
          <a:xfrm>
            <a:off x="8366760" y="6876288"/>
            <a:ext cx="3474720" cy="1371600"/>
          </a:xfrm>
          <a:prstGeom prst="rect">
            <a:avLst/>
          </a:prstGeom>
          <a:noFill/>
        </p:spPr>
        <p:txBody>
          <a:bodyPr wrap="square">
            <a:spAutoFit/>
          </a:bodyPr>
          <a:lstStyle/>
          <a:p>
            <a:pPr algn="l"/>
            <a:r>
              <a:rPr sz="1100" b="0" i="0">
                <a:solidFill>
                  <a:srgbClr val="475569"/>
                </a:solidFill>
                <a:latin typeface="Calibri"/>
              </a:rPr>
              <a:t>• 99.5% uptime SLA for production environment
• Graceful error handling; no raw stack traces exposed
• Daily automated database backups with 30-day retention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Entity-Relationship Diagram (ERD)</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Database conceptual model</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12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463040"/>
            <a:ext cx="4572000" cy="320040"/>
          </a:xfrm>
          <a:prstGeom prst="rect">
            <a:avLst/>
          </a:prstGeom>
          <a:noFill/>
        </p:spPr>
        <p:txBody>
          <a:bodyPr wrap="square">
            <a:spAutoFit/>
          </a:bodyPr>
          <a:lstStyle/>
          <a:p>
            <a:pPr algn="l"/>
            <a:r>
              <a:rPr sz="1000" b="0" i="0">
                <a:solidFill>
                  <a:srgbClr val="475569"/>
                </a:solidFill>
                <a:latin typeface="Calibri"/>
              </a:rPr>
              <a:t>🔑 Primary Key    🔗 Foreign Key</a:t>
            </a:r>
          </a:p>
        </p:txBody>
      </p:sp>
      <p:sp>
        <p:nvSpPr>
          <p:cNvPr id="11" name="Rectangle 10"/>
          <p:cNvSpPr/>
          <p:nvPr/>
        </p:nvSpPr>
        <p:spPr>
          <a:xfrm>
            <a:off x="365760" y="182880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1828800"/>
            <a:ext cx="2377440" cy="347472"/>
          </a:xfrm>
          <a:prstGeom prst="rect">
            <a:avLst/>
          </a:prstGeom>
          <a:noFill/>
        </p:spPr>
        <p:txBody>
          <a:bodyPr wrap="square">
            <a:spAutoFit/>
          </a:bodyPr>
          <a:lstStyle/>
          <a:p>
            <a:pPr algn="ctr"/>
            <a:r>
              <a:rPr sz="1200" b="1" i="0">
                <a:solidFill>
                  <a:srgbClr val="FFFFFF"/>
                </a:solidFill>
                <a:latin typeface="Calibri"/>
              </a:rPr>
              <a:t>USER</a:t>
            </a:r>
          </a:p>
        </p:txBody>
      </p:sp>
      <p:sp>
        <p:nvSpPr>
          <p:cNvPr id="13" name="Rectangle 12"/>
          <p:cNvSpPr/>
          <p:nvPr/>
        </p:nvSpPr>
        <p:spPr>
          <a:xfrm>
            <a:off x="365760" y="217627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2212848"/>
            <a:ext cx="2240280" cy="292608"/>
          </a:xfrm>
          <a:prstGeom prst="rect">
            <a:avLst/>
          </a:prstGeom>
          <a:noFill/>
        </p:spPr>
        <p:txBody>
          <a:bodyPr wrap="square">
            <a:spAutoFit/>
          </a:bodyPr>
          <a:lstStyle/>
          <a:p>
            <a:pPr algn="l"/>
            <a:r>
              <a:rPr sz="900" b="0" i="0">
                <a:solidFill>
                  <a:srgbClr val="0F172A"/>
                </a:solidFill>
                <a:latin typeface="Calibri"/>
              </a:rPr>
              <a:t>🔑 user_id  INT</a:t>
            </a:r>
          </a:p>
        </p:txBody>
      </p:sp>
      <p:sp>
        <p:nvSpPr>
          <p:cNvPr id="15" name="Rectangle 14"/>
          <p:cNvSpPr/>
          <p:nvPr/>
        </p:nvSpPr>
        <p:spPr>
          <a:xfrm>
            <a:off x="365760" y="2523744"/>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7200" y="2560320"/>
            <a:ext cx="2240280" cy="292608"/>
          </a:xfrm>
          <a:prstGeom prst="rect">
            <a:avLst/>
          </a:prstGeom>
          <a:noFill/>
        </p:spPr>
        <p:txBody>
          <a:bodyPr wrap="square">
            <a:spAutoFit/>
          </a:bodyPr>
          <a:lstStyle/>
          <a:p>
            <a:pPr algn="l"/>
            <a:r>
              <a:rPr sz="900" b="0" i="0">
                <a:solidFill>
                  <a:srgbClr val="0F172A"/>
                </a:solidFill>
                <a:latin typeface="Calibri"/>
              </a:rPr>
              <a:t>   full_name  VARCHAR</a:t>
            </a:r>
          </a:p>
        </p:txBody>
      </p:sp>
      <p:sp>
        <p:nvSpPr>
          <p:cNvPr id="17" name="Rectangle 16"/>
          <p:cNvSpPr/>
          <p:nvPr/>
        </p:nvSpPr>
        <p:spPr>
          <a:xfrm>
            <a:off x="365760" y="2871216"/>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 y="2907792"/>
            <a:ext cx="2240280" cy="292608"/>
          </a:xfrm>
          <a:prstGeom prst="rect">
            <a:avLst/>
          </a:prstGeom>
          <a:noFill/>
        </p:spPr>
        <p:txBody>
          <a:bodyPr wrap="square">
            <a:spAutoFit/>
          </a:bodyPr>
          <a:lstStyle/>
          <a:p>
            <a:pPr algn="l"/>
            <a:r>
              <a:rPr sz="900" b="0" i="0">
                <a:solidFill>
                  <a:srgbClr val="0F172A"/>
                </a:solidFill>
                <a:latin typeface="Calibri"/>
              </a:rPr>
              <a:t>   email  VARCHAR</a:t>
            </a:r>
          </a:p>
        </p:txBody>
      </p:sp>
      <p:sp>
        <p:nvSpPr>
          <p:cNvPr id="19" name="Rectangle 18"/>
          <p:cNvSpPr/>
          <p:nvPr/>
        </p:nvSpPr>
        <p:spPr>
          <a:xfrm>
            <a:off x="365760" y="3218688"/>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7200" y="3255264"/>
            <a:ext cx="2240280" cy="292608"/>
          </a:xfrm>
          <a:prstGeom prst="rect">
            <a:avLst/>
          </a:prstGeom>
          <a:noFill/>
        </p:spPr>
        <p:txBody>
          <a:bodyPr wrap="square">
            <a:spAutoFit/>
          </a:bodyPr>
          <a:lstStyle/>
          <a:p>
            <a:pPr algn="l"/>
            <a:r>
              <a:rPr sz="900" b="0" i="0">
                <a:solidFill>
                  <a:srgbClr val="0F172A"/>
                </a:solidFill>
                <a:latin typeface="Calibri"/>
              </a:rPr>
              <a:t>   password_hash  VARCHAR</a:t>
            </a:r>
          </a:p>
        </p:txBody>
      </p:sp>
      <p:sp>
        <p:nvSpPr>
          <p:cNvPr id="21" name="Rectangle 20"/>
          <p:cNvSpPr/>
          <p:nvPr/>
        </p:nvSpPr>
        <p:spPr>
          <a:xfrm>
            <a:off x="365760" y="356616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7200" y="3602736"/>
            <a:ext cx="2240280" cy="292608"/>
          </a:xfrm>
          <a:prstGeom prst="rect">
            <a:avLst/>
          </a:prstGeom>
          <a:noFill/>
        </p:spPr>
        <p:txBody>
          <a:bodyPr wrap="square">
            <a:spAutoFit/>
          </a:bodyPr>
          <a:lstStyle/>
          <a:p>
            <a:pPr algn="l"/>
            <a:r>
              <a:rPr sz="900" b="0" i="0">
                <a:solidFill>
                  <a:srgbClr val="0F172A"/>
                </a:solidFill>
                <a:latin typeface="Calibri"/>
              </a:rPr>
              <a:t>   skin_type  ENUM</a:t>
            </a:r>
          </a:p>
        </p:txBody>
      </p:sp>
      <p:sp>
        <p:nvSpPr>
          <p:cNvPr id="23" name="Rectangle 22"/>
          <p:cNvSpPr/>
          <p:nvPr/>
        </p:nvSpPr>
        <p:spPr>
          <a:xfrm>
            <a:off x="365760" y="3913632"/>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 y="3950208"/>
            <a:ext cx="2240280" cy="292608"/>
          </a:xfrm>
          <a:prstGeom prst="rect">
            <a:avLst/>
          </a:prstGeom>
          <a:noFill/>
        </p:spPr>
        <p:txBody>
          <a:bodyPr wrap="square">
            <a:spAutoFit/>
          </a:bodyPr>
          <a:lstStyle/>
          <a:p>
            <a:pPr algn="l"/>
            <a:r>
              <a:rPr sz="900" b="0" i="0">
                <a:solidFill>
                  <a:srgbClr val="0F172A"/>
                </a:solidFill>
                <a:latin typeface="Calibri"/>
              </a:rPr>
              <a:t>   created_at  TIMESTAMP</a:t>
            </a:r>
          </a:p>
        </p:txBody>
      </p:sp>
      <p:sp>
        <p:nvSpPr>
          <p:cNvPr id="25" name="Rectangle 24"/>
          <p:cNvSpPr/>
          <p:nvPr/>
        </p:nvSpPr>
        <p:spPr>
          <a:xfrm>
            <a:off x="3017520" y="182880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017520" y="1828800"/>
            <a:ext cx="2377440" cy="347472"/>
          </a:xfrm>
          <a:prstGeom prst="rect">
            <a:avLst/>
          </a:prstGeom>
          <a:noFill/>
        </p:spPr>
        <p:txBody>
          <a:bodyPr wrap="square">
            <a:spAutoFit/>
          </a:bodyPr>
          <a:lstStyle/>
          <a:p>
            <a:pPr algn="ctr"/>
            <a:r>
              <a:rPr sz="1200" b="1" i="0">
                <a:solidFill>
                  <a:srgbClr val="FFFFFF"/>
                </a:solidFill>
                <a:latin typeface="Calibri"/>
              </a:rPr>
              <a:t>SKIN_ANALYSIS</a:t>
            </a:r>
          </a:p>
        </p:txBody>
      </p:sp>
      <p:sp>
        <p:nvSpPr>
          <p:cNvPr id="27" name="Rectangle 26"/>
          <p:cNvSpPr/>
          <p:nvPr/>
        </p:nvSpPr>
        <p:spPr>
          <a:xfrm>
            <a:off x="3017520" y="217627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108960" y="2212848"/>
            <a:ext cx="2240280" cy="292608"/>
          </a:xfrm>
          <a:prstGeom prst="rect">
            <a:avLst/>
          </a:prstGeom>
          <a:noFill/>
        </p:spPr>
        <p:txBody>
          <a:bodyPr wrap="square">
            <a:spAutoFit/>
          </a:bodyPr>
          <a:lstStyle/>
          <a:p>
            <a:pPr algn="l"/>
            <a:r>
              <a:rPr sz="900" b="0" i="0">
                <a:solidFill>
                  <a:srgbClr val="0F172A"/>
                </a:solidFill>
                <a:latin typeface="Calibri"/>
              </a:rPr>
              <a:t>🔑 analysis_id  INT</a:t>
            </a:r>
          </a:p>
        </p:txBody>
      </p:sp>
      <p:sp>
        <p:nvSpPr>
          <p:cNvPr id="29" name="Rectangle 28"/>
          <p:cNvSpPr/>
          <p:nvPr/>
        </p:nvSpPr>
        <p:spPr>
          <a:xfrm>
            <a:off x="3017520" y="2523744"/>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108960" y="2560320"/>
            <a:ext cx="2240280" cy="292608"/>
          </a:xfrm>
          <a:prstGeom prst="rect">
            <a:avLst/>
          </a:prstGeom>
          <a:noFill/>
        </p:spPr>
        <p:txBody>
          <a:bodyPr wrap="square">
            <a:spAutoFit/>
          </a:bodyPr>
          <a:lstStyle/>
          <a:p>
            <a:pPr algn="l"/>
            <a:r>
              <a:rPr sz="900" b="0" i="0">
                <a:solidFill>
                  <a:srgbClr val="0F172A"/>
                </a:solidFill>
                <a:latin typeface="Calibri"/>
              </a:rPr>
              <a:t>🔗 user_id  INT</a:t>
            </a:r>
          </a:p>
        </p:txBody>
      </p:sp>
      <p:sp>
        <p:nvSpPr>
          <p:cNvPr id="31" name="Rectangle 30"/>
          <p:cNvSpPr/>
          <p:nvPr/>
        </p:nvSpPr>
        <p:spPr>
          <a:xfrm>
            <a:off x="3017520" y="2871216"/>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108960" y="2907792"/>
            <a:ext cx="2240280" cy="292608"/>
          </a:xfrm>
          <a:prstGeom prst="rect">
            <a:avLst/>
          </a:prstGeom>
          <a:noFill/>
        </p:spPr>
        <p:txBody>
          <a:bodyPr wrap="square">
            <a:spAutoFit/>
          </a:bodyPr>
          <a:lstStyle/>
          <a:p>
            <a:pPr algn="l"/>
            <a:r>
              <a:rPr sz="900" b="0" i="0">
                <a:solidFill>
                  <a:srgbClr val="0F172A"/>
                </a:solidFill>
                <a:latin typeface="Calibri"/>
              </a:rPr>
              <a:t>   image_url  TEXT</a:t>
            </a:r>
          </a:p>
        </p:txBody>
      </p:sp>
      <p:sp>
        <p:nvSpPr>
          <p:cNvPr id="33" name="Rectangle 32"/>
          <p:cNvSpPr/>
          <p:nvPr/>
        </p:nvSpPr>
        <p:spPr>
          <a:xfrm>
            <a:off x="3017520" y="3218688"/>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108960" y="3255264"/>
            <a:ext cx="2240280" cy="292608"/>
          </a:xfrm>
          <a:prstGeom prst="rect">
            <a:avLst/>
          </a:prstGeom>
          <a:noFill/>
        </p:spPr>
        <p:txBody>
          <a:bodyPr wrap="square">
            <a:spAutoFit/>
          </a:bodyPr>
          <a:lstStyle/>
          <a:p>
            <a:pPr algn="l"/>
            <a:r>
              <a:rPr sz="900" b="0" i="0">
                <a:solidFill>
                  <a:srgbClr val="0F172A"/>
                </a:solidFill>
                <a:latin typeface="Calibri"/>
              </a:rPr>
              <a:t>   condition  VARCHAR</a:t>
            </a:r>
          </a:p>
        </p:txBody>
      </p:sp>
      <p:sp>
        <p:nvSpPr>
          <p:cNvPr id="35" name="Rectangle 34"/>
          <p:cNvSpPr/>
          <p:nvPr/>
        </p:nvSpPr>
        <p:spPr>
          <a:xfrm>
            <a:off x="3017520" y="356616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3108960" y="3602736"/>
            <a:ext cx="2240280" cy="292608"/>
          </a:xfrm>
          <a:prstGeom prst="rect">
            <a:avLst/>
          </a:prstGeom>
          <a:noFill/>
        </p:spPr>
        <p:txBody>
          <a:bodyPr wrap="square">
            <a:spAutoFit/>
          </a:bodyPr>
          <a:lstStyle/>
          <a:p>
            <a:pPr algn="l"/>
            <a:r>
              <a:rPr sz="900" b="0" i="0">
                <a:solidFill>
                  <a:srgbClr val="0F172A"/>
                </a:solidFill>
                <a:latin typeface="Calibri"/>
              </a:rPr>
              <a:t>   confidence  FLOAT</a:t>
            </a:r>
          </a:p>
        </p:txBody>
      </p:sp>
      <p:sp>
        <p:nvSpPr>
          <p:cNvPr id="37" name="Rectangle 36"/>
          <p:cNvSpPr/>
          <p:nvPr/>
        </p:nvSpPr>
        <p:spPr>
          <a:xfrm>
            <a:off x="3017520" y="3913632"/>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108960" y="3950208"/>
            <a:ext cx="2240280" cy="292608"/>
          </a:xfrm>
          <a:prstGeom prst="rect">
            <a:avLst/>
          </a:prstGeom>
          <a:noFill/>
        </p:spPr>
        <p:txBody>
          <a:bodyPr wrap="square">
            <a:spAutoFit/>
          </a:bodyPr>
          <a:lstStyle/>
          <a:p>
            <a:pPr algn="l"/>
            <a:r>
              <a:rPr sz="900" b="0" i="0">
                <a:solidFill>
                  <a:srgbClr val="0F172A"/>
                </a:solidFill>
                <a:latin typeface="Calibri"/>
              </a:rPr>
              <a:t>   analysed_at  TIMESTAMP</a:t>
            </a:r>
          </a:p>
        </p:txBody>
      </p:sp>
      <p:sp>
        <p:nvSpPr>
          <p:cNvPr id="39" name="Rectangle 38"/>
          <p:cNvSpPr/>
          <p:nvPr/>
        </p:nvSpPr>
        <p:spPr>
          <a:xfrm>
            <a:off x="5852160" y="182880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852160" y="1828800"/>
            <a:ext cx="2377440" cy="347472"/>
          </a:xfrm>
          <a:prstGeom prst="rect">
            <a:avLst/>
          </a:prstGeom>
          <a:noFill/>
        </p:spPr>
        <p:txBody>
          <a:bodyPr wrap="square">
            <a:spAutoFit/>
          </a:bodyPr>
          <a:lstStyle/>
          <a:p>
            <a:pPr algn="ctr"/>
            <a:r>
              <a:rPr sz="1200" b="1" i="0">
                <a:solidFill>
                  <a:srgbClr val="FFFFFF"/>
                </a:solidFill>
                <a:latin typeface="Calibri"/>
              </a:rPr>
              <a:t>PRODUCT</a:t>
            </a:r>
          </a:p>
        </p:txBody>
      </p:sp>
      <p:sp>
        <p:nvSpPr>
          <p:cNvPr id="41" name="Rectangle 40"/>
          <p:cNvSpPr/>
          <p:nvPr/>
        </p:nvSpPr>
        <p:spPr>
          <a:xfrm>
            <a:off x="5852160" y="217627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943600" y="2212848"/>
            <a:ext cx="2240280" cy="292608"/>
          </a:xfrm>
          <a:prstGeom prst="rect">
            <a:avLst/>
          </a:prstGeom>
          <a:noFill/>
        </p:spPr>
        <p:txBody>
          <a:bodyPr wrap="square">
            <a:spAutoFit/>
          </a:bodyPr>
          <a:lstStyle/>
          <a:p>
            <a:pPr algn="l"/>
            <a:r>
              <a:rPr sz="900" b="0" i="0">
                <a:solidFill>
                  <a:srgbClr val="0F172A"/>
                </a:solidFill>
                <a:latin typeface="Calibri"/>
              </a:rPr>
              <a:t>🔑 product_id  INT</a:t>
            </a:r>
          </a:p>
        </p:txBody>
      </p:sp>
      <p:sp>
        <p:nvSpPr>
          <p:cNvPr id="43" name="Rectangle 42"/>
          <p:cNvSpPr/>
          <p:nvPr/>
        </p:nvSpPr>
        <p:spPr>
          <a:xfrm>
            <a:off x="5852160" y="2523744"/>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943600" y="2560320"/>
            <a:ext cx="2240280" cy="292608"/>
          </a:xfrm>
          <a:prstGeom prst="rect">
            <a:avLst/>
          </a:prstGeom>
          <a:noFill/>
        </p:spPr>
        <p:txBody>
          <a:bodyPr wrap="square">
            <a:spAutoFit/>
          </a:bodyPr>
          <a:lstStyle/>
          <a:p>
            <a:pPr algn="l"/>
            <a:r>
              <a:rPr sz="900" b="0" i="0">
                <a:solidFill>
                  <a:srgbClr val="0F172A"/>
                </a:solidFill>
                <a:latin typeface="Calibri"/>
              </a:rPr>
              <a:t>   name  VARCHAR</a:t>
            </a:r>
          </a:p>
        </p:txBody>
      </p:sp>
      <p:sp>
        <p:nvSpPr>
          <p:cNvPr id="45" name="Rectangle 44"/>
          <p:cNvSpPr/>
          <p:nvPr/>
        </p:nvSpPr>
        <p:spPr>
          <a:xfrm>
            <a:off x="5852160" y="2871216"/>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943600" y="2907792"/>
            <a:ext cx="2240280" cy="292608"/>
          </a:xfrm>
          <a:prstGeom prst="rect">
            <a:avLst/>
          </a:prstGeom>
          <a:noFill/>
        </p:spPr>
        <p:txBody>
          <a:bodyPr wrap="square">
            <a:spAutoFit/>
          </a:bodyPr>
          <a:lstStyle/>
          <a:p>
            <a:pPr algn="l"/>
            <a:r>
              <a:rPr sz="900" b="0" i="0">
                <a:solidFill>
                  <a:srgbClr val="0F172A"/>
                </a:solidFill>
                <a:latin typeface="Calibri"/>
              </a:rPr>
              <a:t>   category  VARCHAR</a:t>
            </a:r>
          </a:p>
        </p:txBody>
      </p:sp>
      <p:sp>
        <p:nvSpPr>
          <p:cNvPr id="47" name="Rectangle 46"/>
          <p:cNvSpPr/>
          <p:nvPr/>
        </p:nvSpPr>
        <p:spPr>
          <a:xfrm>
            <a:off x="5852160" y="3218688"/>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943600" y="3255264"/>
            <a:ext cx="2240280" cy="292608"/>
          </a:xfrm>
          <a:prstGeom prst="rect">
            <a:avLst/>
          </a:prstGeom>
          <a:noFill/>
        </p:spPr>
        <p:txBody>
          <a:bodyPr wrap="square">
            <a:spAutoFit/>
          </a:bodyPr>
          <a:lstStyle/>
          <a:p>
            <a:pPr algn="l"/>
            <a:r>
              <a:rPr sz="900" b="0" i="0">
                <a:solidFill>
                  <a:srgbClr val="0F172A"/>
                </a:solidFill>
                <a:latin typeface="Calibri"/>
              </a:rPr>
              <a:t>   skin_type  ENUM</a:t>
            </a:r>
          </a:p>
        </p:txBody>
      </p:sp>
      <p:sp>
        <p:nvSpPr>
          <p:cNvPr id="49" name="Rectangle 48"/>
          <p:cNvSpPr/>
          <p:nvPr/>
        </p:nvSpPr>
        <p:spPr>
          <a:xfrm>
            <a:off x="5852160" y="356616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5943600" y="3602736"/>
            <a:ext cx="2240280" cy="292608"/>
          </a:xfrm>
          <a:prstGeom prst="rect">
            <a:avLst/>
          </a:prstGeom>
          <a:noFill/>
        </p:spPr>
        <p:txBody>
          <a:bodyPr wrap="square">
            <a:spAutoFit/>
          </a:bodyPr>
          <a:lstStyle/>
          <a:p>
            <a:pPr algn="l"/>
            <a:r>
              <a:rPr sz="900" b="0" i="0">
                <a:solidFill>
                  <a:srgbClr val="0F172A"/>
                </a:solidFill>
                <a:latin typeface="Calibri"/>
              </a:rPr>
              <a:t>   price  DECIMAL</a:t>
            </a:r>
          </a:p>
        </p:txBody>
      </p:sp>
      <p:sp>
        <p:nvSpPr>
          <p:cNvPr id="51" name="Rectangle 50"/>
          <p:cNvSpPr/>
          <p:nvPr/>
        </p:nvSpPr>
        <p:spPr>
          <a:xfrm>
            <a:off x="5852160" y="3913632"/>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943600" y="3950208"/>
            <a:ext cx="2240280" cy="292608"/>
          </a:xfrm>
          <a:prstGeom prst="rect">
            <a:avLst/>
          </a:prstGeom>
          <a:noFill/>
        </p:spPr>
        <p:txBody>
          <a:bodyPr wrap="square">
            <a:spAutoFit/>
          </a:bodyPr>
          <a:lstStyle/>
          <a:p>
            <a:pPr algn="l"/>
            <a:r>
              <a:rPr sz="900" b="0" i="0">
                <a:solidFill>
                  <a:srgbClr val="0F172A"/>
                </a:solidFill>
                <a:latin typeface="Calibri"/>
              </a:rPr>
              <a:t>   stock  INT</a:t>
            </a:r>
          </a:p>
        </p:txBody>
      </p:sp>
      <p:sp>
        <p:nvSpPr>
          <p:cNvPr id="53" name="Rectangle 52"/>
          <p:cNvSpPr/>
          <p:nvPr/>
        </p:nvSpPr>
        <p:spPr>
          <a:xfrm>
            <a:off x="8686800" y="182880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686800" y="1828800"/>
            <a:ext cx="2377440" cy="347472"/>
          </a:xfrm>
          <a:prstGeom prst="rect">
            <a:avLst/>
          </a:prstGeom>
          <a:noFill/>
        </p:spPr>
        <p:txBody>
          <a:bodyPr wrap="square">
            <a:spAutoFit/>
          </a:bodyPr>
          <a:lstStyle/>
          <a:p>
            <a:pPr algn="ctr"/>
            <a:r>
              <a:rPr sz="1200" b="1" i="0">
                <a:solidFill>
                  <a:srgbClr val="FFFFFF"/>
                </a:solidFill>
                <a:latin typeface="Calibri"/>
              </a:rPr>
              <a:t>ORDER</a:t>
            </a:r>
          </a:p>
        </p:txBody>
      </p:sp>
      <p:sp>
        <p:nvSpPr>
          <p:cNvPr id="55" name="Rectangle 54"/>
          <p:cNvSpPr/>
          <p:nvPr/>
        </p:nvSpPr>
        <p:spPr>
          <a:xfrm>
            <a:off x="8686800" y="217627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778240" y="2212848"/>
            <a:ext cx="2240280" cy="292608"/>
          </a:xfrm>
          <a:prstGeom prst="rect">
            <a:avLst/>
          </a:prstGeom>
          <a:noFill/>
        </p:spPr>
        <p:txBody>
          <a:bodyPr wrap="square">
            <a:spAutoFit/>
          </a:bodyPr>
          <a:lstStyle/>
          <a:p>
            <a:pPr algn="l"/>
            <a:r>
              <a:rPr sz="900" b="0" i="0">
                <a:solidFill>
                  <a:srgbClr val="0F172A"/>
                </a:solidFill>
                <a:latin typeface="Calibri"/>
              </a:rPr>
              <a:t>🔑 order_id  INT</a:t>
            </a:r>
          </a:p>
        </p:txBody>
      </p:sp>
      <p:sp>
        <p:nvSpPr>
          <p:cNvPr id="57" name="Rectangle 56"/>
          <p:cNvSpPr/>
          <p:nvPr/>
        </p:nvSpPr>
        <p:spPr>
          <a:xfrm>
            <a:off x="8686800" y="2523744"/>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8778240" y="2560320"/>
            <a:ext cx="2240280" cy="292608"/>
          </a:xfrm>
          <a:prstGeom prst="rect">
            <a:avLst/>
          </a:prstGeom>
          <a:noFill/>
        </p:spPr>
        <p:txBody>
          <a:bodyPr wrap="square">
            <a:spAutoFit/>
          </a:bodyPr>
          <a:lstStyle/>
          <a:p>
            <a:pPr algn="l"/>
            <a:r>
              <a:rPr sz="900" b="0" i="0">
                <a:solidFill>
                  <a:srgbClr val="0F172A"/>
                </a:solidFill>
                <a:latin typeface="Calibri"/>
              </a:rPr>
              <a:t>🔗 user_id  INT</a:t>
            </a:r>
          </a:p>
        </p:txBody>
      </p:sp>
      <p:sp>
        <p:nvSpPr>
          <p:cNvPr id="59" name="Rectangle 58"/>
          <p:cNvSpPr/>
          <p:nvPr/>
        </p:nvSpPr>
        <p:spPr>
          <a:xfrm>
            <a:off x="8686800" y="2871216"/>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778240" y="2907792"/>
            <a:ext cx="2240280" cy="292608"/>
          </a:xfrm>
          <a:prstGeom prst="rect">
            <a:avLst/>
          </a:prstGeom>
          <a:noFill/>
        </p:spPr>
        <p:txBody>
          <a:bodyPr wrap="square">
            <a:spAutoFit/>
          </a:bodyPr>
          <a:lstStyle/>
          <a:p>
            <a:pPr algn="l"/>
            <a:r>
              <a:rPr sz="900" b="0" i="0">
                <a:solidFill>
                  <a:srgbClr val="0F172A"/>
                </a:solidFill>
                <a:latin typeface="Calibri"/>
              </a:rPr>
              <a:t>   total_amount  DECIMAL</a:t>
            </a:r>
          </a:p>
        </p:txBody>
      </p:sp>
      <p:sp>
        <p:nvSpPr>
          <p:cNvPr id="61" name="Rectangle 60"/>
          <p:cNvSpPr/>
          <p:nvPr/>
        </p:nvSpPr>
        <p:spPr>
          <a:xfrm>
            <a:off x="8686800" y="3218688"/>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8778240" y="3255264"/>
            <a:ext cx="2240280" cy="292608"/>
          </a:xfrm>
          <a:prstGeom prst="rect">
            <a:avLst/>
          </a:prstGeom>
          <a:noFill/>
        </p:spPr>
        <p:txBody>
          <a:bodyPr wrap="square">
            <a:spAutoFit/>
          </a:bodyPr>
          <a:lstStyle/>
          <a:p>
            <a:pPr algn="l"/>
            <a:r>
              <a:rPr sz="900" b="0" i="0">
                <a:solidFill>
                  <a:srgbClr val="0F172A"/>
                </a:solidFill>
                <a:latin typeface="Calibri"/>
              </a:rPr>
              <a:t>   payment_method  VARCHAR</a:t>
            </a:r>
          </a:p>
        </p:txBody>
      </p:sp>
      <p:sp>
        <p:nvSpPr>
          <p:cNvPr id="63" name="Rectangle 62"/>
          <p:cNvSpPr/>
          <p:nvPr/>
        </p:nvSpPr>
        <p:spPr>
          <a:xfrm>
            <a:off x="8686800" y="356616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778240" y="3602736"/>
            <a:ext cx="2240280" cy="292608"/>
          </a:xfrm>
          <a:prstGeom prst="rect">
            <a:avLst/>
          </a:prstGeom>
          <a:noFill/>
        </p:spPr>
        <p:txBody>
          <a:bodyPr wrap="square">
            <a:spAutoFit/>
          </a:bodyPr>
          <a:lstStyle/>
          <a:p>
            <a:pPr algn="l"/>
            <a:r>
              <a:rPr sz="900" b="0" i="0">
                <a:solidFill>
                  <a:srgbClr val="0F172A"/>
                </a:solidFill>
                <a:latin typeface="Calibri"/>
              </a:rPr>
              <a:t>   status  ENUM</a:t>
            </a:r>
          </a:p>
        </p:txBody>
      </p:sp>
      <p:sp>
        <p:nvSpPr>
          <p:cNvPr id="65" name="Rectangle 64"/>
          <p:cNvSpPr/>
          <p:nvPr/>
        </p:nvSpPr>
        <p:spPr>
          <a:xfrm>
            <a:off x="8686800" y="3913632"/>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8778240" y="3950208"/>
            <a:ext cx="2240280" cy="292608"/>
          </a:xfrm>
          <a:prstGeom prst="rect">
            <a:avLst/>
          </a:prstGeom>
          <a:noFill/>
        </p:spPr>
        <p:txBody>
          <a:bodyPr wrap="square">
            <a:spAutoFit/>
          </a:bodyPr>
          <a:lstStyle/>
          <a:p>
            <a:pPr algn="l"/>
            <a:r>
              <a:rPr sz="900" b="0" i="0">
                <a:solidFill>
                  <a:srgbClr val="0F172A"/>
                </a:solidFill>
                <a:latin typeface="Calibri"/>
              </a:rPr>
              <a:t>   ordered_at  TIMESTAMP</a:t>
            </a:r>
          </a:p>
        </p:txBody>
      </p:sp>
      <p:sp>
        <p:nvSpPr>
          <p:cNvPr id="67" name="Rectangle 66"/>
          <p:cNvSpPr/>
          <p:nvPr/>
        </p:nvSpPr>
        <p:spPr>
          <a:xfrm>
            <a:off x="8686800" y="466344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8686800" y="4663440"/>
            <a:ext cx="2377440" cy="347472"/>
          </a:xfrm>
          <a:prstGeom prst="rect">
            <a:avLst/>
          </a:prstGeom>
          <a:noFill/>
        </p:spPr>
        <p:txBody>
          <a:bodyPr wrap="square">
            <a:spAutoFit/>
          </a:bodyPr>
          <a:lstStyle/>
          <a:p>
            <a:pPr algn="ctr"/>
            <a:r>
              <a:rPr sz="1200" b="1" i="0">
                <a:solidFill>
                  <a:srgbClr val="FFFFFF"/>
                </a:solidFill>
                <a:latin typeface="Calibri"/>
              </a:rPr>
              <a:t>ORDER_ITEM</a:t>
            </a:r>
          </a:p>
        </p:txBody>
      </p:sp>
      <p:sp>
        <p:nvSpPr>
          <p:cNvPr id="69" name="Rectangle 68"/>
          <p:cNvSpPr/>
          <p:nvPr/>
        </p:nvSpPr>
        <p:spPr>
          <a:xfrm>
            <a:off x="8686800" y="501091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8778240" y="5047488"/>
            <a:ext cx="2240280" cy="292608"/>
          </a:xfrm>
          <a:prstGeom prst="rect">
            <a:avLst/>
          </a:prstGeom>
          <a:noFill/>
        </p:spPr>
        <p:txBody>
          <a:bodyPr wrap="square">
            <a:spAutoFit/>
          </a:bodyPr>
          <a:lstStyle/>
          <a:p>
            <a:pPr algn="l"/>
            <a:r>
              <a:rPr sz="900" b="0" i="0">
                <a:solidFill>
                  <a:srgbClr val="0F172A"/>
                </a:solidFill>
                <a:latin typeface="Calibri"/>
              </a:rPr>
              <a:t>🔑 item_id  INT</a:t>
            </a:r>
          </a:p>
        </p:txBody>
      </p:sp>
      <p:sp>
        <p:nvSpPr>
          <p:cNvPr id="71" name="Rectangle 70"/>
          <p:cNvSpPr/>
          <p:nvPr/>
        </p:nvSpPr>
        <p:spPr>
          <a:xfrm>
            <a:off x="8686800" y="5358383"/>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8778240" y="5394959"/>
            <a:ext cx="2240280" cy="292608"/>
          </a:xfrm>
          <a:prstGeom prst="rect">
            <a:avLst/>
          </a:prstGeom>
          <a:noFill/>
        </p:spPr>
        <p:txBody>
          <a:bodyPr wrap="square">
            <a:spAutoFit/>
          </a:bodyPr>
          <a:lstStyle/>
          <a:p>
            <a:pPr algn="l"/>
            <a:r>
              <a:rPr sz="900" b="0" i="0">
                <a:solidFill>
                  <a:srgbClr val="0F172A"/>
                </a:solidFill>
                <a:latin typeface="Calibri"/>
              </a:rPr>
              <a:t>🔗 order_id  INT</a:t>
            </a:r>
          </a:p>
        </p:txBody>
      </p:sp>
      <p:sp>
        <p:nvSpPr>
          <p:cNvPr id="73" name="Rectangle 72"/>
          <p:cNvSpPr/>
          <p:nvPr/>
        </p:nvSpPr>
        <p:spPr>
          <a:xfrm>
            <a:off x="8686800" y="5705856"/>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8778240" y="5742432"/>
            <a:ext cx="2240280" cy="292608"/>
          </a:xfrm>
          <a:prstGeom prst="rect">
            <a:avLst/>
          </a:prstGeom>
          <a:noFill/>
        </p:spPr>
        <p:txBody>
          <a:bodyPr wrap="square">
            <a:spAutoFit/>
          </a:bodyPr>
          <a:lstStyle/>
          <a:p>
            <a:pPr algn="l"/>
            <a:r>
              <a:rPr sz="900" b="0" i="0">
                <a:solidFill>
                  <a:srgbClr val="0F172A"/>
                </a:solidFill>
                <a:latin typeface="Calibri"/>
              </a:rPr>
              <a:t>🔗 product_id  INT</a:t>
            </a:r>
          </a:p>
        </p:txBody>
      </p:sp>
      <p:sp>
        <p:nvSpPr>
          <p:cNvPr id="75" name="Rectangle 74"/>
          <p:cNvSpPr/>
          <p:nvPr/>
        </p:nvSpPr>
        <p:spPr>
          <a:xfrm>
            <a:off x="8686800" y="6053327"/>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8778240" y="6089903"/>
            <a:ext cx="2240280" cy="292608"/>
          </a:xfrm>
          <a:prstGeom prst="rect">
            <a:avLst/>
          </a:prstGeom>
          <a:noFill/>
        </p:spPr>
        <p:txBody>
          <a:bodyPr wrap="square">
            <a:spAutoFit/>
          </a:bodyPr>
          <a:lstStyle/>
          <a:p>
            <a:pPr algn="l"/>
            <a:r>
              <a:rPr sz="900" b="0" i="0">
                <a:solidFill>
                  <a:srgbClr val="0F172A"/>
                </a:solidFill>
                <a:latin typeface="Calibri"/>
              </a:rPr>
              <a:t>   quantity  INT</a:t>
            </a:r>
          </a:p>
        </p:txBody>
      </p:sp>
      <p:sp>
        <p:nvSpPr>
          <p:cNvPr id="77" name="Rectangle 76"/>
          <p:cNvSpPr/>
          <p:nvPr/>
        </p:nvSpPr>
        <p:spPr>
          <a:xfrm>
            <a:off x="8686800" y="640080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8778240" y="6437376"/>
            <a:ext cx="2240280" cy="292608"/>
          </a:xfrm>
          <a:prstGeom prst="rect">
            <a:avLst/>
          </a:prstGeom>
          <a:noFill/>
        </p:spPr>
        <p:txBody>
          <a:bodyPr wrap="square">
            <a:spAutoFit/>
          </a:bodyPr>
          <a:lstStyle/>
          <a:p>
            <a:pPr algn="l"/>
            <a:r>
              <a:rPr sz="900" b="0" i="0">
                <a:solidFill>
                  <a:srgbClr val="0F172A"/>
                </a:solidFill>
                <a:latin typeface="Calibri"/>
              </a:rPr>
              <a:t>   unit_price  DECIMAL</a:t>
            </a:r>
          </a:p>
        </p:txBody>
      </p:sp>
      <p:sp>
        <p:nvSpPr>
          <p:cNvPr id="79" name="Rectangle 78"/>
          <p:cNvSpPr/>
          <p:nvPr/>
        </p:nvSpPr>
        <p:spPr>
          <a:xfrm>
            <a:off x="365760" y="4663440"/>
            <a:ext cx="2377440" cy="34747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365760" y="4663440"/>
            <a:ext cx="2377440" cy="347472"/>
          </a:xfrm>
          <a:prstGeom prst="rect">
            <a:avLst/>
          </a:prstGeom>
          <a:noFill/>
        </p:spPr>
        <p:txBody>
          <a:bodyPr wrap="square">
            <a:spAutoFit/>
          </a:bodyPr>
          <a:lstStyle/>
          <a:p>
            <a:pPr algn="ctr"/>
            <a:r>
              <a:rPr sz="1200" b="1" i="0">
                <a:solidFill>
                  <a:srgbClr val="FFFFFF"/>
                </a:solidFill>
                <a:latin typeface="Calibri"/>
              </a:rPr>
              <a:t>NOTIFICATION</a:t>
            </a:r>
          </a:p>
        </p:txBody>
      </p:sp>
      <p:sp>
        <p:nvSpPr>
          <p:cNvPr id="81" name="Rectangle 80"/>
          <p:cNvSpPr/>
          <p:nvPr/>
        </p:nvSpPr>
        <p:spPr>
          <a:xfrm>
            <a:off x="365760" y="5010912"/>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7200" y="5047488"/>
            <a:ext cx="2240280" cy="292608"/>
          </a:xfrm>
          <a:prstGeom prst="rect">
            <a:avLst/>
          </a:prstGeom>
          <a:noFill/>
        </p:spPr>
        <p:txBody>
          <a:bodyPr wrap="square">
            <a:spAutoFit/>
          </a:bodyPr>
          <a:lstStyle/>
          <a:p>
            <a:pPr algn="l"/>
            <a:r>
              <a:rPr sz="900" b="0" i="0">
                <a:solidFill>
                  <a:srgbClr val="0F172A"/>
                </a:solidFill>
                <a:latin typeface="Calibri"/>
              </a:rPr>
              <a:t>🔑 notif_id  INT</a:t>
            </a:r>
          </a:p>
        </p:txBody>
      </p:sp>
      <p:sp>
        <p:nvSpPr>
          <p:cNvPr id="83" name="Rectangle 82"/>
          <p:cNvSpPr/>
          <p:nvPr/>
        </p:nvSpPr>
        <p:spPr>
          <a:xfrm>
            <a:off x="365760" y="5358383"/>
            <a:ext cx="2377440" cy="347472"/>
          </a:xfrm>
          <a:prstGeom prst="rect">
            <a:avLst/>
          </a:prstGeom>
          <a:solidFill>
            <a:srgbClr val="DBEAFE"/>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457200" y="5394959"/>
            <a:ext cx="2240280" cy="292608"/>
          </a:xfrm>
          <a:prstGeom prst="rect">
            <a:avLst/>
          </a:prstGeom>
          <a:noFill/>
        </p:spPr>
        <p:txBody>
          <a:bodyPr wrap="square">
            <a:spAutoFit/>
          </a:bodyPr>
          <a:lstStyle/>
          <a:p>
            <a:pPr algn="l"/>
            <a:r>
              <a:rPr sz="900" b="0" i="0">
                <a:solidFill>
                  <a:srgbClr val="0F172A"/>
                </a:solidFill>
                <a:latin typeface="Calibri"/>
              </a:rPr>
              <a:t>🔗 user_id  INT</a:t>
            </a:r>
          </a:p>
        </p:txBody>
      </p:sp>
      <p:sp>
        <p:nvSpPr>
          <p:cNvPr id="85" name="Rectangle 84"/>
          <p:cNvSpPr/>
          <p:nvPr/>
        </p:nvSpPr>
        <p:spPr>
          <a:xfrm>
            <a:off x="365760" y="5705856"/>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457200" y="5742432"/>
            <a:ext cx="2240280" cy="292608"/>
          </a:xfrm>
          <a:prstGeom prst="rect">
            <a:avLst/>
          </a:prstGeom>
          <a:noFill/>
        </p:spPr>
        <p:txBody>
          <a:bodyPr wrap="square">
            <a:spAutoFit/>
          </a:bodyPr>
          <a:lstStyle/>
          <a:p>
            <a:pPr algn="l"/>
            <a:r>
              <a:rPr sz="900" b="0" i="0">
                <a:solidFill>
                  <a:srgbClr val="0F172A"/>
                </a:solidFill>
                <a:latin typeface="Calibri"/>
              </a:rPr>
              <a:t>   message  TEXT</a:t>
            </a:r>
          </a:p>
        </p:txBody>
      </p:sp>
      <p:sp>
        <p:nvSpPr>
          <p:cNvPr id="87" name="Rectangle 86"/>
          <p:cNvSpPr/>
          <p:nvPr/>
        </p:nvSpPr>
        <p:spPr>
          <a:xfrm>
            <a:off x="365760" y="6053327"/>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457200" y="6089903"/>
            <a:ext cx="2240280" cy="292608"/>
          </a:xfrm>
          <a:prstGeom prst="rect">
            <a:avLst/>
          </a:prstGeom>
          <a:noFill/>
        </p:spPr>
        <p:txBody>
          <a:bodyPr wrap="square">
            <a:spAutoFit/>
          </a:bodyPr>
          <a:lstStyle/>
          <a:p>
            <a:pPr algn="l"/>
            <a:r>
              <a:rPr sz="900" b="0" i="0">
                <a:solidFill>
                  <a:srgbClr val="0F172A"/>
                </a:solidFill>
                <a:latin typeface="Calibri"/>
              </a:rPr>
              <a:t>   is_read  BOOL</a:t>
            </a:r>
          </a:p>
        </p:txBody>
      </p:sp>
      <p:sp>
        <p:nvSpPr>
          <p:cNvPr id="89" name="Rectangle 88"/>
          <p:cNvSpPr/>
          <p:nvPr/>
        </p:nvSpPr>
        <p:spPr>
          <a:xfrm>
            <a:off x="365760" y="6400800"/>
            <a:ext cx="2377440" cy="347472"/>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TextBox 89"/>
          <p:cNvSpPr txBox="1"/>
          <p:nvPr/>
        </p:nvSpPr>
        <p:spPr>
          <a:xfrm>
            <a:off x="457200" y="6437376"/>
            <a:ext cx="2240280" cy="292608"/>
          </a:xfrm>
          <a:prstGeom prst="rect">
            <a:avLst/>
          </a:prstGeom>
          <a:noFill/>
        </p:spPr>
        <p:txBody>
          <a:bodyPr wrap="square">
            <a:spAutoFit/>
          </a:bodyPr>
          <a:lstStyle/>
          <a:p>
            <a:pPr algn="l"/>
            <a:r>
              <a:rPr sz="900" b="0" i="0">
                <a:solidFill>
                  <a:srgbClr val="0F172A"/>
                </a:solidFill>
                <a:latin typeface="Calibri"/>
              </a:rPr>
              <a:t>   created_at  TIMESTAMP</a:t>
            </a:r>
          </a:p>
        </p:txBody>
      </p:sp>
      <p:sp>
        <p:nvSpPr>
          <p:cNvPr id="91" name="Rectangle 90"/>
          <p:cNvSpPr/>
          <p:nvPr/>
        </p:nvSpPr>
        <p:spPr>
          <a:xfrm>
            <a:off x="2761488" y="2212848"/>
            <a:ext cx="256032"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2523744" y="1938528"/>
            <a:ext cx="731520" cy="256032"/>
          </a:xfrm>
          <a:prstGeom prst="rect">
            <a:avLst/>
          </a:prstGeom>
          <a:noFill/>
        </p:spPr>
        <p:txBody>
          <a:bodyPr wrap="square">
            <a:spAutoFit/>
          </a:bodyPr>
          <a:lstStyle/>
          <a:p>
            <a:pPr algn="ctr"/>
            <a:r>
              <a:rPr sz="800" b="0" i="0">
                <a:solidFill>
                  <a:srgbClr val="2563EB"/>
                </a:solidFill>
                <a:latin typeface="Calibri"/>
              </a:rPr>
              <a:t>1:N</a:t>
            </a:r>
          </a:p>
        </p:txBody>
      </p:sp>
      <p:sp>
        <p:nvSpPr>
          <p:cNvPr id="93" name="Rectangle 92"/>
          <p:cNvSpPr/>
          <p:nvPr/>
        </p:nvSpPr>
        <p:spPr>
          <a:xfrm>
            <a:off x="5504688" y="2212848"/>
            <a:ext cx="347472"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TextBox 93"/>
          <p:cNvSpPr txBox="1"/>
          <p:nvPr/>
        </p:nvSpPr>
        <p:spPr>
          <a:xfrm>
            <a:off x="5312664" y="1938528"/>
            <a:ext cx="731520" cy="256032"/>
          </a:xfrm>
          <a:prstGeom prst="rect">
            <a:avLst/>
          </a:prstGeom>
          <a:noFill/>
        </p:spPr>
        <p:txBody>
          <a:bodyPr wrap="square">
            <a:spAutoFit/>
          </a:bodyPr>
          <a:lstStyle/>
          <a:p>
            <a:pPr algn="ctr"/>
            <a:r>
              <a:rPr sz="800" b="0" i="0">
                <a:solidFill>
                  <a:srgbClr val="2563EB"/>
                </a:solidFill>
                <a:latin typeface="Calibri"/>
              </a:rPr>
              <a:t>1:N</a:t>
            </a:r>
          </a:p>
        </p:txBody>
      </p:sp>
      <p:sp>
        <p:nvSpPr>
          <p:cNvPr id="95" name="Rectangle 94"/>
          <p:cNvSpPr/>
          <p:nvPr/>
        </p:nvSpPr>
        <p:spPr>
          <a:xfrm>
            <a:off x="8430768" y="2212848"/>
            <a:ext cx="256032"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8193024" y="1938528"/>
            <a:ext cx="731520" cy="256032"/>
          </a:xfrm>
          <a:prstGeom prst="rect">
            <a:avLst/>
          </a:prstGeom>
          <a:noFill/>
        </p:spPr>
        <p:txBody>
          <a:bodyPr wrap="square">
            <a:spAutoFit/>
          </a:bodyPr>
          <a:lstStyle/>
          <a:p>
            <a:pPr algn="ctr"/>
            <a:r>
              <a:rPr sz="800" b="0" i="0">
                <a:solidFill>
                  <a:srgbClr val="2563EB"/>
                </a:solidFill>
                <a:latin typeface="Calibri"/>
              </a:rPr>
              <a:t>1:N</a:t>
            </a:r>
          </a:p>
        </p:txBody>
      </p:sp>
      <p:sp>
        <p:nvSpPr>
          <p:cNvPr id="97" name="Rectangle 96"/>
          <p:cNvSpPr/>
          <p:nvPr/>
        </p:nvSpPr>
        <p:spPr>
          <a:xfrm>
            <a:off x="9875520" y="4315968"/>
            <a:ext cx="27432"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TextBox 97"/>
          <p:cNvSpPr txBox="1"/>
          <p:nvPr/>
        </p:nvSpPr>
        <p:spPr>
          <a:xfrm>
            <a:off x="9921240" y="4352544"/>
            <a:ext cx="822960" cy="256032"/>
          </a:xfrm>
          <a:prstGeom prst="rect">
            <a:avLst/>
          </a:prstGeom>
          <a:noFill/>
        </p:spPr>
        <p:txBody>
          <a:bodyPr wrap="square">
            <a:spAutoFit/>
          </a:bodyPr>
          <a:lstStyle/>
          <a:p>
            <a:pPr algn="l"/>
            <a:r>
              <a:rPr sz="800" b="0" i="0">
                <a:solidFill>
                  <a:srgbClr val="2563EB"/>
                </a:solidFill>
                <a:latin typeface="Calibri"/>
              </a:rPr>
              <a:t>1:N</a:t>
            </a:r>
          </a:p>
        </p:txBody>
      </p:sp>
      <p:sp>
        <p:nvSpPr>
          <p:cNvPr id="99" name="Rectangle 98"/>
          <p:cNvSpPr/>
          <p:nvPr/>
        </p:nvSpPr>
        <p:spPr>
          <a:xfrm>
            <a:off x="1554480" y="4315968"/>
            <a:ext cx="27432" cy="34747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TextBox 99"/>
          <p:cNvSpPr txBox="1"/>
          <p:nvPr/>
        </p:nvSpPr>
        <p:spPr>
          <a:xfrm>
            <a:off x="1600200" y="4352544"/>
            <a:ext cx="822960" cy="256032"/>
          </a:xfrm>
          <a:prstGeom prst="rect">
            <a:avLst/>
          </a:prstGeom>
          <a:noFill/>
        </p:spPr>
        <p:txBody>
          <a:bodyPr wrap="square">
            <a:spAutoFit/>
          </a:bodyPr>
          <a:lstStyle/>
          <a:p>
            <a:pPr algn="l"/>
            <a:r>
              <a:rPr sz="800" b="0" i="0">
                <a:solidFill>
                  <a:srgbClr val="2563EB"/>
                </a:solidFill>
                <a:latin typeface="Calibri"/>
              </a:rPr>
              <a:t>1:N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Implementation – Tools &amp; Technologies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Full-stack technology choices and justification</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13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645920"/>
            <a:ext cx="3474720" cy="457200"/>
          </a:xfrm>
          <a:prstGeom prst="rect">
            <a:avLst/>
          </a:prstGeom>
          <a:noFill/>
        </p:spPr>
        <p:txBody>
          <a:bodyPr wrap="square">
            <a:spAutoFit/>
          </a:bodyPr>
          <a:lstStyle/>
          <a:p>
            <a:pPr algn="l"/>
            <a:r>
              <a:rPr sz="1400" b="1" i="0">
                <a:solidFill>
                  <a:srgbClr val="2563EB"/>
                </a:solidFill>
                <a:latin typeface="Calibri"/>
              </a:rPr>
              <a:t>🖥️  Frontend</a:t>
            </a:r>
          </a:p>
        </p:txBody>
      </p:sp>
      <p:sp>
        <p:nvSpPr>
          <p:cNvPr id="12" name="TextBox 11"/>
          <p:cNvSpPr txBox="1"/>
          <p:nvPr/>
        </p:nvSpPr>
        <p:spPr>
          <a:xfrm>
            <a:off x="502920" y="2148840"/>
            <a:ext cx="3474720" cy="1463040"/>
          </a:xfrm>
          <a:prstGeom prst="rect">
            <a:avLst/>
          </a:prstGeom>
          <a:noFill/>
        </p:spPr>
        <p:txBody>
          <a:bodyPr wrap="square">
            <a:spAutoFit/>
          </a:bodyPr>
          <a:lstStyle/>
          <a:p>
            <a:pPr algn="l"/>
            <a:r>
              <a:rPr sz="1100" b="0" i="0">
                <a:solidFill>
                  <a:srgbClr val="475569"/>
                </a:solidFill>
                <a:latin typeface="Calibri"/>
              </a:rPr>
              <a:t>React 18  •  Vite (Rolldown)
Tailwind CSS 4  •  React Router v7
Recharts  •  Chart.js  •  jsPDF
Lucide-React  •  Axios</a:t>
            </a:r>
          </a:p>
        </p:txBody>
      </p:sp>
      <p:sp>
        <p:nvSpPr>
          <p:cNvPr id="13" name="Rectangle 12"/>
          <p:cNvSpPr/>
          <p:nvPr/>
        </p:nvSpPr>
        <p:spPr>
          <a:xfrm>
            <a:off x="4297680" y="155448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34840" y="1645920"/>
            <a:ext cx="3474720" cy="457200"/>
          </a:xfrm>
          <a:prstGeom prst="rect">
            <a:avLst/>
          </a:prstGeom>
          <a:noFill/>
        </p:spPr>
        <p:txBody>
          <a:bodyPr wrap="square">
            <a:spAutoFit/>
          </a:bodyPr>
          <a:lstStyle/>
          <a:p>
            <a:pPr algn="l"/>
            <a:r>
              <a:rPr sz="1400" b="1" i="0">
                <a:solidFill>
                  <a:srgbClr val="2563EB"/>
                </a:solidFill>
                <a:latin typeface="Calibri"/>
              </a:rPr>
              <a:t>🤖  AI / ML</a:t>
            </a:r>
          </a:p>
        </p:txBody>
      </p:sp>
      <p:sp>
        <p:nvSpPr>
          <p:cNvPr id="15" name="TextBox 14"/>
          <p:cNvSpPr txBox="1"/>
          <p:nvPr/>
        </p:nvSpPr>
        <p:spPr>
          <a:xfrm>
            <a:off x="4434840" y="2148840"/>
            <a:ext cx="3474720" cy="1463040"/>
          </a:xfrm>
          <a:prstGeom prst="rect">
            <a:avLst/>
          </a:prstGeom>
          <a:noFill/>
        </p:spPr>
        <p:txBody>
          <a:bodyPr wrap="square">
            <a:spAutoFit/>
          </a:bodyPr>
          <a:lstStyle/>
          <a:p>
            <a:pPr algn="l"/>
            <a:r>
              <a:rPr sz="1100" b="0" i="0">
                <a:solidFill>
                  <a:srgbClr val="475569"/>
                </a:solidFill>
                <a:latin typeface="Calibri"/>
              </a:rPr>
              <a:t>EfficientNet-B3 (CNN – skin classification)
Tesseract.js (OCR – ingredient scanning)
BERT / sentence-transformers (NLP chatbot)
ISIC dataset for model training</a:t>
            </a:r>
          </a:p>
        </p:txBody>
      </p:sp>
      <p:sp>
        <p:nvSpPr>
          <p:cNvPr id="16" name="Rectangle 15"/>
          <p:cNvSpPr/>
          <p:nvPr/>
        </p:nvSpPr>
        <p:spPr>
          <a:xfrm>
            <a:off x="8229600" y="155448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66760" y="1645920"/>
            <a:ext cx="3474720" cy="457200"/>
          </a:xfrm>
          <a:prstGeom prst="rect">
            <a:avLst/>
          </a:prstGeom>
          <a:noFill/>
        </p:spPr>
        <p:txBody>
          <a:bodyPr wrap="square">
            <a:spAutoFit/>
          </a:bodyPr>
          <a:lstStyle/>
          <a:p>
            <a:pPr algn="l"/>
            <a:r>
              <a:rPr sz="1400" b="1" i="0">
                <a:solidFill>
                  <a:srgbClr val="2563EB"/>
                </a:solidFill>
                <a:latin typeface="Calibri"/>
              </a:rPr>
              <a:t>⚙️  Backend (Planned)</a:t>
            </a:r>
          </a:p>
        </p:txBody>
      </p:sp>
      <p:sp>
        <p:nvSpPr>
          <p:cNvPr id="18" name="TextBox 17"/>
          <p:cNvSpPr txBox="1"/>
          <p:nvPr/>
        </p:nvSpPr>
        <p:spPr>
          <a:xfrm>
            <a:off x="8366760" y="2148840"/>
            <a:ext cx="3474720" cy="1463040"/>
          </a:xfrm>
          <a:prstGeom prst="rect">
            <a:avLst/>
          </a:prstGeom>
          <a:noFill/>
        </p:spPr>
        <p:txBody>
          <a:bodyPr wrap="square">
            <a:spAutoFit/>
          </a:bodyPr>
          <a:lstStyle/>
          <a:p>
            <a:pPr algn="l"/>
            <a:r>
              <a:rPr sz="1100" b="0" i="0">
                <a:solidFill>
                  <a:srgbClr val="475569"/>
                </a:solidFill>
                <a:latin typeface="Calibri"/>
              </a:rPr>
              <a:t>FastAPI (Python) or Node.js + Express
PostgreSQL (relational DB)
Prisma ORM  •  Redis (session cache)
JWT (auth)  •  bcrypt (password hashing)</a:t>
            </a:r>
          </a:p>
        </p:txBody>
      </p:sp>
      <p:sp>
        <p:nvSpPr>
          <p:cNvPr id="19" name="Rectangle 18"/>
          <p:cNvSpPr/>
          <p:nvPr/>
        </p:nvSpPr>
        <p:spPr>
          <a:xfrm>
            <a:off x="365760" y="388620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977639"/>
            <a:ext cx="3474720" cy="457200"/>
          </a:xfrm>
          <a:prstGeom prst="rect">
            <a:avLst/>
          </a:prstGeom>
          <a:noFill/>
        </p:spPr>
        <p:txBody>
          <a:bodyPr wrap="square">
            <a:spAutoFit/>
          </a:bodyPr>
          <a:lstStyle/>
          <a:p>
            <a:pPr algn="l"/>
            <a:r>
              <a:rPr sz="1400" b="1" i="0">
                <a:solidFill>
                  <a:srgbClr val="2563EB"/>
                </a:solidFill>
                <a:latin typeface="Calibri"/>
              </a:rPr>
              <a:t>🚀  DevOps &amp; Tooling</a:t>
            </a:r>
          </a:p>
        </p:txBody>
      </p:sp>
      <p:sp>
        <p:nvSpPr>
          <p:cNvPr id="21" name="TextBox 20"/>
          <p:cNvSpPr txBox="1"/>
          <p:nvPr/>
        </p:nvSpPr>
        <p:spPr>
          <a:xfrm>
            <a:off x="502920" y="4480560"/>
            <a:ext cx="3474720" cy="1463040"/>
          </a:xfrm>
          <a:prstGeom prst="rect">
            <a:avLst/>
          </a:prstGeom>
          <a:noFill/>
        </p:spPr>
        <p:txBody>
          <a:bodyPr wrap="square">
            <a:spAutoFit/>
          </a:bodyPr>
          <a:lstStyle/>
          <a:p>
            <a:pPr algn="l"/>
            <a:r>
              <a:rPr sz="1100" b="0" i="0">
                <a:solidFill>
                  <a:srgbClr val="475569"/>
                </a:solidFill>
                <a:latin typeface="Calibri"/>
              </a:rPr>
              <a:t>Vite build tool  •  ESLint + Prettier
GitHub Actions (CI/CD)
Vercel (frontend hosting)
Docker  •  AWS EC2 + RDS (backend)</a:t>
            </a:r>
          </a:p>
        </p:txBody>
      </p:sp>
      <p:sp>
        <p:nvSpPr>
          <p:cNvPr id="22" name="Rectangle 21"/>
          <p:cNvSpPr/>
          <p:nvPr/>
        </p:nvSpPr>
        <p:spPr>
          <a:xfrm>
            <a:off x="4297680" y="388620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34840" y="3977639"/>
            <a:ext cx="3474720" cy="457200"/>
          </a:xfrm>
          <a:prstGeom prst="rect">
            <a:avLst/>
          </a:prstGeom>
          <a:noFill/>
        </p:spPr>
        <p:txBody>
          <a:bodyPr wrap="square">
            <a:spAutoFit/>
          </a:bodyPr>
          <a:lstStyle/>
          <a:p>
            <a:pPr algn="l"/>
            <a:r>
              <a:rPr sz="1400" b="1" i="0">
                <a:solidFill>
                  <a:srgbClr val="2563EB"/>
                </a:solidFill>
                <a:latin typeface="Calibri"/>
              </a:rPr>
              <a:t>🧪  Testing</a:t>
            </a:r>
          </a:p>
        </p:txBody>
      </p:sp>
      <p:sp>
        <p:nvSpPr>
          <p:cNvPr id="24" name="TextBox 23"/>
          <p:cNvSpPr txBox="1"/>
          <p:nvPr/>
        </p:nvSpPr>
        <p:spPr>
          <a:xfrm>
            <a:off x="4434840" y="4480560"/>
            <a:ext cx="3474720" cy="1463040"/>
          </a:xfrm>
          <a:prstGeom prst="rect">
            <a:avLst/>
          </a:prstGeom>
          <a:noFill/>
        </p:spPr>
        <p:txBody>
          <a:bodyPr wrap="square">
            <a:spAutoFit/>
          </a:bodyPr>
          <a:lstStyle/>
          <a:p>
            <a:pPr algn="l"/>
            <a:r>
              <a:rPr sz="1100" b="0" i="0">
                <a:solidFill>
                  <a:srgbClr val="475569"/>
                </a:solidFill>
                <a:latin typeface="Calibri"/>
              </a:rPr>
              <a:t>Vitest  •  React Testing Library
Cypress (E2E)
Lighthouse (performance)
OWASP ZAP (security)</a:t>
            </a:r>
          </a:p>
        </p:txBody>
      </p:sp>
      <p:sp>
        <p:nvSpPr>
          <p:cNvPr id="25" name="Rectangle 24"/>
          <p:cNvSpPr/>
          <p:nvPr/>
        </p:nvSpPr>
        <p:spPr>
          <a:xfrm>
            <a:off x="8229600" y="3886200"/>
            <a:ext cx="3749039" cy="214884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66760" y="3977639"/>
            <a:ext cx="3474720" cy="457200"/>
          </a:xfrm>
          <a:prstGeom prst="rect">
            <a:avLst/>
          </a:prstGeom>
          <a:noFill/>
        </p:spPr>
        <p:txBody>
          <a:bodyPr wrap="square">
            <a:spAutoFit/>
          </a:bodyPr>
          <a:lstStyle/>
          <a:p>
            <a:pPr algn="l"/>
            <a:r>
              <a:rPr sz="1400" b="1" i="0">
                <a:solidFill>
                  <a:srgbClr val="2563EB"/>
                </a:solidFill>
                <a:latin typeface="Calibri"/>
              </a:rPr>
              <a:t>🎨  Design &amp; UX</a:t>
            </a:r>
          </a:p>
        </p:txBody>
      </p:sp>
      <p:sp>
        <p:nvSpPr>
          <p:cNvPr id="27" name="TextBox 26"/>
          <p:cNvSpPr txBox="1"/>
          <p:nvPr/>
        </p:nvSpPr>
        <p:spPr>
          <a:xfrm>
            <a:off x="8366760" y="4480560"/>
            <a:ext cx="3474720" cy="1463040"/>
          </a:xfrm>
          <a:prstGeom prst="rect">
            <a:avLst/>
          </a:prstGeom>
          <a:noFill/>
        </p:spPr>
        <p:txBody>
          <a:bodyPr wrap="square">
            <a:spAutoFit/>
          </a:bodyPr>
          <a:lstStyle/>
          <a:p>
            <a:pPr algn="l"/>
            <a:r>
              <a:rPr sz="1100" b="0" i="0">
                <a:solidFill>
                  <a:srgbClr val="475569"/>
                </a:solidFill>
                <a:latin typeface="Calibri"/>
              </a:rPr>
              <a:t>Figma (wireframes &amp; design system)
Clinical-Tech colour palette
Slate &amp; Blue primary  •  Emerald accent
Mobile-first responsive layout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Testing</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Quality Assurance Strategy</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14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1508760"/>
            <a:ext cx="4114800" cy="502920"/>
          </a:xfrm>
          <a:prstGeom prst="rect">
            <a:avLst/>
          </a:prstGeom>
          <a:noFill/>
        </p:spPr>
        <p:txBody>
          <a:bodyPr wrap="square">
            <a:spAutoFit/>
          </a:bodyPr>
          <a:lstStyle/>
          <a:p>
            <a:pPr algn="l"/>
            <a:r>
              <a:rPr sz="1600" b="1" i="0">
                <a:solidFill>
                  <a:srgbClr val="0F172A"/>
                </a:solidFill>
                <a:latin typeface="Calibri"/>
              </a:rPr>
              <a:t>Testing Pyramid</a:t>
            </a:r>
          </a:p>
        </p:txBody>
      </p:sp>
      <p:sp>
        <p:nvSpPr>
          <p:cNvPr id="11" name="Rectangle 10"/>
          <p:cNvSpPr/>
          <p:nvPr/>
        </p:nvSpPr>
        <p:spPr>
          <a:xfrm>
            <a:off x="822960" y="2057400"/>
            <a:ext cx="2743200" cy="62179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2185416"/>
            <a:ext cx="2606040" cy="384048"/>
          </a:xfrm>
          <a:prstGeom prst="rect">
            <a:avLst/>
          </a:prstGeom>
          <a:noFill/>
        </p:spPr>
        <p:txBody>
          <a:bodyPr wrap="square">
            <a:spAutoFit/>
          </a:bodyPr>
          <a:lstStyle/>
          <a:p>
            <a:pPr algn="ctr"/>
            <a:r>
              <a:rPr sz="1100" b="1" i="0">
                <a:solidFill>
                  <a:srgbClr val="FFFFFF"/>
                </a:solidFill>
                <a:latin typeface="Calibri"/>
              </a:rPr>
              <a:t>E2E Tests (Cypress)</a:t>
            </a:r>
          </a:p>
        </p:txBody>
      </p:sp>
      <p:sp>
        <p:nvSpPr>
          <p:cNvPr id="13" name="Rectangle 12"/>
          <p:cNvSpPr/>
          <p:nvPr/>
        </p:nvSpPr>
        <p:spPr>
          <a:xfrm>
            <a:off x="502920" y="2724912"/>
            <a:ext cx="3383280" cy="6217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852928"/>
            <a:ext cx="3246120" cy="384048"/>
          </a:xfrm>
          <a:prstGeom prst="rect">
            <a:avLst/>
          </a:prstGeom>
          <a:noFill/>
        </p:spPr>
        <p:txBody>
          <a:bodyPr wrap="square">
            <a:spAutoFit/>
          </a:bodyPr>
          <a:lstStyle/>
          <a:p>
            <a:pPr algn="ctr"/>
            <a:r>
              <a:rPr sz="1100" b="1" i="0">
                <a:solidFill>
                  <a:srgbClr val="FFFFFF"/>
                </a:solidFill>
                <a:latin typeface="Calibri"/>
              </a:rPr>
              <a:t>Integration Tests (Vitest + RTL)</a:t>
            </a:r>
          </a:p>
        </p:txBody>
      </p:sp>
      <p:sp>
        <p:nvSpPr>
          <p:cNvPr id="15" name="Rectangle 14"/>
          <p:cNvSpPr/>
          <p:nvPr/>
        </p:nvSpPr>
        <p:spPr>
          <a:xfrm>
            <a:off x="182880" y="3392424"/>
            <a:ext cx="4023360" cy="621792"/>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3520440"/>
            <a:ext cx="3886200" cy="384048"/>
          </a:xfrm>
          <a:prstGeom prst="rect">
            <a:avLst/>
          </a:prstGeom>
          <a:noFill/>
        </p:spPr>
        <p:txBody>
          <a:bodyPr wrap="square">
            <a:spAutoFit/>
          </a:bodyPr>
          <a:lstStyle/>
          <a:p>
            <a:pPr algn="ctr"/>
            <a:r>
              <a:rPr sz="1100" b="1" i="0">
                <a:solidFill>
                  <a:srgbClr val="FFFFFF"/>
                </a:solidFill>
                <a:latin typeface="Calibri"/>
              </a:rPr>
              <a:t>Unit Tests (Vitest)</a:t>
            </a:r>
          </a:p>
        </p:txBody>
      </p:sp>
      <p:sp>
        <p:nvSpPr>
          <p:cNvPr id="17" name="Rectangle 16"/>
          <p:cNvSpPr/>
          <p:nvPr/>
        </p:nvSpPr>
        <p:spPr>
          <a:xfrm>
            <a:off x="4434840" y="1600200"/>
            <a:ext cx="2286000" cy="502920"/>
          </a:xfrm>
          <a:prstGeom prst="rect">
            <a:avLst/>
          </a:prstGeom>
          <a:solidFill>
            <a:srgbClr val="0F172A"/>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6279" y="1673352"/>
            <a:ext cx="2148840" cy="411480"/>
          </a:xfrm>
          <a:prstGeom prst="rect">
            <a:avLst/>
          </a:prstGeom>
          <a:noFill/>
        </p:spPr>
        <p:txBody>
          <a:bodyPr wrap="square">
            <a:spAutoFit/>
          </a:bodyPr>
          <a:lstStyle/>
          <a:p>
            <a:pPr algn="l"/>
            <a:r>
              <a:rPr sz="1000" b="1" i="0">
                <a:solidFill>
                  <a:srgbClr val="FFFFFF"/>
                </a:solidFill>
                <a:latin typeface="Calibri"/>
              </a:rPr>
              <a:t>Test Type</a:t>
            </a:r>
          </a:p>
        </p:txBody>
      </p:sp>
      <p:sp>
        <p:nvSpPr>
          <p:cNvPr id="19" name="Rectangle 18"/>
          <p:cNvSpPr/>
          <p:nvPr/>
        </p:nvSpPr>
        <p:spPr>
          <a:xfrm>
            <a:off x="6812280" y="1600200"/>
            <a:ext cx="3200400" cy="502920"/>
          </a:xfrm>
          <a:prstGeom prst="rect">
            <a:avLst/>
          </a:prstGeom>
          <a:solidFill>
            <a:srgbClr val="0F172A"/>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903720" y="1673352"/>
            <a:ext cx="3063240" cy="411480"/>
          </a:xfrm>
          <a:prstGeom prst="rect">
            <a:avLst/>
          </a:prstGeom>
          <a:noFill/>
        </p:spPr>
        <p:txBody>
          <a:bodyPr wrap="square">
            <a:spAutoFit/>
          </a:bodyPr>
          <a:lstStyle/>
          <a:p>
            <a:pPr algn="l"/>
            <a:r>
              <a:rPr sz="1000" b="1" i="0">
                <a:solidFill>
                  <a:srgbClr val="FFFFFF"/>
                </a:solidFill>
                <a:latin typeface="Calibri"/>
              </a:rPr>
              <a:t>Description</a:t>
            </a:r>
          </a:p>
        </p:txBody>
      </p:sp>
      <p:sp>
        <p:nvSpPr>
          <p:cNvPr id="21" name="Rectangle 20"/>
          <p:cNvSpPr/>
          <p:nvPr/>
        </p:nvSpPr>
        <p:spPr>
          <a:xfrm>
            <a:off x="10104120" y="1600200"/>
            <a:ext cx="1371600" cy="502920"/>
          </a:xfrm>
          <a:prstGeom prst="rect">
            <a:avLst/>
          </a:prstGeom>
          <a:solidFill>
            <a:srgbClr val="0F172A"/>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195560" y="1673352"/>
            <a:ext cx="1234440" cy="411480"/>
          </a:xfrm>
          <a:prstGeom prst="rect">
            <a:avLst/>
          </a:prstGeom>
          <a:noFill/>
        </p:spPr>
        <p:txBody>
          <a:bodyPr wrap="square">
            <a:spAutoFit/>
          </a:bodyPr>
          <a:lstStyle/>
          <a:p>
            <a:pPr algn="l"/>
            <a:r>
              <a:rPr sz="1000" b="1" i="0">
                <a:solidFill>
                  <a:srgbClr val="FFFFFF"/>
                </a:solidFill>
                <a:latin typeface="Calibri"/>
              </a:rPr>
              <a:t>Tool</a:t>
            </a:r>
          </a:p>
        </p:txBody>
      </p:sp>
      <p:sp>
        <p:nvSpPr>
          <p:cNvPr id="23" name="Rectangle 22"/>
          <p:cNvSpPr/>
          <p:nvPr/>
        </p:nvSpPr>
        <p:spPr>
          <a:xfrm>
            <a:off x="11567160" y="1600200"/>
            <a:ext cx="1097280" cy="502920"/>
          </a:xfrm>
          <a:prstGeom prst="rect">
            <a:avLst/>
          </a:prstGeom>
          <a:solidFill>
            <a:srgbClr val="0F172A"/>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658600" y="1673352"/>
            <a:ext cx="960120" cy="411480"/>
          </a:xfrm>
          <a:prstGeom prst="rect">
            <a:avLst/>
          </a:prstGeom>
          <a:noFill/>
        </p:spPr>
        <p:txBody>
          <a:bodyPr wrap="square">
            <a:spAutoFit/>
          </a:bodyPr>
          <a:lstStyle/>
          <a:p>
            <a:pPr algn="l"/>
            <a:r>
              <a:rPr sz="1000" b="1" i="0">
                <a:solidFill>
                  <a:srgbClr val="FFFFFF"/>
                </a:solidFill>
                <a:latin typeface="Calibri"/>
              </a:rPr>
              <a:t>Status</a:t>
            </a:r>
          </a:p>
        </p:txBody>
      </p:sp>
      <p:sp>
        <p:nvSpPr>
          <p:cNvPr id="25" name="Rectangle 24"/>
          <p:cNvSpPr/>
          <p:nvPr/>
        </p:nvSpPr>
        <p:spPr>
          <a:xfrm>
            <a:off x="4434840" y="2103120"/>
            <a:ext cx="22860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526279" y="2176272"/>
            <a:ext cx="2148840" cy="411480"/>
          </a:xfrm>
          <a:prstGeom prst="rect">
            <a:avLst/>
          </a:prstGeom>
          <a:noFill/>
        </p:spPr>
        <p:txBody>
          <a:bodyPr wrap="square">
            <a:spAutoFit/>
          </a:bodyPr>
          <a:lstStyle/>
          <a:p>
            <a:pPr algn="l"/>
            <a:r>
              <a:rPr sz="900" b="0" i="0">
                <a:solidFill>
                  <a:srgbClr val="0F172A"/>
                </a:solidFill>
                <a:latin typeface="Calibri"/>
              </a:rPr>
              <a:t>Unit – Components</a:t>
            </a:r>
          </a:p>
        </p:txBody>
      </p:sp>
      <p:sp>
        <p:nvSpPr>
          <p:cNvPr id="27" name="Rectangle 26"/>
          <p:cNvSpPr/>
          <p:nvPr/>
        </p:nvSpPr>
        <p:spPr>
          <a:xfrm>
            <a:off x="6812280" y="2103120"/>
            <a:ext cx="32004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03720" y="2176272"/>
            <a:ext cx="3063240" cy="411480"/>
          </a:xfrm>
          <a:prstGeom prst="rect">
            <a:avLst/>
          </a:prstGeom>
          <a:noFill/>
        </p:spPr>
        <p:txBody>
          <a:bodyPr wrap="square">
            <a:spAutoFit/>
          </a:bodyPr>
          <a:lstStyle/>
          <a:p>
            <a:pPr algn="l"/>
            <a:r>
              <a:rPr sz="900" b="0" i="0">
                <a:solidFill>
                  <a:srgbClr val="0F172A"/>
                </a:solidFill>
                <a:latin typeface="Calibri"/>
              </a:rPr>
              <a:t>Render tests for all 13 UI components</a:t>
            </a:r>
          </a:p>
        </p:txBody>
      </p:sp>
      <p:sp>
        <p:nvSpPr>
          <p:cNvPr id="29" name="Rectangle 28"/>
          <p:cNvSpPr/>
          <p:nvPr/>
        </p:nvSpPr>
        <p:spPr>
          <a:xfrm>
            <a:off x="10104120" y="2103120"/>
            <a:ext cx="13716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95560" y="2176272"/>
            <a:ext cx="1234440" cy="411480"/>
          </a:xfrm>
          <a:prstGeom prst="rect">
            <a:avLst/>
          </a:prstGeom>
          <a:noFill/>
        </p:spPr>
        <p:txBody>
          <a:bodyPr wrap="square">
            <a:spAutoFit/>
          </a:bodyPr>
          <a:lstStyle/>
          <a:p>
            <a:pPr algn="l"/>
            <a:r>
              <a:rPr sz="900" b="0" i="0">
                <a:solidFill>
                  <a:srgbClr val="0F172A"/>
                </a:solidFill>
                <a:latin typeface="Calibri"/>
              </a:rPr>
              <a:t>Vitest</a:t>
            </a:r>
          </a:p>
        </p:txBody>
      </p:sp>
      <p:sp>
        <p:nvSpPr>
          <p:cNvPr id="31" name="Rectangle 30"/>
          <p:cNvSpPr/>
          <p:nvPr/>
        </p:nvSpPr>
        <p:spPr>
          <a:xfrm>
            <a:off x="11567160" y="2103120"/>
            <a:ext cx="109728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1658600" y="217627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33" name="Rectangle 32"/>
          <p:cNvSpPr/>
          <p:nvPr/>
        </p:nvSpPr>
        <p:spPr>
          <a:xfrm>
            <a:off x="4434840" y="2606040"/>
            <a:ext cx="22860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26279" y="2679192"/>
            <a:ext cx="2148840" cy="411480"/>
          </a:xfrm>
          <a:prstGeom prst="rect">
            <a:avLst/>
          </a:prstGeom>
          <a:noFill/>
        </p:spPr>
        <p:txBody>
          <a:bodyPr wrap="square">
            <a:spAutoFit/>
          </a:bodyPr>
          <a:lstStyle/>
          <a:p>
            <a:pPr algn="l"/>
            <a:r>
              <a:rPr sz="900" b="0" i="0">
                <a:solidFill>
                  <a:srgbClr val="0F172A"/>
                </a:solidFill>
                <a:latin typeface="Calibri"/>
              </a:rPr>
              <a:t>Unit – Hooks</a:t>
            </a:r>
          </a:p>
        </p:txBody>
      </p:sp>
      <p:sp>
        <p:nvSpPr>
          <p:cNvPr id="35" name="Rectangle 34"/>
          <p:cNvSpPr/>
          <p:nvPr/>
        </p:nvSpPr>
        <p:spPr>
          <a:xfrm>
            <a:off x="6812280" y="2606040"/>
            <a:ext cx="32004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903720" y="2679192"/>
            <a:ext cx="3063240" cy="411480"/>
          </a:xfrm>
          <a:prstGeom prst="rect">
            <a:avLst/>
          </a:prstGeom>
          <a:noFill/>
        </p:spPr>
        <p:txBody>
          <a:bodyPr wrap="square">
            <a:spAutoFit/>
          </a:bodyPr>
          <a:lstStyle/>
          <a:p>
            <a:pPr algn="l"/>
            <a:r>
              <a:rPr sz="900" b="0" i="0">
                <a:solidFill>
                  <a:srgbClr val="0F172A"/>
                </a:solidFill>
                <a:latin typeface="Calibri"/>
              </a:rPr>
              <a:t>useState / useEffect logic isolation</a:t>
            </a:r>
          </a:p>
        </p:txBody>
      </p:sp>
      <p:sp>
        <p:nvSpPr>
          <p:cNvPr id="37" name="Rectangle 36"/>
          <p:cNvSpPr/>
          <p:nvPr/>
        </p:nvSpPr>
        <p:spPr>
          <a:xfrm>
            <a:off x="10104120" y="2606040"/>
            <a:ext cx="13716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95560" y="2679192"/>
            <a:ext cx="1234440" cy="411480"/>
          </a:xfrm>
          <a:prstGeom prst="rect">
            <a:avLst/>
          </a:prstGeom>
          <a:noFill/>
        </p:spPr>
        <p:txBody>
          <a:bodyPr wrap="square">
            <a:spAutoFit/>
          </a:bodyPr>
          <a:lstStyle/>
          <a:p>
            <a:pPr algn="l"/>
            <a:r>
              <a:rPr sz="900" b="0" i="0">
                <a:solidFill>
                  <a:srgbClr val="0F172A"/>
                </a:solidFill>
                <a:latin typeface="Calibri"/>
              </a:rPr>
              <a:t>Vitest</a:t>
            </a:r>
          </a:p>
        </p:txBody>
      </p:sp>
      <p:sp>
        <p:nvSpPr>
          <p:cNvPr id="39" name="Rectangle 38"/>
          <p:cNvSpPr/>
          <p:nvPr/>
        </p:nvSpPr>
        <p:spPr>
          <a:xfrm>
            <a:off x="11567160" y="2606040"/>
            <a:ext cx="109728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1658600" y="267919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41" name="Rectangle 40"/>
          <p:cNvSpPr/>
          <p:nvPr/>
        </p:nvSpPr>
        <p:spPr>
          <a:xfrm>
            <a:off x="4434840" y="3108960"/>
            <a:ext cx="22860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4526279" y="3182112"/>
            <a:ext cx="2148840" cy="411480"/>
          </a:xfrm>
          <a:prstGeom prst="rect">
            <a:avLst/>
          </a:prstGeom>
          <a:noFill/>
        </p:spPr>
        <p:txBody>
          <a:bodyPr wrap="square">
            <a:spAutoFit/>
          </a:bodyPr>
          <a:lstStyle/>
          <a:p>
            <a:pPr algn="l"/>
            <a:r>
              <a:rPr sz="900" b="0" i="0">
                <a:solidFill>
                  <a:srgbClr val="0F172A"/>
                </a:solidFill>
                <a:latin typeface="Calibri"/>
              </a:rPr>
              <a:t>Integration</a:t>
            </a:r>
          </a:p>
        </p:txBody>
      </p:sp>
      <p:sp>
        <p:nvSpPr>
          <p:cNvPr id="43" name="Rectangle 42"/>
          <p:cNvSpPr/>
          <p:nvPr/>
        </p:nvSpPr>
        <p:spPr>
          <a:xfrm>
            <a:off x="6812280" y="3108960"/>
            <a:ext cx="32004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903720" y="3182112"/>
            <a:ext cx="3063240" cy="411480"/>
          </a:xfrm>
          <a:prstGeom prst="rect">
            <a:avLst/>
          </a:prstGeom>
          <a:noFill/>
        </p:spPr>
        <p:txBody>
          <a:bodyPr wrap="square">
            <a:spAutoFit/>
          </a:bodyPr>
          <a:lstStyle/>
          <a:p>
            <a:pPr algn="l"/>
            <a:r>
              <a:rPr sz="900" b="0" i="0">
                <a:solidFill>
                  <a:srgbClr val="0F172A"/>
                </a:solidFill>
                <a:latin typeface="Calibri"/>
              </a:rPr>
              <a:t>Cart ↔ Notification event bus</a:t>
            </a:r>
          </a:p>
        </p:txBody>
      </p:sp>
      <p:sp>
        <p:nvSpPr>
          <p:cNvPr id="45" name="Rectangle 44"/>
          <p:cNvSpPr/>
          <p:nvPr/>
        </p:nvSpPr>
        <p:spPr>
          <a:xfrm>
            <a:off x="10104120" y="3108960"/>
            <a:ext cx="13716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195560" y="3182112"/>
            <a:ext cx="1234440" cy="411480"/>
          </a:xfrm>
          <a:prstGeom prst="rect">
            <a:avLst/>
          </a:prstGeom>
          <a:noFill/>
        </p:spPr>
        <p:txBody>
          <a:bodyPr wrap="square">
            <a:spAutoFit/>
          </a:bodyPr>
          <a:lstStyle/>
          <a:p>
            <a:pPr algn="l"/>
            <a:r>
              <a:rPr sz="900" b="0" i="0">
                <a:solidFill>
                  <a:srgbClr val="0F172A"/>
                </a:solidFill>
                <a:latin typeface="Calibri"/>
              </a:rPr>
              <a:t>RTL</a:t>
            </a:r>
          </a:p>
        </p:txBody>
      </p:sp>
      <p:sp>
        <p:nvSpPr>
          <p:cNvPr id="47" name="Rectangle 46"/>
          <p:cNvSpPr/>
          <p:nvPr/>
        </p:nvSpPr>
        <p:spPr>
          <a:xfrm>
            <a:off x="11567160" y="3108960"/>
            <a:ext cx="109728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658600" y="318211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49" name="Rectangle 48"/>
          <p:cNvSpPr/>
          <p:nvPr/>
        </p:nvSpPr>
        <p:spPr>
          <a:xfrm>
            <a:off x="4434840" y="3611880"/>
            <a:ext cx="22860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26279" y="3685032"/>
            <a:ext cx="2148840" cy="411480"/>
          </a:xfrm>
          <a:prstGeom prst="rect">
            <a:avLst/>
          </a:prstGeom>
          <a:noFill/>
        </p:spPr>
        <p:txBody>
          <a:bodyPr wrap="square">
            <a:spAutoFit/>
          </a:bodyPr>
          <a:lstStyle/>
          <a:p>
            <a:pPr algn="l"/>
            <a:r>
              <a:rPr sz="900" b="0" i="0">
                <a:solidFill>
                  <a:srgbClr val="0F172A"/>
                </a:solidFill>
                <a:latin typeface="Calibri"/>
              </a:rPr>
              <a:t>Integration</a:t>
            </a:r>
          </a:p>
        </p:txBody>
      </p:sp>
      <p:sp>
        <p:nvSpPr>
          <p:cNvPr id="51" name="Rectangle 50"/>
          <p:cNvSpPr/>
          <p:nvPr/>
        </p:nvSpPr>
        <p:spPr>
          <a:xfrm>
            <a:off x="6812280" y="3611880"/>
            <a:ext cx="32004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903720" y="3685032"/>
            <a:ext cx="3063240" cy="411480"/>
          </a:xfrm>
          <a:prstGeom prst="rect">
            <a:avLst/>
          </a:prstGeom>
          <a:noFill/>
        </p:spPr>
        <p:txBody>
          <a:bodyPr wrap="square">
            <a:spAutoFit/>
          </a:bodyPr>
          <a:lstStyle/>
          <a:p>
            <a:pPr algn="l"/>
            <a:r>
              <a:rPr sz="900" b="0" i="0">
                <a:solidFill>
                  <a:srgbClr val="0F172A"/>
                </a:solidFill>
                <a:latin typeface="Calibri"/>
              </a:rPr>
              <a:t>Auth flow: Register → Login → Dashboard</a:t>
            </a:r>
          </a:p>
        </p:txBody>
      </p:sp>
      <p:sp>
        <p:nvSpPr>
          <p:cNvPr id="53" name="Rectangle 52"/>
          <p:cNvSpPr/>
          <p:nvPr/>
        </p:nvSpPr>
        <p:spPr>
          <a:xfrm>
            <a:off x="10104120" y="3611880"/>
            <a:ext cx="13716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0195560" y="3685032"/>
            <a:ext cx="1234440" cy="411480"/>
          </a:xfrm>
          <a:prstGeom prst="rect">
            <a:avLst/>
          </a:prstGeom>
          <a:noFill/>
        </p:spPr>
        <p:txBody>
          <a:bodyPr wrap="square">
            <a:spAutoFit/>
          </a:bodyPr>
          <a:lstStyle/>
          <a:p>
            <a:pPr algn="l"/>
            <a:r>
              <a:rPr sz="900" b="0" i="0">
                <a:solidFill>
                  <a:srgbClr val="0F172A"/>
                </a:solidFill>
                <a:latin typeface="Calibri"/>
              </a:rPr>
              <a:t>RTL</a:t>
            </a:r>
          </a:p>
        </p:txBody>
      </p:sp>
      <p:sp>
        <p:nvSpPr>
          <p:cNvPr id="55" name="Rectangle 54"/>
          <p:cNvSpPr/>
          <p:nvPr/>
        </p:nvSpPr>
        <p:spPr>
          <a:xfrm>
            <a:off x="11567160" y="3611880"/>
            <a:ext cx="109728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658600" y="368503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57" name="Rectangle 56"/>
          <p:cNvSpPr/>
          <p:nvPr/>
        </p:nvSpPr>
        <p:spPr>
          <a:xfrm>
            <a:off x="4434840" y="4114800"/>
            <a:ext cx="22860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26279" y="4187952"/>
            <a:ext cx="2148840" cy="411480"/>
          </a:xfrm>
          <a:prstGeom prst="rect">
            <a:avLst/>
          </a:prstGeom>
          <a:noFill/>
        </p:spPr>
        <p:txBody>
          <a:bodyPr wrap="square">
            <a:spAutoFit/>
          </a:bodyPr>
          <a:lstStyle/>
          <a:p>
            <a:pPr algn="l"/>
            <a:r>
              <a:rPr sz="900" b="0" i="0">
                <a:solidFill>
                  <a:srgbClr val="0F172A"/>
                </a:solidFill>
                <a:latin typeface="Calibri"/>
              </a:rPr>
              <a:t>E2E</a:t>
            </a:r>
          </a:p>
        </p:txBody>
      </p:sp>
      <p:sp>
        <p:nvSpPr>
          <p:cNvPr id="59" name="Rectangle 58"/>
          <p:cNvSpPr/>
          <p:nvPr/>
        </p:nvSpPr>
        <p:spPr>
          <a:xfrm>
            <a:off x="6812280" y="4114800"/>
            <a:ext cx="32004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903720" y="4187952"/>
            <a:ext cx="3063240" cy="411480"/>
          </a:xfrm>
          <a:prstGeom prst="rect">
            <a:avLst/>
          </a:prstGeom>
          <a:noFill/>
        </p:spPr>
        <p:txBody>
          <a:bodyPr wrap="square">
            <a:spAutoFit/>
          </a:bodyPr>
          <a:lstStyle/>
          <a:p>
            <a:pPr algn="l"/>
            <a:r>
              <a:rPr sz="900" b="0" i="0">
                <a:solidFill>
                  <a:srgbClr val="0F172A"/>
                </a:solidFill>
                <a:latin typeface="Calibri"/>
              </a:rPr>
              <a:t>Full purchase flow (Marketplace → Easypaisa)</a:t>
            </a:r>
          </a:p>
        </p:txBody>
      </p:sp>
      <p:sp>
        <p:nvSpPr>
          <p:cNvPr id="61" name="Rectangle 60"/>
          <p:cNvSpPr/>
          <p:nvPr/>
        </p:nvSpPr>
        <p:spPr>
          <a:xfrm>
            <a:off x="10104120" y="4114800"/>
            <a:ext cx="13716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0195560" y="4187952"/>
            <a:ext cx="1234440" cy="411480"/>
          </a:xfrm>
          <a:prstGeom prst="rect">
            <a:avLst/>
          </a:prstGeom>
          <a:noFill/>
        </p:spPr>
        <p:txBody>
          <a:bodyPr wrap="square">
            <a:spAutoFit/>
          </a:bodyPr>
          <a:lstStyle/>
          <a:p>
            <a:pPr algn="l"/>
            <a:r>
              <a:rPr sz="900" b="0" i="0">
                <a:solidFill>
                  <a:srgbClr val="0F172A"/>
                </a:solidFill>
                <a:latin typeface="Calibri"/>
              </a:rPr>
              <a:t>Cypress</a:t>
            </a:r>
          </a:p>
        </p:txBody>
      </p:sp>
      <p:sp>
        <p:nvSpPr>
          <p:cNvPr id="63" name="Rectangle 62"/>
          <p:cNvSpPr/>
          <p:nvPr/>
        </p:nvSpPr>
        <p:spPr>
          <a:xfrm>
            <a:off x="11567160" y="4114800"/>
            <a:ext cx="109728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11658600" y="418795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65" name="Rectangle 64"/>
          <p:cNvSpPr/>
          <p:nvPr/>
        </p:nvSpPr>
        <p:spPr>
          <a:xfrm>
            <a:off x="4434840" y="4617720"/>
            <a:ext cx="22860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526279" y="4690872"/>
            <a:ext cx="2148840" cy="411480"/>
          </a:xfrm>
          <a:prstGeom prst="rect">
            <a:avLst/>
          </a:prstGeom>
          <a:noFill/>
        </p:spPr>
        <p:txBody>
          <a:bodyPr wrap="square">
            <a:spAutoFit/>
          </a:bodyPr>
          <a:lstStyle/>
          <a:p>
            <a:pPr algn="l"/>
            <a:r>
              <a:rPr sz="900" b="0" i="0">
                <a:solidFill>
                  <a:srgbClr val="0F172A"/>
                </a:solidFill>
                <a:latin typeface="Calibri"/>
              </a:rPr>
              <a:t>E2E</a:t>
            </a:r>
          </a:p>
        </p:txBody>
      </p:sp>
      <p:sp>
        <p:nvSpPr>
          <p:cNvPr id="67" name="Rectangle 66"/>
          <p:cNvSpPr/>
          <p:nvPr/>
        </p:nvSpPr>
        <p:spPr>
          <a:xfrm>
            <a:off x="6812280" y="4617720"/>
            <a:ext cx="32004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903720" y="4690872"/>
            <a:ext cx="3063240" cy="411480"/>
          </a:xfrm>
          <a:prstGeom prst="rect">
            <a:avLst/>
          </a:prstGeom>
          <a:noFill/>
        </p:spPr>
        <p:txBody>
          <a:bodyPr wrap="square">
            <a:spAutoFit/>
          </a:bodyPr>
          <a:lstStyle/>
          <a:p>
            <a:pPr algn="l"/>
            <a:r>
              <a:rPr sz="900" b="0" i="0">
                <a:solidFill>
                  <a:srgbClr val="0F172A"/>
                </a:solidFill>
                <a:latin typeface="Calibri"/>
              </a:rPr>
              <a:t>Image upload → Analysis results screen</a:t>
            </a:r>
          </a:p>
        </p:txBody>
      </p:sp>
      <p:sp>
        <p:nvSpPr>
          <p:cNvPr id="69" name="Rectangle 68"/>
          <p:cNvSpPr/>
          <p:nvPr/>
        </p:nvSpPr>
        <p:spPr>
          <a:xfrm>
            <a:off x="10104120" y="4617720"/>
            <a:ext cx="13716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195560" y="4690872"/>
            <a:ext cx="1234440" cy="411480"/>
          </a:xfrm>
          <a:prstGeom prst="rect">
            <a:avLst/>
          </a:prstGeom>
          <a:noFill/>
        </p:spPr>
        <p:txBody>
          <a:bodyPr wrap="square">
            <a:spAutoFit/>
          </a:bodyPr>
          <a:lstStyle/>
          <a:p>
            <a:pPr algn="l"/>
            <a:r>
              <a:rPr sz="900" b="0" i="0">
                <a:solidFill>
                  <a:srgbClr val="0F172A"/>
                </a:solidFill>
                <a:latin typeface="Calibri"/>
              </a:rPr>
              <a:t>Cypress</a:t>
            </a:r>
          </a:p>
        </p:txBody>
      </p:sp>
      <p:sp>
        <p:nvSpPr>
          <p:cNvPr id="71" name="Rectangle 70"/>
          <p:cNvSpPr/>
          <p:nvPr/>
        </p:nvSpPr>
        <p:spPr>
          <a:xfrm>
            <a:off x="11567160" y="4617720"/>
            <a:ext cx="109728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11658600" y="469087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73" name="Rectangle 72"/>
          <p:cNvSpPr/>
          <p:nvPr/>
        </p:nvSpPr>
        <p:spPr>
          <a:xfrm>
            <a:off x="4434840" y="5120640"/>
            <a:ext cx="22860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4526279" y="5193792"/>
            <a:ext cx="2148840" cy="411480"/>
          </a:xfrm>
          <a:prstGeom prst="rect">
            <a:avLst/>
          </a:prstGeom>
          <a:noFill/>
        </p:spPr>
        <p:txBody>
          <a:bodyPr wrap="square">
            <a:spAutoFit/>
          </a:bodyPr>
          <a:lstStyle/>
          <a:p>
            <a:pPr algn="l"/>
            <a:r>
              <a:rPr sz="900" b="0" i="0">
                <a:solidFill>
                  <a:srgbClr val="0F172A"/>
                </a:solidFill>
                <a:latin typeface="Calibri"/>
              </a:rPr>
              <a:t>Performance</a:t>
            </a:r>
          </a:p>
        </p:txBody>
      </p:sp>
      <p:sp>
        <p:nvSpPr>
          <p:cNvPr id="75" name="Rectangle 74"/>
          <p:cNvSpPr/>
          <p:nvPr/>
        </p:nvSpPr>
        <p:spPr>
          <a:xfrm>
            <a:off x="6812280" y="5120640"/>
            <a:ext cx="32004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903720" y="5193792"/>
            <a:ext cx="3063240" cy="411480"/>
          </a:xfrm>
          <a:prstGeom prst="rect">
            <a:avLst/>
          </a:prstGeom>
          <a:noFill/>
        </p:spPr>
        <p:txBody>
          <a:bodyPr wrap="square">
            <a:spAutoFit/>
          </a:bodyPr>
          <a:lstStyle/>
          <a:p>
            <a:pPr algn="l"/>
            <a:r>
              <a:rPr sz="900" b="0" i="0">
                <a:solidFill>
                  <a:srgbClr val="0F172A"/>
                </a:solidFill>
                <a:latin typeface="Calibri"/>
              </a:rPr>
              <a:t>Lighthouse audit ≥ 90 (perf, a11y, SEO)</a:t>
            </a:r>
          </a:p>
        </p:txBody>
      </p:sp>
      <p:sp>
        <p:nvSpPr>
          <p:cNvPr id="77" name="Rectangle 76"/>
          <p:cNvSpPr/>
          <p:nvPr/>
        </p:nvSpPr>
        <p:spPr>
          <a:xfrm>
            <a:off x="10104120" y="5120640"/>
            <a:ext cx="137160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195560" y="5193792"/>
            <a:ext cx="1234440" cy="411480"/>
          </a:xfrm>
          <a:prstGeom prst="rect">
            <a:avLst/>
          </a:prstGeom>
          <a:noFill/>
        </p:spPr>
        <p:txBody>
          <a:bodyPr wrap="square">
            <a:spAutoFit/>
          </a:bodyPr>
          <a:lstStyle/>
          <a:p>
            <a:pPr algn="l"/>
            <a:r>
              <a:rPr sz="900" b="0" i="0">
                <a:solidFill>
                  <a:srgbClr val="0F172A"/>
                </a:solidFill>
                <a:latin typeface="Calibri"/>
              </a:rPr>
              <a:t>Lighthouse</a:t>
            </a:r>
          </a:p>
        </p:txBody>
      </p:sp>
      <p:sp>
        <p:nvSpPr>
          <p:cNvPr id="79" name="Rectangle 78"/>
          <p:cNvSpPr/>
          <p:nvPr/>
        </p:nvSpPr>
        <p:spPr>
          <a:xfrm>
            <a:off x="11567160" y="5120640"/>
            <a:ext cx="1097280" cy="502920"/>
          </a:xfrm>
          <a:prstGeom prst="rect">
            <a:avLst/>
          </a:prstGeom>
          <a:solidFill>
            <a:srgbClr val="F1F5F9"/>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11658600" y="519379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81" name="Rectangle 80"/>
          <p:cNvSpPr/>
          <p:nvPr/>
        </p:nvSpPr>
        <p:spPr>
          <a:xfrm>
            <a:off x="4434840" y="5623560"/>
            <a:ext cx="22860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4526279" y="5696712"/>
            <a:ext cx="2148840" cy="411480"/>
          </a:xfrm>
          <a:prstGeom prst="rect">
            <a:avLst/>
          </a:prstGeom>
          <a:noFill/>
        </p:spPr>
        <p:txBody>
          <a:bodyPr wrap="square">
            <a:spAutoFit/>
          </a:bodyPr>
          <a:lstStyle/>
          <a:p>
            <a:pPr algn="l"/>
            <a:r>
              <a:rPr sz="900" b="0" i="0">
                <a:solidFill>
                  <a:srgbClr val="0F172A"/>
                </a:solidFill>
                <a:latin typeface="Calibri"/>
              </a:rPr>
              <a:t>Security</a:t>
            </a:r>
          </a:p>
        </p:txBody>
      </p:sp>
      <p:sp>
        <p:nvSpPr>
          <p:cNvPr id="83" name="Rectangle 82"/>
          <p:cNvSpPr/>
          <p:nvPr/>
        </p:nvSpPr>
        <p:spPr>
          <a:xfrm>
            <a:off x="6812280" y="5623560"/>
            <a:ext cx="32004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TextBox 83"/>
          <p:cNvSpPr txBox="1"/>
          <p:nvPr/>
        </p:nvSpPr>
        <p:spPr>
          <a:xfrm>
            <a:off x="6903720" y="5696712"/>
            <a:ext cx="3063240" cy="411480"/>
          </a:xfrm>
          <a:prstGeom prst="rect">
            <a:avLst/>
          </a:prstGeom>
          <a:noFill/>
        </p:spPr>
        <p:txBody>
          <a:bodyPr wrap="square">
            <a:spAutoFit/>
          </a:bodyPr>
          <a:lstStyle/>
          <a:p>
            <a:pPr algn="l"/>
            <a:r>
              <a:rPr sz="900" b="0" i="0">
                <a:solidFill>
                  <a:srgbClr val="0F172A"/>
                </a:solidFill>
                <a:latin typeface="Calibri"/>
              </a:rPr>
              <a:t>OWASP Top-10 vulnerability scan</a:t>
            </a:r>
          </a:p>
        </p:txBody>
      </p:sp>
      <p:sp>
        <p:nvSpPr>
          <p:cNvPr id="85" name="Rectangle 84"/>
          <p:cNvSpPr/>
          <p:nvPr/>
        </p:nvSpPr>
        <p:spPr>
          <a:xfrm>
            <a:off x="10104120" y="5623560"/>
            <a:ext cx="137160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TextBox 85"/>
          <p:cNvSpPr txBox="1"/>
          <p:nvPr/>
        </p:nvSpPr>
        <p:spPr>
          <a:xfrm>
            <a:off x="10195560" y="5696712"/>
            <a:ext cx="1234440" cy="411480"/>
          </a:xfrm>
          <a:prstGeom prst="rect">
            <a:avLst/>
          </a:prstGeom>
          <a:noFill/>
        </p:spPr>
        <p:txBody>
          <a:bodyPr wrap="square">
            <a:spAutoFit/>
          </a:bodyPr>
          <a:lstStyle/>
          <a:p>
            <a:pPr algn="l"/>
            <a:r>
              <a:rPr sz="900" b="0" i="0">
                <a:solidFill>
                  <a:srgbClr val="0F172A"/>
                </a:solidFill>
                <a:latin typeface="Calibri"/>
              </a:rPr>
              <a:t>OWASP ZAP</a:t>
            </a:r>
          </a:p>
        </p:txBody>
      </p:sp>
      <p:sp>
        <p:nvSpPr>
          <p:cNvPr id="87" name="Rectangle 86"/>
          <p:cNvSpPr/>
          <p:nvPr/>
        </p:nvSpPr>
        <p:spPr>
          <a:xfrm>
            <a:off x="11567160" y="5623560"/>
            <a:ext cx="1097280" cy="502920"/>
          </a:xfrm>
          <a:prstGeom prst="rect">
            <a:avLst/>
          </a:prstGeom>
          <a:solidFill>
            <a:srgbClr val="FFFFFF"/>
          </a:solidFill>
          <a:ln w="508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1658600" y="5696712"/>
            <a:ext cx="960120" cy="411480"/>
          </a:xfrm>
          <a:prstGeom prst="rect">
            <a:avLst/>
          </a:prstGeom>
          <a:noFill/>
        </p:spPr>
        <p:txBody>
          <a:bodyPr wrap="square">
            <a:spAutoFit/>
          </a:bodyPr>
          <a:lstStyle/>
          <a:p>
            <a:pPr algn="l"/>
            <a:r>
              <a:rPr sz="900" b="0" i="0">
                <a:solidFill>
                  <a:srgbClr val="0F172A"/>
                </a:solidFill>
                <a:latin typeface="Calibri"/>
              </a:rPr>
              <a:t>Planned</a:t>
            </a:r>
          </a:p>
        </p:txBody>
      </p:sp>
      <p:sp>
        <p:nvSpPr>
          <p:cNvPr id="89" name="TextBox 88"/>
          <p:cNvSpPr txBox="1"/>
          <p:nvPr/>
        </p:nvSpPr>
        <p:spPr>
          <a:xfrm>
            <a:off x="4434840" y="6217920"/>
            <a:ext cx="7818120" cy="411480"/>
          </a:xfrm>
          <a:prstGeom prst="rect">
            <a:avLst/>
          </a:prstGeom>
          <a:noFill/>
        </p:spPr>
        <p:txBody>
          <a:bodyPr wrap="square">
            <a:spAutoFit/>
          </a:bodyPr>
          <a:lstStyle/>
          <a:p>
            <a:pPr algn="l"/>
            <a:r>
              <a:rPr sz="1100" b="0" i="1">
                <a:solidFill>
                  <a:srgbClr val="2563EB"/>
                </a:solidFill>
                <a:latin typeface="Calibri"/>
              </a:rPr>
              <a:t>Target: ≥ 80% code coverage  |  All critical flows must pass before release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Application GUI – Frontend Screens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Key pages and components of the Skyntri web portal</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15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36192"/>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536192"/>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7548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5836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4124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51560" y="1572768"/>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16" name="TextBox 15"/>
          <p:cNvSpPr txBox="1"/>
          <p:nvPr/>
        </p:nvSpPr>
        <p:spPr>
          <a:xfrm>
            <a:off x="502920" y="1883664"/>
            <a:ext cx="3474720" cy="502920"/>
          </a:xfrm>
          <a:prstGeom prst="rect">
            <a:avLst/>
          </a:prstGeom>
          <a:noFill/>
        </p:spPr>
        <p:txBody>
          <a:bodyPr wrap="square">
            <a:spAutoFit/>
          </a:bodyPr>
          <a:lstStyle/>
          <a:p>
            <a:pPr algn="ctr"/>
            <a:r>
              <a:rPr sz="1200" b="1" i="0">
                <a:solidFill>
                  <a:srgbClr val="FFFFFF"/>
                </a:solidFill>
                <a:latin typeface="Calibri"/>
              </a:rPr>
              <a:t>🏠 Landing Page</a:t>
            </a:r>
          </a:p>
        </p:txBody>
      </p:sp>
      <p:sp>
        <p:nvSpPr>
          <p:cNvPr id="17" name="Rectangle 16"/>
          <p:cNvSpPr/>
          <p:nvPr/>
        </p:nvSpPr>
        <p:spPr>
          <a:xfrm>
            <a:off x="365760" y="2999232"/>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75488" y="3044952"/>
            <a:ext cx="3547872" cy="731520"/>
          </a:xfrm>
          <a:prstGeom prst="rect">
            <a:avLst/>
          </a:prstGeom>
          <a:noFill/>
        </p:spPr>
        <p:txBody>
          <a:bodyPr wrap="square">
            <a:spAutoFit/>
          </a:bodyPr>
          <a:lstStyle/>
          <a:p>
            <a:pPr algn="l"/>
            <a:r>
              <a:rPr sz="900" b="0" i="0">
                <a:solidFill>
                  <a:srgbClr val="475569"/>
                </a:solidFill>
                <a:latin typeface="Calibri"/>
              </a:rPr>
              <a:t>Hero section with animated tagline 'Precision Skin Intelligence', feature overview cards (Image Analysis, Ingredient Safety, AI Assistant), and CTA button. Clean slate/white clinical aesthetic.</a:t>
            </a:r>
          </a:p>
        </p:txBody>
      </p:sp>
      <p:sp>
        <p:nvSpPr>
          <p:cNvPr id="19" name="Rectangle 18"/>
          <p:cNvSpPr/>
          <p:nvPr/>
        </p:nvSpPr>
        <p:spPr>
          <a:xfrm>
            <a:off x="4297680" y="1536192"/>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297680" y="1536192"/>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40740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59028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773168" y="1609344"/>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983480" y="1572768"/>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25" name="TextBox 24"/>
          <p:cNvSpPr txBox="1"/>
          <p:nvPr/>
        </p:nvSpPr>
        <p:spPr>
          <a:xfrm>
            <a:off x="4434840" y="1883664"/>
            <a:ext cx="3474720" cy="502920"/>
          </a:xfrm>
          <a:prstGeom prst="rect">
            <a:avLst/>
          </a:prstGeom>
          <a:noFill/>
        </p:spPr>
        <p:txBody>
          <a:bodyPr wrap="square">
            <a:spAutoFit/>
          </a:bodyPr>
          <a:lstStyle/>
          <a:p>
            <a:pPr algn="ctr"/>
            <a:r>
              <a:rPr sz="1200" b="1" i="0">
                <a:solidFill>
                  <a:srgbClr val="FFFFFF"/>
                </a:solidFill>
                <a:latin typeface="Calibri"/>
              </a:rPr>
              <a:t>🔐 Login / Signup</a:t>
            </a:r>
          </a:p>
        </p:txBody>
      </p:sp>
      <p:sp>
        <p:nvSpPr>
          <p:cNvPr id="26" name="Rectangle 25"/>
          <p:cNvSpPr/>
          <p:nvPr/>
        </p:nvSpPr>
        <p:spPr>
          <a:xfrm>
            <a:off x="4297680" y="2999232"/>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07408" y="3044952"/>
            <a:ext cx="3547872" cy="731520"/>
          </a:xfrm>
          <a:prstGeom prst="rect">
            <a:avLst/>
          </a:prstGeom>
          <a:noFill/>
        </p:spPr>
        <p:txBody>
          <a:bodyPr wrap="square">
            <a:spAutoFit/>
          </a:bodyPr>
          <a:lstStyle/>
          <a:p>
            <a:pPr algn="l"/>
            <a:r>
              <a:rPr sz="900" b="0" i="0">
                <a:solidFill>
                  <a:srgbClr val="475569"/>
                </a:solidFill>
                <a:latin typeface="Calibri"/>
              </a:rPr>
              <a:t>Minimalist auth forms with email + password, Google OAuth placeholder, and Forgot Password flow. Slate-dark card on light background.</a:t>
            </a:r>
          </a:p>
        </p:txBody>
      </p:sp>
      <p:sp>
        <p:nvSpPr>
          <p:cNvPr id="28" name="Rectangle 27"/>
          <p:cNvSpPr/>
          <p:nvPr/>
        </p:nvSpPr>
        <p:spPr>
          <a:xfrm>
            <a:off x="8229600" y="3867911"/>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229600" y="3867911"/>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339327"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522208"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8705088"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915400" y="3904487"/>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34" name="TextBox 33"/>
          <p:cNvSpPr txBox="1"/>
          <p:nvPr/>
        </p:nvSpPr>
        <p:spPr>
          <a:xfrm>
            <a:off x="8366760" y="4215383"/>
            <a:ext cx="3474720" cy="502920"/>
          </a:xfrm>
          <a:prstGeom prst="rect">
            <a:avLst/>
          </a:prstGeom>
          <a:noFill/>
        </p:spPr>
        <p:txBody>
          <a:bodyPr wrap="square">
            <a:spAutoFit/>
          </a:bodyPr>
          <a:lstStyle/>
          <a:p>
            <a:pPr algn="ctr"/>
            <a:r>
              <a:rPr sz="1200" b="1" i="0">
                <a:solidFill>
                  <a:srgbClr val="FFFFFF"/>
                </a:solidFill>
                <a:latin typeface="Calibri"/>
              </a:rPr>
              <a:t>📊 Dashboard – Overview</a:t>
            </a:r>
          </a:p>
        </p:txBody>
      </p:sp>
      <p:sp>
        <p:nvSpPr>
          <p:cNvPr id="35" name="Rectangle 34"/>
          <p:cNvSpPr/>
          <p:nvPr/>
        </p:nvSpPr>
        <p:spPr>
          <a:xfrm>
            <a:off x="8229600" y="5330952"/>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339327" y="5376671"/>
            <a:ext cx="3547872" cy="731520"/>
          </a:xfrm>
          <a:prstGeom prst="rect">
            <a:avLst/>
          </a:prstGeom>
          <a:noFill/>
        </p:spPr>
        <p:txBody>
          <a:bodyPr wrap="square">
            <a:spAutoFit/>
          </a:bodyPr>
          <a:lstStyle/>
          <a:p>
            <a:pPr algn="l"/>
            <a:r>
              <a:rPr sz="900" b="0" i="0">
                <a:solidFill>
                  <a:srgbClr val="475569"/>
                </a:solidFill>
                <a:latin typeface="Calibri"/>
              </a:rPr>
              <a:t>Sidebar navigation, DashboardHeader with notifications bell, AI Assistant floating button. Central content area with tab panels.</a:t>
            </a:r>
          </a:p>
        </p:txBody>
      </p:sp>
      <p:sp>
        <p:nvSpPr>
          <p:cNvPr id="37" name="Rectangle 36"/>
          <p:cNvSpPr/>
          <p:nvPr/>
        </p:nvSpPr>
        <p:spPr>
          <a:xfrm>
            <a:off x="365760" y="3867911"/>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365760" y="3867911"/>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475488"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658368"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41248" y="394106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3904487"/>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43" name="TextBox 42"/>
          <p:cNvSpPr txBox="1"/>
          <p:nvPr/>
        </p:nvSpPr>
        <p:spPr>
          <a:xfrm>
            <a:off x="502920" y="4215383"/>
            <a:ext cx="3474720" cy="502920"/>
          </a:xfrm>
          <a:prstGeom prst="rect">
            <a:avLst/>
          </a:prstGeom>
          <a:noFill/>
        </p:spPr>
        <p:txBody>
          <a:bodyPr wrap="square">
            <a:spAutoFit/>
          </a:bodyPr>
          <a:lstStyle/>
          <a:p>
            <a:pPr algn="ctr"/>
            <a:r>
              <a:rPr sz="1200" b="1" i="0">
                <a:solidFill>
                  <a:srgbClr val="FFFFFF"/>
                </a:solidFill>
                <a:latin typeface="Calibri"/>
              </a:rPr>
              <a:t>🔬 Skin Analysis</a:t>
            </a:r>
          </a:p>
        </p:txBody>
      </p:sp>
      <p:sp>
        <p:nvSpPr>
          <p:cNvPr id="44" name="Rectangle 43"/>
          <p:cNvSpPr/>
          <p:nvPr/>
        </p:nvSpPr>
        <p:spPr>
          <a:xfrm>
            <a:off x="365760" y="5330952"/>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75488" y="5376671"/>
            <a:ext cx="3547872" cy="731520"/>
          </a:xfrm>
          <a:prstGeom prst="rect">
            <a:avLst/>
          </a:prstGeom>
          <a:noFill/>
        </p:spPr>
        <p:txBody>
          <a:bodyPr wrap="square">
            <a:spAutoFit/>
          </a:bodyPr>
          <a:lstStyle/>
          <a:p>
            <a:pPr algn="l"/>
            <a:r>
              <a:rPr sz="900" b="0" i="0">
                <a:solidFill>
                  <a:srgbClr val="475569"/>
                </a:solidFill>
                <a:latin typeface="Calibri"/>
              </a:rPr>
              <a:t>Drag-and-drop image upload area, multi-step progress bar (preprocessing → feature extraction → classification), results card with condition name + confidence percentage.</a:t>
            </a:r>
          </a:p>
        </p:txBody>
      </p:sp>
      <p:sp>
        <p:nvSpPr>
          <p:cNvPr id="46" name="Rectangle 45"/>
          <p:cNvSpPr/>
          <p:nvPr/>
        </p:nvSpPr>
        <p:spPr>
          <a:xfrm>
            <a:off x="4297680" y="6199631"/>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297680" y="6199631"/>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4407408"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4590288"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4773168"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983480" y="6236207"/>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52" name="TextBox 51"/>
          <p:cNvSpPr txBox="1"/>
          <p:nvPr/>
        </p:nvSpPr>
        <p:spPr>
          <a:xfrm>
            <a:off x="4434840" y="6547103"/>
            <a:ext cx="3474720" cy="502920"/>
          </a:xfrm>
          <a:prstGeom prst="rect">
            <a:avLst/>
          </a:prstGeom>
          <a:noFill/>
        </p:spPr>
        <p:txBody>
          <a:bodyPr wrap="square">
            <a:spAutoFit/>
          </a:bodyPr>
          <a:lstStyle/>
          <a:p>
            <a:pPr algn="ctr"/>
            <a:r>
              <a:rPr sz="1200" b="1" i="0">
                <a:solidFill>
                  <a:srgbClr val="FFFFFF"/>
                </a:solidFill>
                <a:latin typeface="Calibri"/>
              </a:rPr>
              <a:t>🧴 Ingredient Safety</a:t>
            </a:r>
          </a:p>
        </p:txBody>
      </p:sp>
      <p:sp>
        <p:nvSpPr>
          <p:cNvPr id="53" name="Rectangle 52"/>
          <p:cNvSpPr/>
          <p:nvPr/>
        </p:nvSpPr>
        <p:spPr>
          <a:xfrm>
            <a:off x="4297680" y="7662671"/>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407408" y="7708392"/>
            <a:ext cx="3547872" cy="731520"/>
          </a:xfrm>
          <a:prstGeom prst="rect">
            <a:avLst/>
          </a:prstGeom>
          <a:noFill/>
        </p:spPr>
        <p:txBody>
          <a:bodyPr wrap="square">
            <a:spAutoFit/>
          </a:bodyPr>
          <a:lstStyle/>
          <a:p>
            <a:pPr algn="l"/>
            <a:r>
              <a:rPr sz="900" b="0" i="0">
                <a:solidFill>
                  <a:srgbClr val="475569"/>
                </a:solidFill>
                <a:latin typeface="Calibri"/>
              </a:rPr>
              <a:t>Ingredient list textarea, 'Scan' button, results table with safety rating (Safe / Caution / Harmful) per ingredient, color-coded badges.</a:t>
            </a:r>
          </a:p>
        </p:txBody>
      </p:sp>
      <p:sp>
        <p:nvSpPr>
          <p:cNvPr id="55" name="Rectangle 54"/>
          <p:cNvSpPr/>
          <p:nvPr/>
        </p:nvSpPr>
        <p:spPr>
          <a:xfrm>
            <a:off x="8229600" y="6199631"/>
            <a:ext cx="3749039" cy="1417320"/>
          </a:xfrm>
          <a:prstGeom prst="rect">
            <a:avLst/>
          </a:prstGeom>
          <a:solidFill>
            <a:srgbClr val="0F172A"/>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8229600" y="6199631"/>
            <a:ext cx="3749039" cy="274320"/>
          </a:xfrm>
          <a:prstGeom prst="rect">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8339327"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8522208"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8705088" y="6272783"/>
            <a:ext cx="118872" cy="1188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8915400" y="6236207"/>
            <a:ext cx="2286000" cy="228600"/>
          </a:xfrm>
          <a:prstGeom prst="rect">
            <a:avLst/>
          </a:prstGeom>
          <a:noFill/>
        </p:spPr>
        <p:txBody>
          <a:bodyPr wrap="square">
            <a:spAutoFit/>
          </a:bodyPr>
          <a:lstStyle/>
          <a:p>
            <a:pPr algn="ctr"/>
            <a:r>
              <a:rPr sz="800" b="0" i="0">
                <a:solidFill>
                  <a:srgbClr val="FFFFFF"/>
                </a:solidFill>
                <a:latin typeface="Calibri"/>
              </a:rPr>
              <a:t>skyntri.app</a:t>
            </a:r>
          </a:p>
        </p:txBody>
      </p:sp>
      <p:sp>
        <p:nvSpPr>
          <p:cNvPr id="61" name="TextBox 60"/>
          <p:cNvSpPr txBox="1"/>
          <p:nvPr/>
        </p:nvSpPr>
        <p:spPr>
          <a:xfrm>
            <a:off x="8366760" y="6547103"/>
            <a:ext cx="3474720" cy="502920"/>
          </a:xfrm>
          <a:prstGeom prst="rect">
            <a:avLst/>
          </a:prstGeom>
          <a:noFill/>
        </p:spPr>
        <p:txBody>
          <a:bodyPr wrap="square">
            <a:spAutoFit/>
          </a:bodyPr>
          <a:lstStyle/>
          <a:p>
            <a:pPr algn="ctr"/>
            <a:r>
              <a:rPr sz="1200" b="1" i="0">
                <a:solidFill>
                  <a:srgbClr val="FFFFFF"/>
                </a:solidFill>
                <a:latin typeface="Calibri"/>
              </a:rPr>
              <a:t>🛒 Marketplace</a:t>
            </a:r>
          </a:p>
        </p:txBody>
      </p:sp>
      <p:sp>
        <p:nvSpPr>
          <p:cNvPr id="62" name="Rectangle 61"/>
          <p:cNvSpPr/>
          <p:nvPr/>
        </p:nvSpPr>
        <p:spPr>
          <a:xfrm>
            <a:off x="8229600" y="7662671"/>
            <a:ext cx="3749039" cy="777240"/>
          </a:xfrm>
          <a:prstGeom prst="rect">
            <a:avLst/>
          </a:prstGeom>
          <a:solidFill>
            <a:srgbClr val="FFFFFF"/>
          </a:solidFill>
          <a:ln w="6350">
            <a:solidFill>
              <a:srgbClr val="F1F5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8339327" y="7708392"/>
            <a:ext cx="3547872" cy="731520"/>
          </a:xfrm>
          <a:prstGeom prst="rect">
            <a:avLst/>
          </a:prstGeom>
          <a:noFill/>
        </p:spPr>
        <p:txBody>
          <a:bodyPr wrap="square">
            <a:spAutoFit/>
          </a:bodyPr>
          <a:lstStyle/>
          <a:p>
            <a:pPr algn="l"/>
            <a:r>
              <a:rPr sz="900" b="0" i="0">
                <a:solidFill>
                  <a:srgbClr val="475569"/>
                </a:solidFill>
                <a:latin typeface="Calibri"/>
              </a:rPr>
              <a:t>Product grid with skin-type filter tabs (All / Oily / Dry / Sensitive / Acne), product cards with clinical grade, price, and 'Add to Cart'. Slide-in cart sidebar with Easypaisa checkout.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Limitations</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Current constraints and known gaps in the prototype</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16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55448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1618488"/>
            <a:ext cx="5394960" cy="384048"/>
          </a:xfrm>
          <a:prstGeom prst="rect">
            <a:avLst/>
          </a:prstGeom>
          <a:noFill/>
        </p:spPr>
        <p:txBody>
          <a:bodyPr wrap="square">
            <a:spAutoFit/>
          </a:bodyPr>
          <a:lstStyle/>
          <a:p>
            <a:pPr algn="l"/>
            <a:r>
              <a:rPr sz="1300" b="1" i="0">
                <a:solidFill>
                  <a:srgbClr val="FFFFFF"/>
                </a:solidFill>
                <a:latin typeface="Calibri"/>
              </a:rPr>
              <a:t>🚧 Prototype-Stage ML Backend</a:t>
            </a:r>
          </a:p>
        </p:txBody>
      </p:sp>
      <p:sp>
        <p:nvSpPr>
          <p:cNvPr id="13" name="TextBox 12"/>
          <p:cNvSpPr txBox="1"/>
          <p:nvPr/>
        </p:nvSpPr>
        <p:spPr>
          <a:xfrm>
            <a:off x="502920" y="2103120"/>
            <a:ext cx="5394960" cy="1005840"/>
          </a:xfrm>
          <a:prstGeom prst="rect">
            <a:avLst/>
          </a:prstGeom>
          <a:noFill/>
        </p:spPr>
        <p:txBody>
          <a:bodyPr wrap="square">
            <a:spAutoFit/>
          </a:bodyPr>
          <a:lstStyle/>
          <a:p>
            <a:pPr algn="l"/>
            <a:r>
              <a:rPr sz="1100" b="0" i="0">
                <a:solidFill>
                  <a:srgbClr val="475569"/>
                </a:solidFill>
                <a:latin typeface="Calibri"/>
              </a:rPr>
              <a:t>The current implementation is a fully functional React frontend. The CNN skin classification, OCR ingredient scanner, and NLP assistant are architecturally designed but not yet connected to live ML model endpoints. Placeholder responses are used for demonstration purposes.</a:t>
            </a:r>
          </a:p>
        </p:txBody>
      </p:sp>
      <p:sp>
        <p:nvSpPr>
          <p:cNvPr id="14" name="Rectangle 13"/>
          <p:cNvSpPr/>
          <p:nvPr/>
        </p:nvSpPr>
        <p:spPr>
          <a:xfrm>
            <a:off x="6217920" y="155448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217920" y="155448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618488"/>
            <a:ext cx="5394960" cy="384048"/>
          </a:xfrm>
          <a:prstGeom prst="rect">
            <a:avLst/>
          </a:prstGeom>
          <a:noFill/>
        </p:spPr>
        <p:txBody>
          <a:bodyPr wrap="square">
            <a:spAutoFit/>
          </a:bodyPr>
          <a:lstStyle/>
          <a:p>
            <a:pPr algn="l"/>
            <a:r>
              <a:rPr sz="1300" b="1" i="0">
                <a:solidFill>
                  <a:srgbClr val="FFFFFF"/>
                </a:solidFill>
                <a:latin typeface="Calibri"/>
              </a:rPr>
              <a:t>📊 Limited Training Data</a:t>
            </a:r>
          </a:p>
        </p:txBody>
      </p:sp>
      <p:sp>
        <p:nvSpPr>
          <p:cNvPr id="17" name="TextBox 16"/>
          <p:cNvSpPr txBox="1"/>
          <p:nvPr/>
        </p:nvSpPr>
        <p:spPr>
          <a:xfrm>
            <a:off x="6355080" y="2103120"/>
            <a:ext cx="5394960" cy="1005840"/>
          </a:xfrm>
          <a:prstGeom prst="rect">
            <a:avLst/>
          </a:prstGeom>
          <a:noFill/>
        </p:spPr>
        <p:txBody>
          <a:bodyPr wrap="square">
            <a:spAutoFit/>
          </a:bodyPr>
          <a:lstStyle/>
          <a:p>
            <a:pPr algn="l"/>
            <a:r>
              <a:rPr sz="1100" b="0" i="0">
                <a:solidFill>
                  <a:srgbClr val="475569"/>
                </a:solidFill>
                <a:latin typeface="Calibri"/>
              </a:rPr>
              <a:t>The planned CNN model relies on the ISIC public dataset which, while comprehensive, has limited representation of skin conditions common in South Asian skin tones. This may affect classification accuracy for the primary target demographic.</a:t>
            </a:r>
          </a:p>
        </p:txBody>
      </p:sp>
      <p:sp>
        <p:nvSpPr>
          <p:cNvPr id="18" name="Rectangle 17"/>
          <p:cNvSpPr/>
          <p:nvPr/>
        </p:nvSpPr>
        <p:spPr>
          <a:xfrm>
            <a:off x="365760" y="324612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365760" y="324612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3310127"/>
            <a:ext cx="5394960" cy="384048"/>
          </a:xfrm>
          <a:prstGeom prst="rect">
            <a:avLst/>
          </a:prstGeom>
          <a:noFill/>
        </p:spPr>
        <p:txBody>
          <a:bodyPr wrap="square">
            <a:spAutoFit/>
          </a:bodyPr>
          <a:lstStyle/>
          <a:p>
            <a:pPr algn="l"/>
            <a:r>
              <a:rPr sz="1300" b="1" i="0">
                <a:solidFill>
                  <a:srgbClr val="FFFFFF"/>
                </a:solidFill>
                <a:latin typeface="Calibri"/>
              </a:rPr>
              <a:t>🌐 No Real-time Synchronisation</a:t>
            </a:r>
          </a:p>
        </p:txBody>
      </p:sp>
      <p:sp>
        <p:nvSpPr>
          <p:cNvPr id="21" name="TextBox 20"/>
          <p:cNvSpPr txBox="1"/>
          <p:nvPr/>
        </p:nvSpPr>
        <p:spPr>
          <a:xfrm>
            <a:off x="502920" y="3794759"/>
            <a:ext cx="5394960" cy="1005840"/>
          </a:xfrm>
          <a:prstGeom prst="rect">
            <a:avLst/>
          </a:prstGeom>
          <a:noFill/>
        </p:spPr>
        <p:txBody>
          <a:bodyPr wrap="square">
            <a:spAutoFit/>
          </a:bodyPr>
          <a:lstStyle/>
          <a:p>
            <a:pPr algn="l"/>
            <a:r>
              <a:rPr sz="1100" b="0" i="0">
                <a:solidFill>
                  <a:srgbClr val="475569"/>
                </a:solidFill>
                <a:latin typeface="Calibri"/>
              </a:rPr>
              <a:t>The current architecture lacks a WebSocket layer for live updates. Notifications and analysis status are simulated. A production system would require event-driven real-time communication.</a:t>
            </a:r>
          </a:p>
        </p:txBody>
      </p:sp>
      <p:sp>
        <p:nvSpPr>
          <p:cNvPr id="22" name="Rectangle 21"/>
          <p:cNvSpPr/>
          <p:nvPr/>
        </p:nvSpPr>
        <p:spPr>
          <a:xfrm>
            <a:off x="6217920" y="324612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17920" y="324612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310127"/>
            <a:ext cx="5394960" cy="384048"/>
          </a:xfrm>
          <a:prstGeom prst="rect">
            <a:avLst/>
          </a:prstGeom>
          <a:noFill/>
        </p:spPr>
        <p:txBody>
          <a:bodyPr wrap="square">
            <a:spAutoFit/>
          </a:bodyPr>
          <a:lstStyle/>
          <a:p>
            <a:pPr algn="l"/>
            <a:r>
              <a:rPr sz="1300" b="1" i="0">
                <a:solidFill>
                  <a:srgbClr val="FFFFFF"/>
                </a:solidFill>
                <a:latin typeface="Calibri"/>
              </a:rPr>
              <a:t>💳 Payment Sandbox Only</a:t>
            </a:r>
          </a:p>
        </p:txBody>
      </p:sp>
      <p:sp>
        <p:nvSpPr>
          <p:cNvPr id="25" name="TextBox 24"/>
          <p:cNvSpPr txBox="1"/>
          <p:nvPr/>
        </p:nvSpPr>
        <p:spPr>
          <a:xfrm>
            <a:off x="6355080" y="3794759"/>
            <a:ext cx="5394960" cy="1005840"/>
          </a:xfrm>
          <a:prstGeom prst="rect">
            <a:avLst/>
          </a:prstGeom>
          <a:noFill/>
        </p:spPr>
        <p:txBody>
          <a:bodyPr wrap="square">
            <a:spAutoFit/>
          </a:bodyPr>
          <a:lstStyle/>
          <a:p>
            <a:pPr algn="l"/>
            <a:r>
              <a:rPr sz="1100" b="0" i="0">
                <a:solidFill>
                  <a:srgbClr val="475569"/>
                </a:solidFill>
                <a:latin typeface="Calibri"/>
              </a:rPr>
              <a:t>The Easypaisa integration is UI-complete but operates in a simulated mode. Production payment processing requires an approved merchant account and PCI-DSS compliance certification.</a:t>
            </a:r>
          </a:p>
        </p:txBody>
      </p:sp>
      <p:sp>
        <p:nvSpPr>
          <p:cNvPr id="26" name="Rectangle 25"/>
          <p:cNvSpPr/>
          <p:nvPr/>
        </p:nvSpPr>
        <p:spPr>
          <a:xfrm>
            <a:off x="365760" y="493776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65760" y="493776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502920" y="5001768"/>
            <a:ext cx="5394960" cy="384048"/>
          </a:xfrm>
          <a:prstGeom prst="rect">
            <a:avLst/>
          </a:prstGeom>
          <a:noFill/>
        </p:spPr>
        <p:txBody>
          <a:bodyPr wrap="square">
            <a:spAutoFit/>
          </a:bodyPr>
          <a:lstStyle/>
          <a:p>
            <a:pPr algn="l"/>
            <a:r>
              <a:rPr sz="1300" b="1" i="0">
                <a:solidFill>
                  <a:srgbClr val="FFFFFF"/>
                </a:solidFill>
                <a:latin typeface="Calibri"/>
              </a:rPr>
              <a:t>🔒 Authentication Placeholder</a:t>
            </a:r>
          </a:p>
        </p:txBody>
      </p:sp>
      <p:sp>
        <p:nvSpPr>
          <p:cNvPr id="29" name="TextBox 28"/>
          <p:cNvSpPr txBox="1"/>
          <p:nvPr/>
        </p:nvSpPr>
        <p:spPr>
          <a:xfrm>
            <a:off x="502920" y="5486400"/>
            <a:ext cx="5394960" cy="1005840"/>
          </a:xfrm>
          <a:prstGeom prst="rect">
            <a:avLst/>
          </a:prstGeom>
          <a:noFill/>
        </p:spPr>
        <p:txBody>
          <a:bodyPr wrap="square">
            <a:spAutoFit/>
          </a:bodyPr>
          <a:lstStyle/>
          <a:p>
            <a:pPr algn="l"/>
            <a:r>
              <a:rPr sz="1100" b="0" i="0">
                <a:solidFill>
                  <a:srgbClr val="475569"/>
                </a:solidFill>
                <a:latin typeface="Calibri"/>
              </a:rPr>
              <a:t>JWT authentication is architecturally defined but not yet wired to a live backend. User sessions are currently managed with local state only, meaning data does not persist across page refreshes.</a:t>
            </a:r>
          </a:p>
        </p:txBody>
      </p:sp>
      <p:sp>
        <p:nvSpPr>
          <p:cNvPr id="30" name="Rectangle 29"/>
          <p:cNvSpPr/>
          <p:nvPr/>
        </p:nvSpPr>
        <p:spPr>
          <a:xfrm>
            <a:off x="6217920" y="4937760"/>
            <a:ext cx="5623560" cy="16002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217920" y="4937760"/>
            <a:ext cx="5623560" cy="47548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5001768"/>
            <a:ext cx="5394960" cy="384048"/>
          </a:xfrm>
          <a:prstGeom prst="rect">
            <a:avLst/>
          </a:prstGeom>
          <a:noFill/>
        </p:spPr>
        <p:txBody>
          <a:bodyPr wrap="square">
            <a:spAutoFit/>
          </a:bodyPr>
          <a:lstStyle/>
          <a:p>
            <a:pPr algn="l"/>
            <a:r>
              <a:rPr sz="1300" b="1" i="0">
                <a:solidFill>
                  <a:srgbClr val="FFFFFF"/>
                </a:solidFill>
                <a:latin typeface="Calibri"/>
              </a:rPr>
              <a:t>📱 PWA Features Pending</a:t>
            </a:r>
          </a:p>
        </p:txBody>
      </p:sp>
      <p:sp>
        <p:nvSpPr>
          <p:cNvPr id="33" name="TextBox 32"/>
          <p:cNvSpPr txBox="1"/>
          <p:nvPr/>
        </p:nvSpPr>
        <p:spPr>
          <a:xfrm>
            <a:off x="6355080" y="5486400"/>
            <a:ext cx="5394960" cy="1005840"/>
          </a:xfrm>
          <a:prstGeom prst="rect">
            <a:avLst/>
          </a:prstGeom>
          <a:noFill/>
        </p:spPr>
        <p:txBody>
          <a:bodyPr wrap="square">
            <a:spAutoFit/>
          </a:bodyPr>
          <a:lstStyle/>
          <a:p>
            <a:pPr algn="l"/>
            <a:r>
              <a:rPr sz="1100" b="0" i="0">
                <a:solidFill>
                  <a:srgbClr val="475569"/>
                </a:solidFill>
                <a:latin typeface="Calibri"/>
              </a:rPr>
              <a:t>Progressive Web App capabilities (offline mode, push notifications, home-screen installation) are planned but not yet implemented in the current prototype.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Future Work</a:t>
            </a:r>
          </a:p>
        </p:txBody>
      </p:sp>
      <p:sp>
        <p:nvSpPr>
          <p:cNvPr id="5" name="TextBox 4"/>
          <p:cNvSpPr txBox="1"/>
          <p:nvPr/>
        </p:nvSpPr>
        <p:spPr>
          <a:xfrm>
            <a:off x="365760" y="822960"/>
            <a:ext cx="10972800" cy="457200"/>
          </a:xfrm>
          <a:prstGeom prst="rect">
            <a:avLst/>
          </a:prstGeom>
          <a:noFill/>
        </p:spPr>
        <p:txBody>
          <a:bodyPr wrap="square">
            <a:spAutoFit/>
          </a:bodyPr>
          <a:lstStyle/>
          <a:p>
            <a:pPr algn="l"/>
            <a:r>
              <a:rPr sz="1300" b="0" i="0">
                <a:solidFill>
                  <a:srgbClr val="DBEAFE"/>
                </a:solidFill>
                <a:latin typeface="Calibri"/>
              </a:rPr>
              <a:t>Planned enhancements and research directions</a:t>
            </a:r>
          </a:p>
        </p:txBody>
      </p:sp>
      <p:sp>
        <p:nvSpPr>
          <p:cNvPr id="6" name="Rectangle 5"/>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8" name="TextBox 7"/>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17 / 20</a:t>
            </a:r>
          </a:p>
        </p:txBody>
      </p:sp>
      <p:sp>
        <p:nvSpPr>
          <p:cNvPr id="9" name="Rectangle 8"/>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65760" y="1554480"/>
            <a:ext cx="2743200" cy="65836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554480"/>
            <a:ext cx="2743200" cy="347472"/>
          </a:xfrm>
          <a:prstGeom prst="rect">
            <a:avLst/>
          </a:prstGeom>
          <a:noFill/>
        </p:spPr>
        <p:txBody>
          <a:bodyPr wrap="square">
            <a:spAutoFit/>
          </a:bodyPr>
          <a:lstStyle/>
          <a:p>
            <a:pPr algn="ctr"/>
            <a:r>
              <a:rPr sz="1400" b="1" i="0">
                <a:solidFill>
                  <a:srgbClr val="FFFFFF"/>
                </a:solidFill>
                <a:latin typeface="Calibri"/>
              </a:rPr>
              <a:t>Q1 2026</a:t>
            </a:r>
          </a:p>
        </p:txBody>
      </p:sp>
      <p:sp>
        <p:nvSpPr>
          <p:cNvPr id="12" name="TextBox 11"/>
          <p:cNvSpPr txBox="1"/>
          <p:nvPr/>
        </p:nvSpPr>
        <p:spPr>
          <a:xfrm>
            <a:off x="365760" y="1874519"/>
            <a:ext cx="2743200" cy="320040"/>
          </a:xfrm>
          <a:prstGeom prst="rect">
            <a:avLst/>
          </a:prstGeom>
          <a:noFill/>
        </p:spPr>
        <p:txBody>
          <a:bodyPr wrap="square">
            <a:spAutoFit/>
          </a:bodyPr>
          <a:lstStyle/>
          <a:p>
            <a:pPr algn="ctr"/>
            <a:r>
              <a:rPr sz="1100" b="0" i="1">
                <a:solidFill>
                  <a:srgbClr val="FFFFFF"/>
                </a:solidFill>
                <a:latin typeface="Calibri"/>
              </a:rPr>
              <a:t>Short-term</a:t>
            </a:r>
          </a:p>
        </p:txBody>
      </p:sp>
      <p:sp>
        <p:nvSpPr>
          <p:cNvPr id="13" name="Rectangle 12"/>
          <p:cNvSpPr/>
          <p:nvPr/>
        </p:nvSpPr>
        <p:spPr>
          <a:xfrm>
            <a:off x="502920" y="2304288"/>
            <a:ext cx="2468880" cy="9144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1792" y="2414016"/>
            <a:ext cx="2240280" cy="731520"/>
          </a:xfrm>
          <a:prstGeom prst="rect">
            <a:avLst/>
          </a:prstGeom>
          <a:noFill/>
        </p:spPr>
        <p:txBody>
          <a:bodyPr wrap="square">
            <a:spAutoFit/>
          </a:bodyPr>
          <a:lstStyle/>
          <a:p>
            <a:pPr algn="l"/>
            <a:r>
              <a:rPr sz="1100" b="0" i="0">
                <a:solidFill>
                  <a:srgbClr val="0F172A"/>
                </a:solidFill>
                <a:latin typeface="Calibri"/>
              </a:rPr>
              <a:t>Connect live FastAPI ML backend to frontend</a:t>
            </a:r>
          </a:p>
        </p:txBody>
      </p:sp>
      <p:sp>
        <p:nvSpPr>
          <p:cNvPr id="15" name="Rectangle 14"/>
          <p:cNvSpPr/>
          <p:nvPr/>
        </p:nvSpPr>
        <p:spPr>
          <a:xfrm>
            <a:off x="502920" y="3355848"/>
            <a:ext cx="2468880" cy="9144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 y="3465576"/>
            <a:ext cx="2240280" cy="731520"/>
          </a:xfrm>
          <a:prstGeom prst="rect">
            <a:avLst/>
          </a:prstGeom>
          <a:noFill/>
        </p:spPr>
        <p:txBody>
          <a:bodyPr wrap="square">
            <a:spAutoFit/>
          </a:bodyPr>
          <a:lstStyle/>
          <a:p>
            <a:pPr algn="l"/>
            <a:r>
              <a:rPr sz="1100" b="0" i="0">
                <a:solidFill>
                  <a:srgbClr val="0F172A"/>
                </a:solidFill>
                <a:latin typeface="Calibri"/>
              </a:rPr>
              <a:t>Deploy EfficientNet-B3 CNN model (ISIC-trained)</a:t>
            </a:r>
          </a:p>
        </p:txBody>
      </p:sp>
      <p:sp>
        <p:nvSpPr>
          <p:cNvPr id="17" name="Rectangle 16"/>
          <p:cNvSpPr/>
          <p:nvPr/>
        </p:nvSpPr>
        <p:spPr>
          <a:xfrm>
            <a:off x="502920" y="4407408"/>
            <a:ext cx="2468880" cy="9144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1792" y="4517136"/>
            <a:ext cx="2240280" cy="731520"/>
          </a:xfrm>
          <a:prstGeom prst="rect">
            <a:avLst/>
          </a:prstGeom>
          <a:noFill/>
        </p:spPr>
        <p:txBody>
          <a:bodyPr wrap="square">
            <a:spAutoFit/>
          </a:bodyPr>
          <a:lstStyle/>
          <a:p>
            <a:pPr algn="l"/>
            <a:r>
              <a:rPr sz="1100" b="0" i="0">
                <a:solidFill>
                  <a:srgbClr val="0F172A"/>
                </a:solidFill>
                <a:latin typeface="Calibri"/>
              </a:rPr>
              <a:t>Implement real JWT authentication + PostgreSQL</a:t>
            </a:r>
          </a:p>
        </p:txBody>
      </p:sp>
      <p:sp>
        <p:nvSpPr>
          <p:cNvPr id="19" name="Rectangle 18"/>
          <p:cNvSpPr/>
          <p:nvPr/>
        </p:nvSpPr>
        <p:spPr>
          <a:xfrm>
            <a:off x="502920" y="5458968"/>
            <a:ext cx="2468880" cy="914400"/>
          </a:xfrm>
          <a:prstGeom prst="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1792" y="5568696"/>
            <a:ext cx="2240280" cy="731520"/>
          </a:xfrm>
          <a:prstGeom prst="rect">
            <a:avLst/>
          </a:prstGeom>
          <a:noFill/>
        </p:spPr>
        <p:txBody>
          <a:bodyPr wrap="square">
            <a:spAutoFit/>
          </a:bodyPr>
          <a:lstStyle/>
          <a:p>
            <a:pPr algn="l"/>
            <a:r>
              <a:rPr sz="1100" b="0" i="0">
                <a:solidFill>
                  <a:srgbClr val="0F172A"/>
                </a:solidFill>
                <a:latin typeface="Calibri"/>
              </a:rPr>
              <a:t>Launch public beta with 100 test users</a:t>
            </a:r>
          </a:p>
        </p:txBody>
      </p:sp>
      <p:sp>
        <p:nvSpPr>
          <p:cNvPr id="21" name="Rectangle 20"/>
          <p:cNvSpPr/>
          <p:nvPr/>
        </p:nvSpPr>
        <p:spPr>
          <a:xfrm>
            <a:off x="3246120" y="1554480"/>
            <a:ext cx="2743200" cy="658368"/>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246120" y="1554480"/>
            <a:ext cx="2743200" cy="347472"/>
          </a:xfrm>
          <a:prstGeom prst="rect">
            <a:avLst/>
          </a:prstGeom>
          <a:noFill/>
        </p:spPr>
        <p:txBody>
          <a:bodyPr wrap="square">
            <a:spAutoFit/>
          </a:bodyPr>
          <a:lstStyle/>
          <a:p>
            <a:pPr algn="ctr"/>
            <a:r>
              <a:rPr sz="1400" b="1" i="0">
                <a:solidFill>
                  <a:srgbClr val="FFFFFF"/>
                </a:solidFill>
                <a:latin typeface="Calibri"/>
              </a:rPr>
              <a:t>Q2 2026</a:t>
            </a:r>
          </a:p>
        </p:txBody>
      </p:sp>
      <p:sp>
        <p:nvSpPr>
          <p:cNvPr id="23" name="TextBox 22"/>
          <p:cNvSpPr txBox="1"/>
          <p:nvPr/>
        </p:nvSpPr>
        <p:spPr>
          <a:xfrm>
            <a:off x="3246120" y="1874519"/>
            <a:ext cx="2743200" cy="320040"/>
          </a:xfrm>
          <a:prstGeom prst="rect">
            <a:avLst/>
          </a:prstGeom>
          <a:noFill/>
        </p:spPr>
        <p:txBody>
          <a:bodyPr wrap="square">
            <a:spAutoFit/>
          </a:bodyPr>
          <a:lstStyle/>
          <a:p>
            <a:pPr algn="ctr"/>
            <a:r>
              <a:rPr sz="1100" b="0" i="1">
                <a:solidFill>
                  <a:srgbClr val="FFFFFF"/>
                </a:solidFill>
                <a:latin typeface="Calibri"/>
              </a:rPr>
              <a:t>Mid-term</a:t>
            </a:r>
          </a:p>
        </p:txBody>
      </p:sp>
      <p:sp>
        <p:nvSpPr>
          <p:cNvPr id="24" name="Rectangle 23"/>
          <p:cNvSpPr/>
          <p:nvPr/>
        </p:nvSpPr>
        <p:spPr>
          <a:xfrm>
            <a:off x="3383279" y="2304288"/>
            <a:ext cx="2468880" cy="9144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502152" y="2414016"/>
            <a:ext cx="2240280" cy="731520"/>
          </a:xfrm>
          <a:prstGeom prst="rect">
            <a:avLst/>
          </a:prstGeom>
          <a:noFill/>
        </p:spPr>
        <p:txBody>
          <a:bodyPr wrap="square">
            <a:spAutoFit/>
          </a:bodyPr>
          <a:lstStyle/>
          <a:p>
            <a:pPr algn="l"/>
            <a:r>
              <a:rPr sz="1100" b="0" i="0">
                <a:solidFill>
                  <a:srgbClr val="0F172A"/>
                </a:solidFill>
                <a:latin typeface="Calibri"/>
              </a:rPr>
              <a:t>Collect South Asian skin tone training data</a:t>
            </a:r>
          </a:p>
        </p:txBody>
      </p:sp>
      <p:sp>
        <p:nvSpPr>
          <p:cNvPr id="26" name="Rectangle 25"/>
          <p:cNvSpPr/>
          <p:nvPr/>
        </p:nvSpPr>
        <p:spPr>
          <a:xfrm>
            <a:off x="3383279" y="3355848"/>
            <a:ext cx="2468880" cy="9144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02152" y="3465576"/>
            <a:ext cx="2240280" cy="731520"/>
          </a:xfrm>
          <a:prstGeom prst="rect">
            <a:avLst/>
          </a:prstGeom>
          <a:noFill/>
        </p:spPr>
        <p:txBody>
          <a:bodyPr wrap="square">
            <a:spAutoFit/>
          </a:bodyPr>
          <a:lstStyle/>
          <a:p>
            <a:pPr algn="l"/>
            <a:r>
              <a:rPr sz="1100" b="0" i="0">
                <a:solidFill>
                  <a:srgbClr val="0F172A"/>
                </a:solidFill>
                <a:latin typeface="Calibri"/>
              </a:rPr>
              <a:t>Fine-tune model on local dermatology dataset</a:t>
            </a:r>
          </a:p>
        </p:txBody>
      </p:sp>
      <p:sp>
        <p:nvSpPr>
          <p:cNvPr id="28" name="Rectangle 27"/>
          <p:cNvSpPr/>
          <p:nvPr/>
        </p:nvSpPr>
        <p:spPr>
          <a:xfrm>
            <a:off x="3383279" y="4407408"/>
            <a:ext cx="2468880" cy="9144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02152" y="4517136"/>
            <a:ext cx="2240280" cy="731520"/>
          </a:xfrm>
          <a:prstGeom prst="rect">
            <a:avLst/>
          </a:prstGeom>
          <a:noFill/>
        </p:spPr>
        <p:txBody>
          <a:bodyPr wrap="square">
            <a:spAutoFit/>
          </a:bodyPr>
          <a:lstStyle/>
          <a:p>
            <a:pPr algn="l"/>
            <a:r>
              <a:rPr sz="1100" b="0" i="0">
                <a:solidFill>
                  <a:srgbClr val="0F172A"/>
                </a:solidFill>
                <a:latin typeface="Calibri"/>
              </a:rPr>
              <a:t>Integrate Easypaisa live merchant API</a:t>
            </a:r>
          </a:p>
        </p:txBody>
      </p:sp>
      <p:sp>
        <p:nvSpPr>
          <p:cNvPr id="30" name="Rectangle 29"/>
          <p:cNvSpPr/>
          <p:nvPr/>
        </p:nvSpPr>
        <p:spPr>
          <a:xfrm>
            <a:off x="3383279" y="5458968"/>
            <a:ext cx="2468880" cy="914400"/>
          </a:xfrm>
          <a:prstGeom prst="rect">
            <a:avLst/>
          </a:prstGeom>
          <a:solidFill>
            <a:srgbClr val="FFFFFF"/>
          </a:solidFill>
          <a:ln w="19050">
            <a:solidFill>
              <a:srgbClr val="059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502152" y="5568696"/>
            <a:ext cx="2240280" cy="731520"/>
          </a:xfrm>
          <a:prstGeom prst="rect">
            <a:avLst/>
          </a:prstGeom>
          <a:noFill/>
        </p:spPr>
        <p:txBody>
          <a:bodyPr wrap="square">
            <a:spAutoFit/>
          </a:bodyPr>
          <a:lstStyle/>
          <a:p>
            <a:pPr algn="l"/>
            <a:r>
              <a:rPr sz="1100" b="0" i="0">
                <a:solidFill>
                  <a:srgbClr val="0F172A"/>
                </a:solidFill>
                <a:latin typeface="Calibri"/>
              </a:rPr>
              <a:t>Add WebSocket real-time notifications</a:t>
            </a:r>
          </a:p>
        </p:txBody>
      </p:sp>
      <p:sp>
        <p:nvSpPr>
          <p:cNvPr id="32" name="Rectangle 31"/>
          <p:cNvSpPr/>
          <p:nvPr/>
        </p:nvSpPr>
        <p:spPr>
          <a:xfrm>
            <a:off x="6126480" y="1554480"/>
            <a:ext cx="2743200" cy="658368"/>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26480" y="1554480"/>
            <a:ext cx="2743200" cy="347472"/>
          </a:xfrm>
          <a:prstGeom prst="rect">
            <a:avLst/>
          </a:prstGeom>
          <a:noFill/>
        </p:spPr>
        <p:txBody>
          <a:bodyPr wrap="square">
            <a:spAutoFit/>
          </a:bodyPr>
          <a:lstStyle/>
          <a:p>
            <a:pPr algn="ctr"/>
            <a:r>
              <a:rPr sz="1400" b="1" i="0">
                <a:solidFill>
                  <a:srgbClr val="FFFFFF"/>
                </a:solidFill>
                <a:latin typeface="Calibri"/>
              </a:rPr>
              <a:t>Q3 2026</a:t>
            </a:r>
          </a:p>
        </p:txBody>
      </p:sp>
      <p:sp>
        <p:nvSpPr>
          <p:cNvPr id="34" name="TextBox 33"/>
          <p:cNvSpPr txBox="1"/>
          <p:nvPr/>
        </p:nvSpPr>
        <p:spPr>
          <a:xfrm>
            <a:off x="6126480" y="1874519"/>
            <a:ext cx="2743200" cy="320040"/>
          </a:xfrm>
          <a:prstGeom prst="rect">
            <a:avLst/>
          </a:prstGeom>
          <a:noFill/>
        </p:spPr>
        <p:txBody>
          <a:bodyPr wrap="square">
            <a:spAutoFit/>
          </a:bodyPr>
          <a:lstStyle/>
          <a:p>
            <a:pPr algn="ctr"/>
            <a:r>
              <a:rPr sz="1100" b="0" i="1">
                <a:solidFill>
                  <a:srgbClr val="FFFFFF"/>
                </a:solidFill>
                <a:latin typeface="Calibri"/>
              </a:rPr>
              <a:t>Long-term</a:t>
            </a:r>
          </a:p>
        </p:txBody>
      </p:sp>
      <p:sp>
        <p:nvSpPr>
          <p:cNvPr id="35" name="Rectangle 34"/>
          <p:cNvSpPr/>
          <p:nvPr/>
        </p:nvSpPr>
        <p:spPr>
          <a:xfrm>
            <a:off x="6263640" y="2304288"/>
            <a:ext cx="2468880" cy="9144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82512" y="2414016"/>
            <a:ext cx="2240280" cy="731520"/>
          </a:xfrm>
          <a:prstGeom prst="rect">
            <a:avLst/>
          </a:prstGeom>
          <a:noFill/>
        </p:spPr>
        <p:txBody>
          <a:bodyPr wrap="square">
            <a:spAutoFit/>
          </a:bodyPr>
          <a:lstStyle/>
          <a:p>
            <a:pPr algn="l"/>
            <a:r>
              <a:rPr sz="1100" b="0" i="0">
                <a:solidFill>
                  <a:srgbClr val="0F172A"/>
                </a:solidFill>
                <a:latin typeface="Calibri"/>
              </a:rPr>
              <a:t>PWA: offline mode + push notifications</a:t>
            </a:r>
          </a:p>
        </p:txBody>
      </p:sp>
      <p:sp>
        <p:nvSpPr>
          <p:cNvPr id="37" name="Rectangle 36"/>
          <p:cNvSpPr/>
          <p:nvPr/>
        </p:nvSpPr>
        <p:spPr>
          <a:xfrm>
            <a:off x="6263640" y="3355848"/>
            <a:ext cx="2468880" cy="9144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6382512" y="3465576"/>
            <a:ext cx="2240280" cy="731520"/>
          </a:xfrm>
          <a:prstGeom prst="rect">
            <a:avLst/>
          </a:prstGeom>
          <a:noFill/>
        </p:spPr>
        <p:txBody>
          <a:bodyPr wrap="square">
            <a:spAutoFit/>
          </a:bodyPr>
          <a:lstStyle/>
          <a:p>
            <a:pPr algn="l"/>
            <a:r>
              <a:rPr sz="1100" b="0" i="0">
                <a:solidFill>
                  <a:srgbClr val="0F172A"/>
                </a:solidFill>
                <a:latin typeface="Calibri"/>
              </a:rPr>
              <a:t>Telemedicine integration (video consult booking)</a:t>
            </a:r>
          </a:p>
        </p:txBody>
      </p:sp>
      <p:sp>
        <p:nvSpPr>
          <p:cNvPr id="39" name="Rectangle 38"/>
          <p:cNvSpPr/>
          <p:nvPr/>
        </p:nvSpPr>
        <p:spPr>
          <a:xfrm>
            <a:off x="6263640" y="4407408"/>
            <a:ext cx="2468880" cy="9144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382512" y="4517136"/>
            <a:ext cx="2240280" cy="731520"/>
          </a:xfrm>
          <a:prstGeom prst="rect">
            <a:avLst/>
          </a:prstGeom>
          <a:noFill/>
        </p:spPr>
        <p:txBody>
          <a:bodyPr wrap="square">
            <a:spAutoFit/>
          </a:bodyPr>
          <a:lstStyle/>
          <a:p>
            <a:pPr algn="l"/>
            <a:r>
              <a:rPr sz="1100" b="0" i="0">
                <a:solidFill>
                  <a:srgbClr val="0F172A"/>
                </a:solidFill>
                <a:latin typeface="Calibri"/>
              </a:rPr>
              <a:t>Dermatologist-verified second opinion feature</a:t>
            </a:r>
          </a:p>
        </p:txBody>
      </p:sp>
      <p:sp>
        <p:nvSpPr>
          <p:cNvPr id="41" name="Rectangle 40"/>
          <p:cNvSpPr/>
          <p:nvPr/>
        </p:nvSpPr>
        <p:spPr>
          <a:xfrm>
            <a:off x="6263640" y="5458968"/>
            <a:ext cx="2468880" cy="914400"/>
          </a:xfrm>
          <a:prstGeom prst="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382512" y="5568696"/>
            <a:ext cx="2240280" cy="731520"/>
          </a:xfrm>
          <a:prstGeom prst="rect">
            <a:avLst/>
          </a:prstGeom>
          <a:noFill/>
        </p:spPr>
        <p:txBody>
          <a:bodyPr wrap="square">
            <a:spAutoFit/>
          </a:bodyPr>
          <a:lstStyle/>
          <a:p>
            <a:pPr algn="l"/>
            <a:r>
              <a:rPr sz="1100" b="0" i="0">
                <a:solidFill>
                  <a:srgbClr val="0F172A"/>
                </a:solidFill>
                <a:latin typeface="Calibri"/>
              </a:rPr>
              <a:t>Multi-language support (Urdu, Arabic, Hindi)</a:t>
            </a:r>
          </a:p>
        </p:txBody>
      </p:sp>
      <p:sp>
        <p:nvSpPr>
          <p:cNvPr id="43" name="Rectangle 42"/>
          <p:cNvSpPr/>
          <p:nvPr/>
        </p:nvSpPr>
        <p:spPr>
          <a:xfrm>
            <a:off x="9006840" y="1554480"/>
            <a:ext cx="2743200" cy="658368"/>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9006840" y="1554480"/>
            <a:ext cx="2743200" cy="347472"/>
          </a:xfrm>
          <a:prstGeom prst="rect">
            <a:avLst/>
          </a:prstGeom>
          <a:noFill/>
        </p:spPr>
        <p:txBody>
          <a:bodyPr wrap="square">
            <a:spAutoFit/>
          </a:bodyPr>
          <a:lstStyle/>
          <a:p>
            <a:pPr algn="ctr"/>
            <a:r>
              <a:rPr sz="1400" b="1" i="0">
                <a:solidFill>
                  <a:srgbClr val="FFFFFF"/>
                </a:solidFill>
                <a:latin typeface="Calibri"/>
              </a:rPr>
              <a:t>2027+</a:t>
            </a:r>
          </a:p>
        </p:txBody>
      </p:sp>
      <p:sp>
        <p:nvSpPr>
          <p:cNvPr id="45" name="TextBox 44"/>
          <p:cNvSpPr txBox="1"/>
          <p:nvPr/>
        </p:nvSpPr>
        <p:spPr>
          <a:xfrm>
            <a:off x="9006840" y="1874519"/>
            <a:ext cx="2743200" cy="320040"/>
          </a:xfrm>
          <a:prstGeom prst="rect">
            <a:avLst/>
          </a:prstGeom>
          <a:noFill/>
        </p:spPr>
        <p:txBody>
          <a:bodyPr wrap="square">
            <a:spAutoFit/>
          </a:bodyPr>
          <a:lstStyle/>
          <a:p>
            <a:pPr algn="ctr"/>
            <a:r>
              <a:rPr sz="1100" b="0" i="1">
                <a:solidFill>
                  <a:srgbClr val="FFFFFF"/>
                </a:solidFill>
                <a:latin typeface="Calibri"/>
              </a:rPr>
              <a:t>Vision</a:t>
            </a:r>
          </a:p>
        </p:txBody>
      </p:sp>
      <p:sp>
        <p:nvSpPr>
          <p:cNvPr id="46" name="Rectangle 45"/>
          <p:cNvSpPr/>
          <p:nvPr/>
        </p:nvSpPr>
        <p:spPr>
          <a:xfrm>
            <a:off x="9144000" y="2304288"/>
            <a:ext cx="2468880" cy="9144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9262872" y="2414016"/>
            <a:ext cx="2240280" cy="731520"/>
          </a:xfrm>
          <a:prstGeom prst="rect">
            <a:avLst/>
          </a:prstGeom>
          <a:noFill/>
        </p:spPr>
        <p:txBody>
          <a:bodyPr wrap="square">
            <a:spAutoFit/>
          </a:bodyPr>
          <a:lstStyle/>
          <a:p>
            <a:pPr algn="l"/>
            <a:r>
              <a:rPr sz="1100" b="0" i="0">
                <a:solidFill>
                  <a:srgbClr val="0F172A"/>
                </a:solidFill>
                <a:latin typeface="Calibri"/>
              </a:rPr>
              <a:t>Federated learning for privacy-preserving model updates</a:t>
            </a:r>
          </a:p>
        </p:txBody>
      </p:sp>
      <p:sp>
        <p:nvSpPr>
          <p:cNvPr id="48" name="Rectangle 47"/>
          <p:cNvSpPr/>
          <p:nvPr/>
        </p:nvSpPr>
        <p:spPr>
          <a:xfrm>
            <a:off x="9144000" y="3355848"/>
            <a:ext cx="2468880" cy="9144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9262872" y="3465576"/>
            <a:ext cx="2240280" cy="731520"/>
          </a:xfrm>
          <a:prstGeom prst="rect">
            <a:avLst/>
          </a:prstGeom>
          <a:noFill/>
        </p:spPr>
        <p:txBody>
          <a:bodyPr wrap="square">
            <a:spAutoFit/>
          </a:bodyPr>
          <a:lstStyle/>
          <a:p>
            <a:pPr algn="l"/>
            <a:r>
              <a:rPr sz="1100" b="0" i="0">
                <a:solidFill>
                  <a:srgbClr val="0F172A"/>
                </a:solidFill>
                <a:latin typeface="Calibri"/>
              </a:rPr>
              <a:t>API marketplace for third-party dermatology apps</a:t>
            </a:r>
          </a:p>
        </p:txBody>
      </p:sp>
      <p:sp>
        <p:nvSpPr>
          <p:cNvPr id="50" name="Rectangle 49"/>
          <p:cNvSpPr/>
          <p:nvPr/>
        </p:nvSpPr>
        <p:spPr>
          <a:xfrm>
            <a:off x="9144000" y="4407408"/>
            <a:ext cx="2468880" cy="9144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9262872" y="4517136"/>
            <a:ext cx="2240280" cy="731520"/>
          </a:xfrm>
          <a:prstGeom prst="rect">
            <a:avLst/>
          </a:prstGeom>
          <a:noFill/>
        </p:spPr>
        <p:txBody>
          <a:bodyPr wrap="square">
            <a:spAutoFit/>
          </a:bodyPr>
          <a:lstStyle/>
          <a:p>
            <a:pPr algn="l"/>
            <a:r>
              <a:rPr sz="1100" b="0" i="0">
                <a:solidFill>
                  <a:srgbClr val="0F172A"/>
                </a:solidFill>
                <a:latin typeface="Calibri"/>
              </a:rPr>
              <a:t>IoT skin sensor integration (wearable patches)</a:t>
            </a:r>
          </a:p>
        </p:txBody>
      </p:sp>
      <p:sp>
        <p:nvSpPr>
          <p:cNvPr id="52" name="Rectangle 51"/>
          <p:cNvSpPr/>
          <p:nvPr/>
        </p:nvSpPr>
        <p:spPr>
          <a:xfrm>
            <a:off x="9144000" y="5458968"/>
            <a:ext cx="2468880" cy="914400"/>
          </a:xfrm>
          <a:prstGeom prst="rect">
            <a:avLst/>
          </a:prstGeom>
          <a:solidFill>
            <a:srgbClr val="FFFFFF"/>
          </a:solidFill>
          <a:ln w="19050">
            <a:solidFill>
              <a:srgbClr val="0F172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262872" y="5568696"/>
            <a:ext cx="2240280" cy="731520"/>
          </a:xfrm>
          <a:prstGeom prst="rect">
            <a:avLst/>
          </a:prstGeom>
          <a:noFill/>
        </p:spPr>
        <p:txBody>
          <a:bodyPr wrap="square">
            <a:spAutoFit/>
          </a:bodyPr>
          <a:lstStyle/>
          <a:p>
            <a:pPr algn="l"/>
            <a:r>
              <a:rPr sz="1100" b="0" i="0">
                <a:solidFill>
                  <a:srgbClr val="0F172A"/>
                </a:solidFill>
                <a:latin typeface="Calibri"/>
              </a:rPr>
              <a:t>Clinical trial data partnership with hospitals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5760" y="137160"/>
            <a:ext cx="10972800" cy="822960"/>
          </a:xfrm>
          <a:prstGeom prst="rect">
            <a:avLst/>
          </a:prstGeom>
          <a:noFill/>
        </p:spPr>
        <p:txBody>
          <a:bodyPr wrap="square">
            <a:spAutoFit/>
          </a:bodyPr>
          <a:lstStyle/>
          <a:p>
            <a:pPr algn="l"/>
            <a:r>
              <a:rPr sz="2800" b="1" i="0">
                <a:solidFill>
                  <a:srgbClr val="FFFFFF"/>
                </a:solidFill>
                <a:latin typeface="Calibri"/>
              </a:rPr>
              <a:t>References</a:t>
            </a:r>
          </a:p>
        </p:txBody>
      </p:sp>
      <p:sp>
        <p:nvSpPr>
          <p:cNvPr id="5" name="Rectangle 4"/>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7" name="TextBox 6"/>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18 / 20</a:t>
            </a:r>
          </a:p>
        </p:txBody>
      </p:sp>
      <p:sp>
        <p:nvSpPr>
          <p:cNvPr id="8" name="Rectangle 7"/>
          <p:cNvSpPr/>
          <p:nvPr/>
        </p:nvSpPr>
        <p:spPr>
          <a:xfrm>
            <a:off x="365760" y="1417320"/>
            <a:ext cx="11430000" cy="2743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7200" y="1536192"/>
            <a:ext cx="11247120" cy="384048"/>
          </a:xfrm>
          <a:prstGeom prst="rect">
            <a:avLst/>
          </a:prstGeom>
          <a:noFill/>
        </p:spPr>
        <p:txBody>
          <a:bodyPr wrap="square">
            <a:spAutoFit/>
          </a:bodyPr>
          <a:lstStyle/>
          <a:p>
            <a:pPr algn="l"/>
            <a:r>
              <a:rPr sz="1000" b="0" i="0">
                <a:solidFill>
                  <a:srgbClr val="475569"/>
                </a:solidFill>
                <a:latin typeface="Calibri"/>
              </a:rPr>
              <a:t>[1] Esteva, A. et al. (2017). Dermatologist-level classification of skin cancer with deep neural networks. Nature, 542(7639), 115–118. https://doi.org/10.1038/nature21056</a:t>
            </a:r>
          </a:p>
        </p:txBody>
      </p:sp>
      <p:sp>
        <p:nvSpPr>
          <p:cNvPr id="10" name="TextBox 9"/>
          <p:cNvSpPr txBox="1"/>
          <p:nvPr/>
        </p:nvSpPr>
        <p:spPr>
          <a:xfrm>
            <a:off x="457200" y="1938528"/>
            <a:ext cx="11247120" cy="384048"/>
          </a:xfrm>
          <a:prstGeom prst="rect">
            <a:avLst/>
          </a:prstGeom>
          <a:noFill/>
        </p:spPr>
        <p:txBody>
          <a:bodyPr wrap="square">
            <a:spAutoFit/>
          </a:bodyPr>
          <a:lstStyle/>
          <a:p>
            <a:pPr algn="l"/>
            <a:r>
              <a:rPr sz="1000" b="0" i="0">
                <a:solidFill>
                  <a:srgbClr val="0F172A"/>
                </a:solidFill>
                <a:latin typeface="Calibri"/>
              </a:rPr>
              <a:t>[2] Tschandl, P., Rosendahl, C., &amp; Kittler, H. (2018). The HAM10000 dataset: A large collection of multi-source dermatoscopic images of common pigmented skin lesions. Scientific Data, 5, 180161.</a:t>
            </a:r>
          </a:p>
        </p:txBody>
      </p:sp>
      <p:sp>
        <p:nvSpPr>
          <p:cNvPr id="11" name="TextBox 10"/>
          <p:cNvSpPr txBox="1"/>
          <p:nvPr/>
        </p:nvSpPr>
        <p:spPr>
          <a:xfrm>
            <a:off x="457200" y="2340864"/>
            <a:ext cx="11247120" cy="384048"/>
          </a:xfrm>
          <a:prstGeom prst="rect">
            <a:avLst/>
          </a:prstGeom>
          <a:noFill/>
        </p:spPr>
        <p:txBody>
          <a:bodyPr wrap="square">
            <a:spAutoFit/>
          </a:bodyPr>
          <a:lstStyle/>
          <a:p>
            <a:pPr algn="l"/>
            <a:r>
              <a:rPr sz="1000" b="0" i="0">
                <a:solidFill>
                  <a:srgbClr val="475569"/>
                </a:solidFill>
                <a:latin typeface="Calibri"/>
              </a:rPr>
              <a:t>[3] He, K., Zhang, X., Ren, S., &amp; Sun, J. (2016). Deep Residual Learning for Image Recognition. Proceedings of CVPR 2016. https://arxiv.org/abs/1512.03385</a:t>
            </a:r>
          </a:p>
        </p:txBody>
      </p:sp>
      <p:sp>
        <p:nvSpPr>
          <p:cNvPr id="12" name="TextBox 11"/>
          <p:cNvSpPr txBox="1"/>
          <p:nvPr/>
        </p:nvSpPr>
        <p:spPr>
          <a:xfrm>
            <a:off x="457200" y="2743200"/>
            <a:ext cx="11247120" cy="384048"/>
          </a:xfrm>
          <a:prstGeom prst="rect">
            <a:avLst/>
          </a:prstGeom>
          <a:noFill/>
        </p:spPr>
        <p:txBody>
          <a:bodyPr wrap="square">
            <a:spAutoFit/>
          </a:bodyPr>
          <a:lstStyle/>
          <a:p>
            <a:pPr algn="l"/>
            <a:r>
              <a:rPr sz="1000" b="0" i="0">
                <a:solidFill>
                  <a:srgbClr val="0F172A"/>
                </a:solidFill>
                <a:latin typeface="Calibri"/>
              </a:rPr>
              <a:t>[4] Tan, M., &amp; Le, Q. V. (2019). EfficientNet: Rethinking Model Scaling for Convolutional Neural Networks. ICML 2019. https://arxiv.org/abs/1905.11946</a:t>
            </a:r>
          </a:p>
        </p:txBody>
      </p:sp>
      <p:sp>
        <p:nvSpPr>
          <p:cNvPr id="13" name="TextBox 12"/>
          <p:cNvSpPr txBox="1"/>
          <p:nvPr/>
        </p:nvSpPr>
        <p:spPr>
          <a:xfrm>
            <a:off x="457200" y="3145536"/>
            <a:ext cx="11247120" cy="384048"/>
          </a:xfrm>
          <a:prstGeom prst="rect">
            <a:avLst/>
          </a:prstGeom>
          <a:noFill/>
        </p:spPr>
        <p:txBody>
          <a:bodyPr wrap="square">
            <a:spAutoFit/>
          </a:bodyPr>
          <a:lstStyle/>
          <a:p>
            <a:pPr algn="l"/>
            <a:r>
              <a:rPr sz="1000" b="0" i="0">
                <a:solidFill>
                  <a:srgbClr val="475569"/>
                </a:solidFill>
                <a:latin typeface="Calibri"/>
              </a:rPr>
              <a:t>[5] World Health Organization (2023). Skin diseases burden – Global Health Observatory data. Retrieved from https://www.who.int/data/gho</a:t>
            </a:r>
          </a:p>
        </p:txBody>
      </p:sp>
      <p:sp>
        <p:nvSpPr>
          <p:cNvPr id="14" name="TextBox 13"/>
          <p:cNvSpPr txBox="1"/>
          <p:nvPr/>
        </p:nvSpPr>
        <p:spPr>
          <a:xfrm>
            <a:off x="457200" y="3547872"/>
            <a:ext cx="11247120" cy="384048"/>
          </a:xfrm>
          <a:prstGeom prst="rect">
            <a:avLst/>
          </a:prstGeom>
          <a:noFill/>
        </p:spPr>
        <p:txBody>
          <a:bodyPr wrap="square">
            <a:spAutoFit/>
          </a:bodyPr>
          <a:lstStyle/>
          <a:p>
            <a:pPr algn="l"/>
            <a:r>
              <a:rPr sz="1000" b="0" i="0">
                <a:solidFill>
                  <a:srgbClr val="0F172A"/>
                </a:solidFill>
                <a:latin typeface="Calibri"/>
              </a:rPr>
              <a:t>[6] ISIC Archive (2023). International Skin Imaging Collaboration. https://www.isic-archive.com/</a:t>
            </a:r>
          </a:p>
        </p:txBody>
      </p:sp>
      <p:sp>
        <p:nvSpPr>
          <p:cNvPr id="15" name="TextBox 14"/>
          <p:cNvSpPr txBox="1"/>
          <p:nvPr/>
        </p:nvSpPr>
        <p:spPr>
          <a:xfrm>
            <a:off x="457200" y="3950208"/>
            <a:ext cx="11247120" cy="384048"/>
          </a:xfrm>
          <a:prstGeom prst="rect">
            <a:avLst/>
          </a:prstGeom>
          <a:noFill/>
        </p:spPr>
        <p:txBody>
          <a:bodyPr wrap="square">
            <a:spAutoFit/>
          </a:bodyPr>
          <a:lstStyle/>
          <a:p>
            <a:pPr algn="l"/>
            <a:r>
              <a:rPr sz="1000" b="0" i="0">
                <a:solidFill>
                  <a:srgbClr val="475569"/>
                </a:solidFill>
                <a:latin typeface="Calibri"/>
              </a:rPr>
              <a:t>[7] OWASP Foundation (2021). OWASP Top Ten Web Application Security Risks. https://owasp.org/www-project-top-ten/</a:t>
            </a:r>
          </a:p>
        </p:txBody>
      </p:sp>
      <p:sp>
        <p:nvSpPr>
          <p:cNvPr id="16" name="TextBox 15"/>
          <p:cNvSpPr txBox="1"/>
          <p:nvPr/>
        </p:nvSpPr>
        <p:spPr>
          <a:xfrm>
            <a:off x="457200" y="4352544"/>
            <a:ext cx="11247120" cy="384048"/>
          </a:xfrm>
          <a:prstGeom prst="rect">
            <a:avLst/>
          </a:prstGeom>
          <a:noFill/>
        </p:spPr>
        <p:txBody>
          <a:bodyPr wrap="square">
            <a:spAutoFit/>
          </a:bodyPr>
          <a:lstStyle/>
          <a:p>
            <a:pPr algn="l"/>
            <a:r>
              <a:rPr sz="1000" b="0" i="0">
                <a:solidFill>
                  <a:srgbClr val="0F172A"/>
                </a:solidFill>
                <a:latin typeface="Calibri"/>
              </a:rPr>
              <a:t>[8] React Documentation (2024). React – The Library for Web and Native User Interfaces. https://react.dev/</a:t>
            </a:r>
          </a:p>
        </p:txBody>
      </p:sp>
      <p:sp>
        <p:nvSpPr>
          <p:cNvPr id="17" name="TextBox 16"/>
          <p:cNvSpPr txBox="1"/>
          <p:nvPr/>
        </p:nvSpPr>
        <p:spPr>
          <a:xfrm>
            <a:off x="457200" y="4754880"/>
            <a:ext cx="11247120" cy="384048"/>
          </a:xfrm>
          <a:prstGeom prst="rect">
            <a:avLst/>
          </a:prstGeom>
          <a:noFill/>
        </p:spPr>
        <p:txBody>
          <a:bodyPr wrap="square">
            <a:spAutoFit/>
          </a:bodyPr>
          <a:lstStyle/>
          <a:p>
            <a:pPr algn="l"/>
            <a:r>
              <a:rPr sz="1000" b="0" i="0">
                <a:solidFill>
                  <a:srgbClr val="475569"/>
                </a:solidFill>
                <a:latin typeface="Calibri"/>
              </a:rPr>
              <a:t>[9] Tailwind CSS (2024). A utility-first CSS framework. https://tailwindcss.com/</a:t>
            </a:r>
          </a:p>
        </p:txBody>
      </p:sp>
      <p:sp>
        <p:nvSpPr>
          <p:cNvPr id="18" name="TextBox 17"/>
          <p:cNvSpPr txBox="1"/>
          <p:nvPr/>
        </p:nvSpPr>
        <p:spPr>
          <a:xfrm>
            <a:off x="457200" y="5157216"/>
            <a:ext cx="11247120" cy="384048"/>
          </a:xfrm>
          <a:prstGeom prst="rect">
            <a:avLst/>
          </a:prstGeom>
          <a:noFill/>
        </p:spPr>
        <p:txBody>
          <a:bodyPr wrap="square">
            <a:spAutoFit/>
          </a:bodyPr>
          <a:lstStyle/>
          <a:p>
            <a:pPr algn="l"/>
            <a:r>
              <a:rPr sz="1000" b="0" i="0">
                <a:solidFill>
                  <a:srgbClr val="0F172A"/>
                </a:solidFill>
                <a:latin typeface="Calibri"/>
              </a:rPr>
              <a:t>[10] Raffel, C. et al. (2020). Exploring the Limits of Transfer Learning with a Unified Text-to-Text Transformer (T5). JMLR, 21(140), 1–67.</a:t>
            </a:r>
          </a:p>
        </p:txBody>
      </p:sp>
      <p:sp>
        <p:nvSpPr>
          <p:cNvPr id="19" name="TextBox 18"/>
          <p:cNvSpPr txBox="1"/>
          <p:nvPr/>
        </p:nvSpPr>
        <p:spPr>
          <a:xfrm>
            <a:off x="457200" y="5559552"/>
            <a:ext cx="11247120" cy="384048"/>
          </a:xfrm>
          <a:prstGeom prst="rect">
            <a:avLst/>
          </a:prstGeom>
          <a:noFill/>
        </p:spPr>
        <p:txBody>
          <a:bodyPr wrap="square">
            <a:spAutoFit/>
          </a:bodyPr>
          <a:lstStyle/>
          <a:p>
            <a:pPr algn="l"/>
            <a:r>
              <a:rPr sz="1000" b="0" i="0">
                <a:solidFill>
                  <a:srgbClr val="475569"/>
                </a:solidFill>
                <a:latin typeface="Calibri"/>
              </a:rPr>
              <a:t>[11] United Nations (2015). Transforming Our World: The 2030 Agenda for Sustainable Development. https://sdgs.un.org/2030agenda</a:t>
            </a:r>
          </a:p>
        </p:txBody>
      </p:sp>
      <p:sp>
        <p:nvSpPr>
          <p:cNvPr id="20" name="TextBox 19"/>
          <p:cNvSpPr txBox="1"/>
          <p:nvPr/>
        </p:nvSpPr>
        <p:spPr>
          <a:xfrm>
            <a:off x="457200" y="5961888"/>
            <a:ext cx="11247120" cy="384048"/>
          </a:xfrm>
          <a:prstGeom prst="rect">
            <a:avLst/>
          </a:prstGeom>
          <a:noFill/>
        </p:spPr>
        <p:txBody>
          <a:bodyPr wrap="square">
            <a:spAutoFit/>
          </a:bodyPr>
          <a:lstStyle/>
          <a:p>
            <a:pPr algn="l"/>
            <a:r>
              <a:rPr sz="1000" b="0" i="0">
                <a:solidFill>
                  <a:srgbClr val="0F172A"/>
                </a:solidFill>
                <a:latin typeface="Calibri"/>
              </a:rPr>
              <a:t>[12] SkinVision B.V. (2023). SkinVision – Skin Cancer Risk Detection App. https://www.skinvision.com/</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68580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144000" cy="1371600"/>
          </a:xfrm>
          <a:prstGeom prst="rect">
            <a:avLst/>
          </a:prstGeom>
          <a:noFill/>
        </p:spPr>
        <p:txBody>
          <a:bodyPr wrap="square">
            <a:spAutoFit/>
          </a:bodyPr>
          <a:lstStyle/>
          <a:p>
            <a:pPr algn="ctr"/>
            <a:r>
              <a:rPr sz="7200" b="1" i="0">
                <a:solidFill>
                  <a:srgbClr val="FFFFFF"/>
                </a:solidFill>
                <a:latin typeface="Calibri"/>
              </a:rPr>
              <a:t>Thank You</a:t>
            </a:r>
          </a:p>
        </p:txBody>
      </p:sp>
      <p:sp>
        <p:nvSpPr>
          <p:cNvPr id="5" name="TextBox 4"/>
          <p:cNvSpPr txBox="1"/>
          <p:nvPr/>
        </p:nvSpPr>
        <p:spPr>
          <a:xfrm>
            <a:off x="1371600" y="3108960"/>
            <a:ext cx="9144000" cy="731520"/>
          </a:xfrm>
          <a:prstGeom prst="rect">
            <a:avLst/>
          </a:prstGeom>
          <a:noFill/>
        </p:spPr>
        <p:txBody>
          <a:bodyPr wrap="square">
            <a:spAutoFit/>
          </a:bodyPr>
          <a:lstStyle/>
          <a:p>
            <a:pPr algn="ctr"/>
            <a:r>
              <a:rPr sz="2400" b="0" i="0">
                <a:solidFill>
                  <a:srgbClr val="DBEAFE"/>
                </a:solidFill>
                <a:latin typeface="Calibri"/>
              </a:rPr>
              <a:t>Questions &amp; Feedback Welcome</a:t>
            </a:r>
          </a:p>
        </p:txBody>
      </p:sp>
      <p:sp>
        <p:nvSpPr>
          <p:cNvPr id="6" name="Rectangle 5"/>
          <p:cNvSpPr/>
          <p:nvPr/>
        </p:nvSpPr>
        <p:spPr>
          <a:xfrm>
            <a:off x="2743200" y="4023360"/>
            <a:ext cx="667512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206240"/>
            <a:ext cx="9144000" cy="502920"/>
          </a:xfrm>
          <a:prstGeom prst="rect">
            <a:avLst/>
          </a:prstGeom>
          <a:noFill/>
        </p:spPr>
        <p:txBody>
          <a:bodyPr wrap="square">
            <a:spAutoFit/>
          </a:bodyPr>
          <a:lstStyle/>
          <a:p>
            <a:pPr algn="ctr"/>
            <a:r>
              <a:rPr sz="1600" b="0" i="1">
                <a:solidFill>
                  <a:srgbClr val="059669"/>
                </a:solidFill>
                <a:latin typeface="Calibri"/>
              </a:rPr>
              <a:t>Skyntri  |  Precision Skin Intelligence  |  2025 – 2026</a:t>
            </a:r>
          </a:p>
        </p:txBody>
      </p:sp>
      <p:sp>
        <p:nvSpPr>
          <p:cNvPr id="8" name="TextBox 7"/>
          <p:cNvSpPr txBox="1"/>
          <p:nvPr/>
        </p:nvSpPr>
        <p:spPr>
          <a:xfrm>
            <a:off x="1371600" y="4846320"/>
            <a:ext cx="9144000" cy="411480"/>
          </a:xfrm>
          <a:prstGeom prst="rect">
            <a:avLst/>
          </a:prstGeom>
          <a:noFill/>
        </p:spPr>
        <p:txBody>
          <a:bodyPr wrap="square">
            <a:spAutoFit/>
          </a:bodyPr>
          <a:lstStyle/>
          <a:p>
            <a:pPr algn="ctr"/>
            <a:r>
              <a:rPr sz="1300" b="0" i="0">
                <a:solidFill>
                  <a:srgbClr val="F1F5F9"/>
                </a:solidFill>
                <a:latin typeface="Calibri"/>
              </a:rPr>
              <a:t>GitHub: github.com/Khizer45/Skyntri</a:t>
            </a:r>
          </a:p>
        </p:txBody>
      </p:sp>
      <p:sp>
        <p:nvSpPr>
          <p:cNvPr id="9" name="Rectangle 8"/>
          <p:cNvSpPr/>
          <p:nvPr/>
        </p:nvSpPr>
        <p:spPr>
          <a:xfrm>
            <a:off x="0" y="6492240"/>
            <a:ext cx="12188952" cy="36576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5760" y="6510528"/>
            <a:ext cx="9144000" cy="256032"/>
          </a:xfrm>
          <a:prstGeom prst="rect">
            <a:avLst/>
          </a:prstGeom>
          <a:noFill/>
        </p:spPr>
        <p:txBody>
          <a:bodyPr wrap="square">
            <a:spAutoFit/>
          </a:bodyPr>
          <a:lstStyle/>
          <a:p>
            <a:pPr algn="l"/>
            <a:r>
              <a:rPr sz="900" b="0" i="0">
                <a:solidFill>
                  <a:srgbClr val="FFFFFF"/>
                </a:solidFill>
                <a:latin typeface="Calibri"/>
              </a:rPr>
              <a:t>Skyntri  |  Clinical AI Dermatology Portal  |  Confidential</a:t>
            </a:r>
          </a:p>
        </p:txBody>
      </p:sp>
      <p:sp>
        <p:nvSpPr>
          <p:cNvPr id="11" name="TextBox 10"/>
          <p:cNvSpPr txBox="1"/>
          <p:nvPr/>
        </p:nvSpPr>
        <p:spPr>
          <a:xfrm>
            <a:off x="11247120" y="6510528"/>
            <a:ext cx="822960" cy="256032"/>
          </a:xfrm>
          <a:prstGeom prst="rect">
            <a:avLst/>
          </a:prstGeom>
          <a:noFill/>
        </p:spPr>
        <p:txBody>
          <a:bodyPr wrap="square">
            <a:spAutoFit/>
          </a:bodyPr>
          <a:lstStyle/>
          <a:p>
            <a:pPr algn="r"/>
            <a:r>
              <a:rPr sz="900" b="0" i="0">
                <a:solidFill>
                  <a:srgbClr val="FFFFFF"/>
                </a:solidFill>
                <a:latin typeface="Calibri"/>
              </a:rPr>
              <a:t>19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